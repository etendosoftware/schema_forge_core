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863a88d01794b56" /><Relationship Type="http://schemas.openxmlformats.org/officeDocument/2006/relationships/extended-properties" Target="/docProps/app.xml" Id="R1061685d306641ad" /><Relationship Type="http://schemas.openxmlformats.org/officeDocument/2006/relationships/officeDocument" Target="/ppt/presentation.xml" Id="Rb917871a5b9b4f9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88e7d7d6c8244cd"/>
  </p:sldMasterIdLst>
  <p:notesMasterIdLst>
    <p:notesMasterId xmlns:r="http://schemas.openxmlformats.org/officeDocument/2006/relationships" r:id="R1abc678caf9348dd"/>
  </p:notesMasterIdLst>
  <p:sldIdLst>
    <p:sldId xmlns:r="http://schemas.openxmlformats.org/officeDocument/2006/relationships" id="256" r:id="R767263ae148c458b"/>
    <p:sldId xmlns:r="http://schemas.openxmlformats.org/officeDocument/2006/relationships" id="257" r:id="R05800ec44ed74c31"/>
    <p:sldId xmlns:r="http://schemas.openxmlformats.org/officeDocument/2006/relationships" id="258" r:id="R59355070312948eb"/>
    <p:sldId xmlns:r="http://schemas.openxmlformats.org/officeDocument/2006/relationships" id="259" r:id="R440ac6884aac4874"/>
    <p:sldId xmlns:r="http://schemas.openxmlformats.org/officeDocument/2006/relationships" id="260" r:id="R4530cabacc514700"/>
    <p:sldId xmlns:r="http://schemas.openxmlformats.org/officeDocument/2006/relationships" id="261" r:id="R3eaa9018a7594e16"/>
    <p:sldId xmlns:r="http://schemas.openxmlformats.org/officeDocument/2006/relationships" id="262" r:id="R0487e928717f42f8"/>
    <p:sldId xmlns:r="http://schemas.openxmlformats.org/officeDocument/2006/relationships" id="263" r:id="Rd48ac08f7b90433a"/>
    <p:sldId xmlns:r="http://schemas.openxmlformats.org/officeDocument/2006/relationships" id="264" r:id="Rc3df531a8c2342dd"/>
    <p:sldId xmlns:r="http://schemas.openxmlformats.org/officeDocument/2006/relationships" id="265" r:id="R59e7f7000a184b20"/>
    <p:sldId xmlns:r="http://schemas.openxmlformats.org/officeDocument/2006/relationships" id="266" r:id="R467bddb119d4476b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88e7d7d6c8244cd" /><Relationship Type="http://schemas.openxmlformats.org/officeDocument/2006/relationships/theme" Target="/ppt/theme/theme1.xml" Id="Rb9a6bbeda9344b3f" /><Relationship Type="http://schemas.openxmlformats.org/officeDocument/2006/relationships/notesMaster" Target="/ppt/notesMasters/notesMaster1.xml" Id="R1abc678caf9348dd" /><Relationship Type="http://schemas.openxmlformats.org/officeDocument/2006/relationships/presProps" Target="/ppt/presProps.xml" Id="R101a92c0622a4722" /><Relationship Type="http://schemas.openxmlformats.org/officeDocument/2006/relationships/viewProps" Target="/ppt/viewProps.xml" Id="Rcc270a3ce913499f" /><Relationship Type="http://schemas.openxmlformats.org/officeDocument/2006/relationships/tableStyles" Target="/ppt/tableStyles.xml" Id="R211c273628be41f3" /><Relationship Type="http://schemas.openxmlformats.org/officeDocument/2006/relationships/slide" Target="/ppt/slides/slide1.xml" Id="R767263ae148c458b" /><Relationship Type="http://schemas.openxmlformats.org/officeDocument/2006/relationships/slide" Target="/ppt/slides/slide2.xml" Id="R05800ec44ed74c31" /><Relationship Type="http://schemas.openxmlformats.org/officeDocument/2006/relationships/slide" Target="/ppt/slides/slide3.xml" Id="R59355070312948eb" /><Relationship Type="http://schemas.openxmlformats.org/officeDocument/2006/relationships/slide" Target="/ppt/slides/slide4.xml" Id="R440ac6884aac4874" /><Relationship Type="http://schemas.openxmlformats.org/officeDocument/2006/relationships/slide" Target="/ppt/slides/slide5.xml" Id="R4530cabacc514700" /><Relationship Type="http://schemas.openxmlformats.org/officeDocument/2006/relationships/slide" Target="/ppt/slides/slide6.xml" Id="R3eaa9018a7594e16" /><Relationship Type="http://schemas.openxmlformats.org/officeDocument/2006/relationships/slide" Target="/ppt/slides/slide7.xml" Id="R0487e928717f42f8" /><Relationship Type="http://schemas.openxmlformats.org/officeDocument/2006/relationships/slide" Target="/ppt/slides/slide8.xml" Id="Rd48ac08f7b90433a" /><Relationship Type="http://schemas.openxmlformats.org/officeDocument/2006/relationships/slide" Target="/ppt/slides/slide9.xml" Id="Rc3df531a8c2342dd" /><Relationship Type="http://schemas.openxmlformats.org/officeDocument/2006/relationships/slide" Target="/ppt/slides/slide10.xml" Id="R59e7f7000a184b20" /><Relationship Type="http://schemas.openxmlformats.org/officeDocument/2006/relationships/slide" Target="/ppt/slides/slide11.xml" Id="R467bddb119d4476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f2f753975e6a42b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443a128c04f4762" /><Relationship Type="http://schemas.openxmlformats.org/officeDocument/2006/relationships/notesMaster" Target="/ppt/notesMasters/notesMaster1.xml" Id="R3ebb9b75c28e43b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bfe56c40cd9409d" /><Relationship Type="http://schemas.openxmlformats.org/officeDocument/2006/relationships/notesMaster" Target="/ppt/notesMasters/notesMaster1.xml" Id="Reb692d7bea66484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3465167dab04551" /><Relationship Type="http://schemas.openxmlformats.org/officeDocument/2006/relationships/notesMaster" Target="/ppt/notesMasters/notesMaster1.xml" Id="R164b9487637b47a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6da1d43ed02472e" /><Relationship Type="http://schemas.openxmlformats.org/officeDocument/2006/relationships/notesMaster" Target="/ppt/notesMasters/notesMaster1.xml" Id="Re5e5fdc9e351439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bf2cac6f74f4bd5" /><Relationship Type="http://schemas.openxmlformats.org/officeDocument/2006/relationships/notesMaster" Target="/ppt/notesMasters/notesMaster1.xml" Id="R4d0c0eb6db9d455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49170d1453144c2" /><Relationship Type="http://schemas.openxmlformats.org/officeDocument/2006/relationships/notesMaster" Target="/ppt/notesMasters/notesMaster1.xml" Id="Rd061977283cc448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7d9e379095749ae" /><Relationship Type="http://schemas.openxmlformats.org/officeDocument/2006/relationships/notesMaster" Target="/ppt/notesMasters/notesMaster1.xml" Id="Rc0f6031a5ae5474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67dccc4dc6a454f" /><Relationship Type="http://schemas.openxmlformats.org/officeDocument/2006/relationships/notesMaster" Target="/ppt/notesMasters/notesMaster1.xml" Id="R7bf48fef0b44440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38f2117b57a4e90" /><Relationship Type="http://schemas.openxmlformats.org/officeDocument/2006/relationships/notesMaster" Target="/ppt/notesMasters/notesMaster1.xml" Id="R2322499412d94ea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5decf8e47214b52" /><Relationship Type="http://schemas.openxmlformats.org/officeDocument/2006/relationships/notesMaster" Target="/ppt/notesMasters/notesMaster1.xml" Id="R32bb0f7a66354fc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571299b06574de7" /><Relationship Type="http://schemas.openxmlformats.org/officeDocument/2006/relationships/notesMaster" Target="/ppt/notesMasters/notesMaster1.xml" Id="R3e818b10c4c3408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Abrir con la tesis: Etendo ya tiene profundidad funcional; el desafío es hacerlo más simple, atractivo y operable. La presentación muestra cómo Etendo GO toma esa base y la convierte en una capa de producto para UI humana, APIs, herramientas y agentes.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Esta slide evita la confusión principal: no estamos reescribiendo Etendo Classic. La promesa de Etendo GO es que el usuario obtenga el valor del ERP sin sufrir toda la complejidad clásica.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Etendo GO es la capa donde ocurre la operación moderna: humanos que necesitan pantallas simples, agentes que necesitan herramientas y Producto que necesita observar qué pasa para mejorar.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Schema Forge permite capturar qué campos se muestran, cuáles se editan, qué reglas se mantienen, qué procesos se exponen, qué necesita UX custom y qué se valida automáticamente.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Schema Forge cambia el costo de escala porque deja trazabilidad. No se pierde el porqué de cada decisión y se puede repetir el proceso con una secuencia clara: DEV, REVIEW, QA y DOCS.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Schema Forge no es una caja mágica terminada. Nos permitió llegar a una escala que antes habría sido mucho más costosa, y ahora vemos mejor sus límites. Cada validación nos devuelve información para mejorar la herramienta.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Estos números cambian la conversación. No estamos mostrando una intención metodológica, sino una base considerable de superficie del ERP ya modelada para producto.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 rol humano se desplaza: describe el comportamiento esperado, solicita el cambio, valida si lo generado cumple y aplica criterio sobre UX, negocio y riesgo.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capa agéntica no debería enseñar al agente a llenar pantallas. Debe darle herramientas operativas del ERP con contexto suficiente para decidir cómo usarlas y cómo verificar el resultado.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versión agéntica arranca desde la misma base de contratos y metadata. Todavía validamos alcance, límites, calidad de contratos y comportamiento ante errores, pero ya existe una superficie inicial para aprender con casos reales.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 cierre es que estamos construyendo Etendo GO como una capa sobre Etendo: más simple y atractiva para humanos, más operable para agentes y más observable para Producto. La meta no es decir hicimos una demo, sino tener evidencia para saber qué mejorar después.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f49acd85da145d6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f72ccc6db6c3484b" /><Relationship Type="http://schemas.openxmlformats.org/officeDocument/2006/relationships/slideLayout" Target="/ppt/slideLayouts/slideLayout2.xml" Id="R8a9d9be3c314474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a9d9be3c314474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921ce1921a04eb9" /><Relationship Type="http://schemas.openxmlformats.org/officeDocument/2006/relationships/image" Target="/ppt/media/image.png" Id="Red6d9add13a442a2" /><Relationship Type="http://schemas.openxmlformats.org/officeDocument/2006/relationships/image" Target="/ppt/media/image2.png" Id="R8d9e146ac4604652" /><Relationship Type="http://schemas.openxmlformats.org/officeDocument/2006/relationships/notesSlide" Target="/ppt/notesSlides/notesSlide1.xml" Id="R2774d63cc891487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62888fcb70d4c04" /><Relationship Type="http://schemas.openxmlformats.org/officeDocument/2006/relationships/image" Target="/ppt/media/image3.png" Id="R1fef2d63e08c4aee" /><Relationship Type="http://schemas.openxmlformats.org/officeDocument/2006/relationships/notesSlide" Target="/ppt/notesSlides/notesSlide2.xml" Id="R1c4136aa6dd742e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de5463bcbe2488c" /><Relationship Type="http://schemas.openxmlformats.org/officeDocument/2006/relationships/image" Target="/ppt/media/image4.png" Id="R6b0fd788f601445b" /><Relationship Type="http://schemas.openxmlformats.org/officeDocument/2006/relationships/notesSlide" Target="/ppt/notesSlides/notesSlide3.xml" Id="Rb5ad958b7984416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2daeb07767347ba" /><Relationship Type="http://schemas.openxmlformats.org/officeDocument/2006/relationships/image" Target="/ppt/media/image5.png" Id="Rf51b2078d9114678" /><Relationship Type="http://schemas.openxmlformats.org/officeDocument/2006/relationships/notesSlide" Target="/ppt/notesSlides/notesSlide4.xml" Id="R771bac08119f407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9c348c5603042f4" /><Relationship Type="http://schemas.openxmlformats.org/officeDocument/2006/relationships/image" Target="/ppt/media/image6.png" Id="R168a475c5b7e4e0d" /><Relationship Type="http://schemas.openxmlformats.org/officeDocument/2006/relationships/notesSlide" Target="/ppt/notesSlides/notesSlide5.xml" Id="R7ede0857a644461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c32a148e5df40e0" /><Relationship Type="http://schemas.openxmlformats.org/officeDocument/2006/relationships/image" Target="/ppt/media/image7.png" Id="Rf2d3241b31324778" /><Relationship Type="http://schemas.openxmlformats.org/officeDocument/2006/relationships/notesSlide" Target="/ppt/notesSlides/notesSlide6.xml" Id="Rf13c6680ed65400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a6ff698cb814ebd" /><Relationship Type="http://schemas.openxmlformats.org/officeDocument/2006/relationships/image" Target="/ppt/media/image8.png" Id="R2a5e4baf9dbb4334" /><Relationship Type="http://schemas.openxmlformats.org/officeDocument/2006/relationships/notesSlide" Target="/ppt/notesSlides/notesSlide7.xml" Id="Rb797fed7c6e1406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e1bdedcb74c4c3e" /><Relationship Type="http://schemas.openxmlformats.org/officeDocument/2006/relationships/image" Target="/ppt/media/image9.png" Id="R069f3e9d62ea48c5" /><Relationship Type="http://schemas.openxmlformats.org/officeDocument/2006/relationships/notesSlide" Target="/ppt/notesSlides/notesSlide8.xml" Id="R9143175e18b241c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44b7bc7b24d4fb3" /><Relationship Type="http://schemas.openxmlformats.org/officeDocument/2006/relationships/image" Target="/ppt/media/image10.png" Id="Rc57d740161204b13" /><Relationship Type="http://schemas.openxmlformats.org/officeDocument/2006/relationships/notesSlide" Target="/ppt/notesSlides/notesSlide9.xml" Id="Rda287e9251d34a2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0843f84434f406e" /><Relationship Type="http://schemas.openxmlformats.org/officeDocument/2006/relationships/image" Target="/ppt/media/image11.png" Id="R2b9ddc6d3faa477e" /><Relationship Type="http://schemas.openxmlformats.org/officeDocument/2006/relationships/notesSlide" Target="/ppt/notesSlides/notesSlide10.xml" Id="R5a355d39d25a4b2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ccda249d4424fc1" /><Relationship Type="http://schemas.openxmlformats.org/officeDocument/2006/relationships/image" Target="/ppt/media/image12.png" Id="R9d2263c3c7e54d22" /><Relationship Type="http://schemas.openxmlformats.org/officeDocument/2006/relationships/notesSlide" Target="/ppt/notesSlides/notesSlide11.xml" Id="Rb8560d32c720401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cover-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6d9add13a442a2"/>
          <a:stretch xmlns:a="http://schemas.openxmlformats.org/drawingml/2006/main"/>
        </p:blipFill>
        <p:spPr>
          <a:xfrm xmlns:a="http://schemas.openxmlformats.org/drawingml/2006/main">
            <a:off x="742950" y="557834"/>
            <a:ext cx="1619250" cy="408333"/>
          </a:xfrm>
          <a:prstGeom xmlns:a="http://schemas.openxmlformats.org/drawingml/2006/main" prst="rect">
            <a:avLst/>
          </a:prstGeom>
        </p:spPr>
      </p:pic>
      <p:sp>
        <p:nvSpPr>
          <p:cNvPr id="2" name="cover-date">
            <a:extLst xmlns:a="http://schemas.openxmlformats.org/drawingml/2006/main">
              <a:ext uri="{FF2B5EF4-FFF2-40B4-BE49-F238E27FC236}">
                <a16:creationId xmlns:a16="http://schemas.microsoft.com/office/drawing/2014/main" id="{8AC0EDFB-8BFA-4649-8AC6-BAA43C5A4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89104" y="590550"/>
            <a:ext cx="1855946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AEF"/>
            </a:solidFill>
            <a:prstDash val="solid"/>
          </a:ln>
        </p:spPr>
      </p:sp>
      <p:sp>
        <p:nvSpPr>
          <p:cNvPr id="3" name="cover-date-text">
            <a:extLst xmlns:a="http://schemas.openxmlformats.org/drawingml/2006/main">
              <a:ext uri="{FF2B5EF4-FFF2-40B4-BE49-F238E27FC236}">
                <a16:creationId xmlns:a16="http://schemas.microsoft.com/office/drawing/2014/main" id="{92CD141B-83C0-485B-AB05-63F32E57A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49600" y="666750"/>
            <a:ext cx="1524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55B6D"/>
                </a:solidFill>
                <a:latin typeface="Inter"/>
                <a:ea typeface="Inter"/>
                <a:cs typeface="Inter"/>
              </a:defRPr>
            </a:pPr>
            <a:r>
              <a:rPr sz="1200" b="1">
                <a:solidFill>
                  <a:srgbClr val="555B6D"/>
                </a:solidFill>
                <a:latin typeface="Inter"/>
                <a:ea typeface="Inter"/>
                <a:cs typeface="Inter"/>
              </a:rPr>
              <a:t>Producto · Abril 2026</a:t>
            </a:r>
          </a:p>
        </p:txBody>
      </p:sp>
      <p:sp>
        <p:nvSpPr>
          <p:cNvPr id="4" name="cover-pill">
            <a:extLst xmlns:a="http://schemas.openxmlformats.org/drawingml/2006/main">
              <a:ext uri="{FF2B5EF4-FFF2-40B4-BE49-F238E27FC236}">
                <a16:creationId xmlns:a16="http://schemas.microsoft.com/office/drawing/2014/main" id="{FC1542EF-7F16-4A24-8488-46B31DE22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6009"/>
            <a:ext cx="2784157" cy="35433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D500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cover-pill-text">
            <a:extLst xmlns:a="http://schemas.openxmlformats.org/drawingml/2006/main">
              <a:ext uri="{FF2B5EF4-FFF2-40B4-BE49-F238E27FC236}">
                <a16:creationId xmlns:a16="http://schemas.microsoft.com/office/drawing/2014/main" id="{6CB523E0-74C2-4B62-8B50-32B9015D1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48000"/>
            <a:ext cx="24384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21217"/>
                </a:solidFill>
                <a:latin typeface="Inter"/>
                <a:ea typeface="Inter"/>
                <a:cs typeface="Inter"/>
              </a:defRPr>
            </a:pPr>
            <a:r>
              <a:rPr sz="1200" b="1">
                <a:solidFill>
                  <a:srgbClr val="121217"/>
                </a:solidFill>
                <a:latin typeface="Inter"/>
                <a:ea typeface="Inter"/>
                <a:cs typeface="Inter"/>
              </a:rPr>
              <a:t>Nueva capa sobre Etendo Classic</a:t>
            </a:r>
          </a:p>
        </p:txBody>
      </p:sp>
      <p:sp>
        <p:nvSpPr>
          <p:cNvPr id="6" name="cover-title">
            <a:extLst xmlns:a="http://schemas.openxmlformats.org/drawingml/2006/main">
              <a:ext uri="{FF2B5EF4-FFF2-40B4-BE49-F238E27FC236}">
                <a16:creationId xmlns:a16="http://schemas.microsoft.com/office/drawing/2014/main" id="{7CA423CA-F4AC-4C9B-B108-E0766AA8E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81400"/>
            <a:ext cx="8572500" cy="1352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defRPr sz="8850" b="1">
                <a:solidFill>
                  <a:srgbClr val="121217"/>
                </a:solidFill>
                <a:latin typeface="Inter"/>
                <a:ea typeface="Inter"/>
                <a:cs typeface="Inter"/>
              </a:defRPr>
            </a:pPr>
            <a:r>
              <a:rPr sz="8850" b="1">
                <a:solidFill>
                  <a:srgbClr val="121217"/>
                </a:solidFill>
                <a:latin typeface="Inter"/>
                <a:ea typeface="Inter"/>
                <a:cs typeface="Inter"/>
              </a:rPr>
              <a:t>Etendo GO</a:t>
            </a:r>
          </a:p>
        </p:txBody>
      </p:sp>
      <p:sp>
        <p:nvSpPr>
          <p:cNvPr id="7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94AF6298-8704-49CF-9484-BDB8E804A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00650"/>
            <a:ext cx="6019800" cy="971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21217"/>
                </a:solidFill>
                <a:latin typeface="Inter"/>
                <a:ea typeface="Inter"/>
                <a:cs typeface="Inter"/>
              </a:defRPr>
            </a:pPr>
            <a:r>
              <a:rPr sz="3150" b="1">
                <a:solidFill>
                  <a:srgbClr val="121217"/>
                </a:solidFill>
                <a:latin typeface="Inter"/>
                <a:ea typeface="Inter"/>
                <a:cs typeface="Inter"/>
              </a:rPr>
              <a:t>Agéntico, simple y configurable</a:t>
            </a:r>
          </a:p>
        </p:txBody>
      </p:sp>
      <p:sp>
        <p:nvSpPr>
          <p:cNvPr id="8" name="cover-rule">
            <a:extLst xmlns:a="http://schemas.openxmlformats.org/drawingml/2006/main">
              <a:ext uri="{FF2B5EF4-FFF2-40B4-BE49-F238E27FC236}">
                <a16:creationId xmlns:a16="http://schemas.microsoft.com/office/drawing/2014/main" id="{3028A638-8C98-43DC-8208-8704BA62C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19850"/>
            <a:ext cx="2286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500"/>
          </a:solidFill>
          <a:ln xmlns:a="http://schemas.openxmlformats.org/drawingml/2006/main" w="0">
            <a:solidFill>
              <a:srgbClr val="FFD500"/>
            </a:solidFill>
            <a:prstDash val="solid"/>
          </a:ln>
        </p:spPr>
      </p:sp>
      <p:sp>
        <p:nvSpPr>
          <p:cNvPr id="9" name="cover-copy">
            <a:extLst xmlns:a="http://schemas.openxmlformats.org/drawingml/2006/main">
              <a:ext uri="{FF2B5EF4-FFF2-40B4-BE49-F238E27FC236}">
                <a16:creationId xmlns:a16="http://schemas.microsoft.com/office/drawing/2014/main" id="{D705F709-4B0B-4012-A6DB-33019A51F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762750"/>
            <a:ext cx="6515100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2325">
                <a:solidFill>
                  <a:srgbClr val="6C6C89"/>
                </a:solidFill>
                <a:latin typeface="Inter"/>
                <a:ea typeface="Inter"/>
                <a:cs typeface="Inter"/>
              </a:defRPr>
            </a:pPr>
            <a:r>
              <a:rPr sz="2325">
                <a:solidFill>
                  <a:srgbClr val="6C6C89"/>
                </a:solidFill>
                <a:latin typeface="Inter"/>
                <a:ea typeface="Inter"/>
                <a:cs typeface="Inter"/>
              </a:rPr>
              <a:t>Una versión más operable y atractiva del ERP, sin reescribir Etendo Classic desde cero.</a:t>
            </a:r>
          </a:p>
        </p:txBody>
      </p:sp>
      <p:sp>
        <p:nvSpPr>
          <p:cNvPr id="10" name="cover-preview-panel">
            <a:extLst xmlns:a="http://schemas.openxmlformats.org/drawingml/2006/main">
              <a:ext uri="{FF2B5EF4-FFF2-40B4-BE49-F238E27FC236}">
                <a16:creationId xmlns:a16="http://schemas.microsoft.com/office/drawing/2014/main" id="{DE372B00-DE76-48A6-A6A0-4EA170918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1223" y="1257300"/>
            <a:ext cx="7763827" cy="8031480"/>
          </a:xfrm>
          <a:prstGeom xmlns:a="http://schemas.openxmlformats.org/drawingml/2006/main" prst="roundRect">
            <a:avLst>
              <a:gd name="adj" fmla="val 147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AEF"/>
            </a:solidFill>
            <a:prstDash val="solid"/>
          </a:ln>
        </p:spPr>
      </p:sp>
      <p:sp>
        <p:nvSpPr>
          <p:cNvPr id="11" name="dot-1">
            <a:extLst xmlns:a="http://schemas.openxmlformats.org/drawingml/2006/main">
              <a:ext uri="{FF2B5EF4-FFF2-40B4-BE49-F238E27FC236}">
                <a16:creationId xmlns:a16="http://schemas.microsoft.com/office/drawing/2014/main" id="{465A9D4B-73FE-47D2-8B31-9A92955E3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5811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500"/>
          </a:solidFill>
          <a:ln xmlns:a="http://schemas.openxmlformats.org/drawingml/2006/main" w="0">
            <a:solidFill>
              <a:srgbClr val="FFD500"/>
            </a:solidFill>
            <a:prstDash val="solid"/>
          </a:ln>
        </p:spPr>
      </p:sp>
      <p:sp>
        <p:nvSpPr>
          <p:cNvPr id="12" name="dot-2">
            <a:extLst xmlns:a="http://schemas.openxmlformats.org/drawingml/2006/main">
              <a:ext uri="{FF2B5EF4-FFF2-40B4-BE49-F238E27FC236}">
                <a16:creationId xmlns:a16="http://schemas.microsoft.com/office/drawing/2014/main" id="{A414CAF2-402B-4754-BFAF-B790B5371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15811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EAEF"/>
          </a:solidFill>
          <a:ln xmlns:a="http://schemas.openxmlformats.org/drawingml/2006/main" w="0">
            <a:solidFill>
              <a:srgbClr val="E8EAEF"/>
            </a:solidFill>
            <a:prstDash val="solid"/>
          </a:ln>
        </p:spPr>
      </p:sp>
      <p:sp>
        <p:nvSpPr>
          <p:cNvPr id="13" name="dot-3">
            <a:extLst xmlns:a="http://schemas.openxmlformats.org/drawingml/2006/main">
              <a:ext uri="{FF2B5EF4-FFF2-40B4-BE49-F238E27FC236}">
                <a16:creationId xmlns:a16="http://schemas.microsoft.com/office/drawing/2014/main" id="{AD31FE5C-D723-4526-B49E-E39B40788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15811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EAEF"/>
          </a:solidFill>
          <a:ln xmlns:a="http://schemas.openxmlformats.org/drawingml/2006/main" w="0">
            <a:solidFill>
              <a:srgbClr val="E8EAEF"/>
            </a:solidFill>
            <a:prstDash val="solid"/>
          </a:ln>
        </p:spPr>
      </p:sp>
      <p:sp>
        <p:nvSpPr>
          <p:cNvPr id="14" name="cover-search">
            <a:extLst xmlns:a="http://schemas.openxmlformats.org/drawingml/2006/main">
              <a:ext uri="{FF2B5EF4-FFF2-40B4-BE49-F238E27FC236}">
                <a16:creationId xmlns:a16="http://schemas.microsoft.com/office/drawing/2014/main" id="{EB4B1DF8-D563-4029-981A-99CD8C3EC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63700" y="1485900"/>
            <a:ext cx="29527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AEF"/>
          </a:solidFill>
        </p:spPr>
      </p:sp>
      <p:sp>
        <p:nvSpPr>
          <p:cNvPr id="15" name="cover-search-text">
            <a:extLst xmlns:a="http://schemas.openxmlformats.org/drawingml/2006/main">
              <a:ext uri="{FF2B5EF4-FFF2-40B4-BE49-F238E27FC236}">
                <a16:creationId xmlns:a16="http://schemas.microsoft.com/office/drawing/2014/main" id="{35DEFC22-7A33-41F6-8766-1B4B0FAE1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35150" y="1562100"/>
            <a:ext cx="26098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55B6D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555B6D"/>
                </a:solidFill>
                <a:latin typeface="Inter"/>
                <a:ea typeface="Inter"/>
                <a:cs typeface="Inter"/>
              </a:rPr>
              <a:t>Comando / agente</a:t>
            </a:r>
          </a:p>
        </p:txBody>
      </p:sp>
      <p:pic>
        <p:nvPicPr>
          <p:cNvPr id="16" name="cover-dashboard-preview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9e146ac4604652"/>
          <a:srcRect xmlns:a="http://schemas.openxmlformats.org/drawingml/2006/main" l="7869" t="0" r="786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009823" y="1969770"/>
            <a:ext cx="7306627" cy="7090410"/>
          </a:xfrm>
          <a:prstGeom xmlns:a="http://schemas.openxmlformats.org/drawingml/2006/main" prst="roundRect">
            <a:avLst>
              <a:gd name="adj" fmla="val 1075"/>
            </a:avLst>
          </a:prstGeom>
        </p:spPr>
      </p:pic>
      <p:sp>
        <p:nvSpPr>
          <p:cNvPr id="17" name="footer-left-1">
            <a:extLst xmlns:a="http://schemas.openxmlformats.org/drawingml/2006/main">
              <a:ext uri="{FF2B5EF4-FFF2-40B4-BE49-F238E27FC236}">
                <a16:creationId xmlns:a16="http://schemas.microsoft.com/office/drawing/2014/main" id="{97C101DD-D5A4-4201-959E-06F455090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582150"/>
            <a:ext cx="59055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828FA3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828FA3"/>
                </a:solidFill>
                <a:latin typeface="Inter"/>
                <a:ea typeface="Inter"/>
                <a:cs typeface="Inter"/>
              </a:rPr>
              <a:t>Etendo GO · Producto · 2026-04-30</a:t>
            </a:r>
          </a:p>
        </p:txBody>
      </p:sp>
      <p:sp>
        <p:nvSpPr>
          <p:cNvPr id="18" name="footer-right-1">
            <a:extLst xmlns:a="http://schemas.openxmlformats.org/drawingml/2006/main">
              <a:ext uri="{FF2B5EF4-FFF2-40B4-BE49-F238E27FC236}">
                <a16:creationId xmlns:a16="http://schemas.microsoft.com/office/drawing/2014/main" id="{73BFB1BD-20E8-4C2F-8F41-BBC490039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68550" y="9582150"/>
            <a:ext cx="24765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828FA3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828FA3"/>
                </a:solidFill>
                <a:latin typeface="Inter"/>
                <a:ea typeface="Inter"/>
                <a:cs typeface="Inter"/>
              </a:rPr>
              <a:t>Schema Forge snapshot</a:t>
            </a:r>
          </a:p>
        </p:txBody>
      </p:sp>
    </p:spTree>
    <p:extLst>
      <p:ext uri="{BB962C8B-B14F-4D97-AF65-F5344CB8AC3E}">
        <p14:creationId xmlns:p14="http://schemas.microsoft.com/office/powerpoint/2010/main" val="103266318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left-rail-2">
            <a:extLst xmlns:a="http://schemas.openxmlformats.org/drawingml/2006/main">
              <a:ext uri="{FF2B5EF4-FFF2-40B4-BE49-F238E27FC236}">
                <a16:creationId xmlns:a16="http://schemas.microsoft.com/office/drawing/2014/main" id="{5D07A61B-FB71-4116-A45F-837282747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00050"/>
            <a:ext cx="819150" cy="948690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AEF"/>
            </a:solidFill>
            <a:prstDash val="solid"/>
          </a:ln>
        </p:spPr>
      </p:sp>
      <p:pic>
        <p:nvPicPr>
          <p:cNvPr id="2" name="favicon-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ef2d63e08c4aee"/>
          <a:stretch xmlns:a="http://schemas.openxmlformats.org/drawingml/2006/main"/>
        </p:blipFill>
        <p:spPr>
          <a:xfrm xmlns:a="http://schemas.openxmlformats.org/drawingml/2006/main">
            <a:off x="723900" y="571500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3" name="rail-accent-2">
            <a:extLst xmlns:a="http://schemas.openxmlformats.org/drawingml/2006/main">
              <a:ext uri="{FF2B5EF4-FFF2-40B4-BE49-F238E27FC236}">
                <a16:creationId xmlns:a16="http://schemas.microsoft.com/office/drawing/2014/main" id="{B405A00E-74C3-4D45-870D-18E5284BB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19600"/>
            <a:ext cx="76200" cy="1143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D500"/>
          </a:solidFill>
          <a:ln xmlns:a="http://schemas.openxmlformats.org/drawingml/2006/main" w="0">
            <a:solidFill>
              <a:srgbClr val="FFD500"/>
            </a:solidFill>
            <a:prstDash val="solid"/>
          </a:ln>
        </p:spPr>
      </p:sp>
      <p:sp>
        <p:nvSpPr>
          <p:cNvPr id="4" name="rail-section-2">
            <a:extLst xmlns:a="http://schemas.openxmlformats.org/drawingml/2006/main">
              <a:ext uri="{FF2B5EF4-FFF2-40B4-BE49-F238E27FC236}">
                <a16:creationId xmlns:a16="http://schemas.microsoft.com/office/drawing/2014/main" id="{117D1BD2-0565-4BFF-B607-BD9710C67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15000"/>
            <a:ext cx="6286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C6C89"/>
                </a:solidFill>
                <a:latin typeface="Inter"/>
                <a:ea typeface="Inter"/>
                <a:cs typeface="Inter"/>
              </a:defRPr>
            </a:pPr>
            <a:r>
              <a:rPr sz="975" b="1">
                <a:solidFill>
                  <a:srgbClr val="6C6C89"/>
                </a:solidFill>
                <a:latin typeface="Inter"/>
                <a:ea typeface="Inter"/>
                <a:cs typeface="Inter"/>
              </a:rPr>
              <a:t>Tesis de producto</a:t>
            </a:r>
          </a:p>
        </p:txBody>
      </p:sp>
      <p:sp>
        <p:nvSpPr>
          <p:cNvPr id="5" name="rail-number-2">
            <a:extLst xmlns:a="http://schemas.openxmlformats.org/drawingml/2006/main">
              <a:ext uri="{FF2B5EF4-FFF2-40B4-BE49-F238E27FC236}">
                <a16:creationId xmlns:a16="http://schemas.microsoft.com/office/drawing/2014/main" id="{2EE6A4BA-4298-4808-AB91-3CE4ED5C9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0"/>
            <a:ext cx="571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828FA3"/>
                </a:solidFill>
                <a:latin typeface="Inter"/>
                <a:ea typeface="Inter"/>
                <a:cs typeface="Inter"/>
              </a:defRPr>
            </a:pPr>
            <a:r>
              <a:rPr sz="1200" b="1">
                <a:solidFill>
                  <a:srgbClr val="828FA3"/>
                </a:solidFill>
                <a:latin typeface="Inter"/>
                <a:ea typeface="Inter"/>
                <a:cs typeface="Inter"/>
              </a:rPr>
              <a:t>02</a:t>
            </a:r>
          </a:p>
        </p:txBody>
      </p:sp>
      <p:sp>
        <p:nvSpPr>
          <p:cNvPr id="6" name="section-pill-2">
            <a:extLst xmlns:a="http://schemas.openxmlformats.org/drawingml/2006/main">
              <a:ext uri="{FF2B5EF4-FFF2-40B4-BE49-F238E27FC236}">
                <a16:creationId xmlns:a16="http://schemas.microsoft.com/office/drawing/2014/main" id="{05DDC634-E186-4FAC-9339-129EA7981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19100"/>
            <a:ext cx="1635442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D500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section-pill-2-text">
            <a:extLst xmlns:a="http://schemas.openxmlformats.org/drawingml/2006/main">
              <a:ext uri="{FF2B5EF4-FFF2-40B4-BE49-F238E27FC236}">
                <a16:creationId xmlns:a16="http://schemas.microsoft.com/office/drawing/2014/main" id="{D72C7C1A-A3E2-48AB-894A-807718260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95300"/>
            <a:ext cx="12954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21217"/>
                </a:solidFill>
                <a:latin typeface="Inter"/>
                <a:ea typeface="Inter"/>
                <a:cs typeface="Inter"/>
              </a:defRPr>
            </a:pPr>
            <a:r>
              <a:rPr sz="1200" b="1">
                <a:solidFill>
                  <a:srgbClr val="121217"/>
                </a:solidFill>
                <a:latin typeface="Inter"/>
                <a:ea typeface="Inter"/>
                <a:cs typeface="Inter"/>
              </a:rPr>
              <a:t>Tesis de producto</a:t>
            </a:r>
          </a:p>
        </p:txBody>
      </p:sp>
      <p:sp>
        <p:nvSpPr>
          <p:cNvPr id="8" name="search-pill-2">
            <a:extLst xmlns:a="http://schemas.openxmlformats.org/drawingml/2006/main">
              <a:ext uri="{FF2B5EF4-FFF2-40B4-BE49-F238E27FC236}">
                <a16:creationId xmlns:a16="http://schemas.microsoft.com/office/drawing/2014/main" id="{613D0C44-FAAA-46EE-90DA-F0CBBC804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400050"/>
            <a:ext cx="495300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AEF"/>
          </a:solidFill>
        </p:spPr>
      </p:sp>
      <p:sp>
        <p:nvSpPr>
          <p:cNvPr id="9" name="search-text-2">
            <a:extLst xmlns:a="http://schemas.openxmlformats.org/drawingml/2006/main">
              <a:ext uri="{FF2B5EF4-FFF2-40B4-BE49-F238E27FC236}">
                <a16:creationId xmlns:a16="http://schemas.microsoft.com/office/drawing/2014/main" id="{707F8E38-5755-4FC2-8A7E-AB100E979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68300" y="495300"/>
            <a:ext cx="45339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55B6D"/>
                </a:solidFill>
                <a:latin typeface="Inter"/>
                <a:ea typeface="Inter"/>
                <a:cs typeface="Inter"/>
              </a:defRPr>
            </a:pPr>
            <a:r>
              <a:rPr sz="1125">
                <a:solidFill>
                  <a:srgbClr val="555B6D"/>
                </a:solidFill>
                <a:latin typeface="Inter"/>
                <a:ea typeface="Inter"/>
                <a:cs typeface="Inter"/>
              </a:rPr>
              <a:t>Buscar en Etendo GO / preguntar al agente</a:t>
            </a:r>
          </a:p>
        </p:txBody>
      </p:sp>
      <p:sp>
        <p:nvSpPr>
          <p:cNvPr id="10" name="slide-title-2">
            <a:extLst xmlns:a="http://schemas.openxmlformats.org/drawingml/2006/main">
              <a:ext uri="{FF2B5EF4-FFF2-40B4-BE49-F238E27FC236}">
                <a16:creationId xmlns:a16="http://schemas.microsoft.com/office/drawing/2014/main" id="{E50FEE3E-8306-46EC-B22F-FEFE1DC07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876300"/>
            <a:ext cx="161925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21217"/>
                </a:solidFill>
                <a:latin typeface="Inter"/>
                <a:ea typeface="Inter"/>
                <a:cs typeface="Inter"/>
              </a:defRPr>
            </a:pPr>
            <a:r>
              <a:rPr sz="3900" b="1">
                <a:solidFill>
                  <a:srgbClr val="121217"/>
                </a:solidFill>
                <a:latin typeface="Inter"/>
                <a:ea typeface="Inter"/>
                <a:cs typeface="Inter"/>
              </a:rPr>
              <a:t>Etendo GO: una capa moderna, no una reescritura</a:t>
            </a:r>
          </a:p>
        </p:txBody>
      </p:sp>
      <p:sp>
        <p:nvSpPr>
          <p:cNvPr id="11" name="slide-subtitle-2">
            <a:extLst xmlns:a="http://schemas.openxmlformats.org/drawingml/2006/main">
              <a:ext uri="{FF2B5EF4-FFF2-40B4-BE49-F238E27FC236}">
                <a16:creationId xmlns:a16="http://schemas.microsoft.com/office/drawing/2014/main" id="{2DC52FEC-A18A-41C9-9FF5-1F90B76AB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581150"/>
            <a:ext cx="109918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2025">
                <a:solidFill>
                  <a:srgbClr val="6C6C89"/>
                </a:solidFill>
                <a:latin typeface="Inter"/>
                <a:ea typeface="Inter"/>
                <a:cs typeface="Inter"/>
              </a:defRPr>
            </a:pPr>
            <a:r>
              <a:rPr sz="2025">
                <a:solidFill>
                  <a:srgbClr val="6C6C89"/>
                </a:solidFill>
                <a:latin typeface="Inter"/>
                <a:ea typeface="Inter"/>
                <a:cs typeface="Inter"/>
              </a:rPr>
              <a:t>Aprovechamos Etendo Classic y diseñamos encima una experiencia más simple, configurable y operable.</a:t>
            </a:r>
          </a:p>
        </p:txBody>
      </p:sp>
      <p:sp>
        <p:nvSpPr>
          <p:cNvPr id="12" name="s2-step-1-badge">
            <a:extLst xmlns:a="http://schemas.openxmlformats.org/drawingml/2006/main">
              <a:ext uri="{FF2B5EF4-FFF2-40B4-BE49-F238E27FC236}">
                <a16:creationId xmlns:a16="http://schemas.microsoft.com/office/drawing/2014/main" id="{E5B21BB5-DCFA-4D9B-B77F-84A646236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394225"/>
            <a:ext cx="4191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D500"/>
          </a:solidFill>
        </p:spPr>
      </p:sp>
      <p:sp>
        <p:nvSpPr>
          <p:cNvPr id="13" name="s2-step-1-badge-text">
            <a:extLst xmlns:a="http://schemas.openxmlformats.org/drawingml/2006/main">
              <a:ext uri="{FF2B5EF4-FFF2-40B4-BE49-F238E27FC236}">
                <a16:creationId xmlns:a16="http://schemas.microsoft.com/office/drawing/2014/main" id="{6A302A5E-2032-4385-AEA1-B008CFD4D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514850"/>
            <a:ext cx="4191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21217"/>
                </a:solidFill>
                <a:latin typeface="Inter"/>
                <a:ea typeface="Inter"/>
                <a:cs typeface="Inter"/>
              </a:defRPr>
            </a:pPr>
            <a:r>
              <a:rPr sz="1350" b="1">
                <a:solidFill>
                  <a:srgbClr val="121217"/>
                </a:solidFill>
                <a:latin typeface="Inter"/>
                <a:ea typeface="Inter"/>
                <a:cs typeface="Inter"/>
              </a:rPr>
              <a:t>1</a:t>
            </a:r>
          </a:p>
        </p:txBody>
      </p:sp>
      <p:sp>
        <p:nvSpPr>
          <p:cNvPr id="14" name="s2-step-1-label">
            <a:extLst xmlns:a="http://schemas.openxmlformats.org/drawingml/2006/main">
              <a:ext uri="{FF2B5EF4-FFF2-40B4-BE49-F238E27FC236}">
                <a16:creationId xmlns:a16="http://schemas.microsoft.com/office/drawing/2014/main" id="{7BFC4093-296D-44C7-B9A7-E17BFEB30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400550"/>
            <a:ext cx="84963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21217"/>
                </a:solidFill>
                <a:latin typeface="Inter"/>
                <a:ea typeface="Inter"/>
                <a:cs typeface="Inter"/>
              </a:defRPr>
            </a:pPr>
            <a:r>
              <a:rPr sz="1875" b="1">
                <a:solidFill>
                  <a:srgbClr val="121217"/>
                </a:solidFill>
                <a:latin typeface="Inter"/>
                <a:ea typeface="Inter"/>
                <a:cs typeface="Inter"/>
              </a:rPr>
              <a:t>Etendo Classic</a:t>
            </a:r>
          </a:p>
        </p:txBody>
      </p:sp>
      <p:sp>
        <p:nvSpPr>
          <p:cNvPr id="15" name="s2-step-1-detail">
            <a:extLst xmlns:a="http://schemas.openxmlformats.org/drawingml/2006/main">
              <a:ext uri="{FF2B5EF4-FFF2-40B4-BE49-F238E27FC236}">
                <a16:creationId xmlns:a16="http://schemas.microsoft.com/office/drawing/2014/main" id="{29527DC4-329C-4D84-829B-2629E3029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724400"/>
            <a:ext cx="84963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C6C89"/>
                </a:solidFill>
                <a:latin typeface="Inter"/>
                <a:ea typeface="Inter"/>
                <a:cs typeface="Inter"/>
              </a:defRPr>
            </a:pPr>
            <a:r>
              <a:rPr sz="1200">
                <a:solidFill>
                  <a:srgbClr val="6C6C89"/>
                </a:solidFill>
                <a:latin typeface="Inter"/>
                <a:ea typeface="Inter"/>
                <a:cs typeface="Inter"/>
              </a:rPr>
              <a:t>Reglas, entidades, procesos, permisos y consistencia.</a:t>
            </a:r>
          </a:p>
        </p:txBody>
      </p:sp>
      <p:sp>
        <p:nvSpPr>
          <p:cNvPr id="16" name="s2-rule-1">
            <a:extLst xmlns:a="http://schemas.openxmlformats.org/drawingml/2006/main">
              <a:ext uri="{FF2B5EF4-FFF2-40B4-BE49-F238E27FC236}">
                <a16:creationId xmlns:a16="http://schemas.microsoft.com/office/drawing/2014/main" id="{D746103E-F357-4FA7-B0D7-691FD0BD6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086350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AEF"/>
          </a:solidFill>
          <a:ln xmlns:a="http://schemas.openxmlformats.org/drawingml/2006/main" w="0">
            <a:solidFill>
              <a:srgbClr val="E8EAEF"/>
            </a:solidFill>
            <a:prstDash val="solid"/>
          </a:ln>
        </p:spPr>
      </p:sp>
      <p:sp>
        <p:nvSpPr>
          <p:cNvPr id="17" name="s2-step-2-badge">
            <a:extLst xmlns:a="http://schemas.openxmlformats.org/drawingml/2006/main">
              <a:ext uri="{FF2B5EF4-FFF2-40B4-BE49-F238E27FC236}">
                <a16:creationId xmlns:a16="http://schemas.microsoft.com/office/drawing/2014/main" id="{F946F40B-4DD5-4DAC-8725-C45BD324F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01005"/>
            <a:ext cx="4191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AEF"/>
          </a:solidFill>
        </p:spPr>
      </p:sp>
      <p:sp>
        <p:nvSpPr>
          <p:cNvPr id="18" name="s2-step-2-badge-text">
            <a:extLst xmlns:a="http://schemas.openxmlformats.org/drawingml/2006/main">
              <a:ext uri="{FF2B5EF4-FFF2-40B4-BE49-F238E27FC236}">
                <a16:creationId xmlns:a16="http://schemas.microsoft.com/office/drawing/2014/main" id="{816D281F-0349-42C5-B213-5E59A4B9C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410200"/>
            <a:ext cx="4191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21217"/>
                </a:solidFill>
                <a:latin typeface="Inter"/>
                <a:ea typeface="Inter"/>
                <a:cs typeface="Inter"/>
              </a:defRPr>
            </a:pPr>
            <a:r>
              <a:rPr sz="1350" b="1">
                <a:solidFill>
                  <a:srgbClr val="121217"/>
                </a:solidFill>
                <a:latin typeface="Inter"/>
                <a:ea typeface="Inter"/>
                <a:cs typeface="Inter"/>
              </a:rPr>
              <a:t>2</a:t>
            </a:r>
          </a:p>
        </p:txBody>
      </p:sp>
      <p:sp>
        <p:nvSpPr>
          <p:cNvPr id="19" name="s2-step-2-label">
            <a:extLst xmlns:a="http://schemas.openxmlformats.org/drawingml/2006/main">
              <a:ext uri="{FF2B5EF4-FFF2-40B4-BE49-F238E27FC236}">
                <a16:creationId xmlns:a16="http://schemas.microsoft.com/office/drawing/2014/main" id="{78D4DBF8-F2E1-46B7-87C4-B7DC9A19E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295900"/>
            <a:ext cx="84963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21217"/>
                </a:solidFill>
                <a:latin typeface="Inter"/>
                <a:ea typeface="Inter"/>
                <a:cs typeface="Inter"/>
              </a:defRPr>
            </a:pPr>
            <a:r>
              <a:rPr sz="1875" b="1">
                <a:solidFill>
                  <a:srgbClr val="121217"/>
                </a:solidFill>
                <a:latin typeface="Inter"/>
                <a:ea typeface="Inter"/>
                <a:cs typeface="Inter"/>
              </a:rPr>
              <a:t>Capa de producto</a:t>
            </a:r>
          </a:p>
        </p:txBody>
      </p:sp>
      <p:sp>
        <p:nvSpPr>
          <p:cNvPr id="20" name="s2-step-2-detail">
            <a:extLst xmlns:a="http://schemas.openxmlformats.org/drawingml/2006/main">
              <a:ext uri="{FF2B5EF4-FFF2-40B4-BE49-F238E27FC236}">
                <a16:creationId xmlns:a16="http://schemas.microsoft.com/office/drawing/2014/main" id="{1E37D419-F820-4DC0-8933-027CA4955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619750"/>
            <a:ext cx="84963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C6C89"/>
                </a:solidFill>
                <a:latin typeface="Inter"/>
                <a:ea typeface="Inter"/>
                <a:cs typeface="Inter"/>
              </a:defRPr>
            </a:pPr>
            <a:r>
              <a:rPr sz="1200">
                <a:solidFill>
                  <a:srgbClr val="6C6C89"/>
                </a:solidFill>
                <a:latin typeface="Inter"/>
                <a:ea typeface="Inter"/>
                <a:cs typeface="Inter"/>
              </a:rPr>
              <a:t>Decisiones de UX, simplificación y contratos.</a:t>
            </a:r>
          </a:p>
        </p:txBody>
      </p:sp>
      <p:sp>
        <p:nvSpPr>
          <p:cNvPr id="21" name="s2-rule-2">
            <a:extLst xmlns:a="http://schemas.openxmlformats.org/drawingml/2006/main">
              <a:ext uri="{FF2B5EF4-FFF2-40B4-BE49-F238E27FC236}">
                <a16:creationId xmlns:a16="http://schemas.microsoft.com/office/drawing/2014/main" id="{C5829D4D-51B8-4233-82F9-F31C002B5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6000750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AEF"/>
          </a:solidFill>
          <a:ln xmlns:a="http://schemas.openxmlformats.org/drawingml/2006/main" w="0">
            <a:solidFill>
              <a:srgbClr val="E8EAEF"/>
            </a:solidFill>
            <a:prstDash val="solid"/>
          </a:ln>
        </p:spPr>
      </p:sp>
      <p:sp>
        <p:nvSpPr>
          <p:cNvPr id="22" name="s2-step-3-badge">
            <a:extLst xmlns:a="http://schemas.openxmlformats.org/drawingml/2006/main">
              <a:ext uri="{FF2B5EF4-FFF2-40B4-BE49-F238E27FC236}">
                <a16:creationId xmlns:a16="http://schemas.microsoft.com/office/drawing/2014/main" id="{621CD19E-BAE3-4516-A9DA-73D99D460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6207785"/>
            <a:ext cx="4191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AEF"/>
          </a:solidFill>
        </p:spPr>
      </p:sp>
      <p:sp>
        <p:nvSpPr>
          <p:cNvPr id="23" name="s2-step-3-badge-text">
            <a:extLst xmlns:a="http://schemas.openxmlformats.org/drawingml/2006/main">
              <a:ext uri="{FF2B5EF4-FFF2-40B4-BE49-F238E27FC236}">
                <a16:creationId xmlns:a16="http://schemas.microsoft.com/office/drawing/2014/main" id="{47129EAD-EF26-4517-8F5D-FBCE58523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6324600"/>
            <a:ext cx="4191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21217"/>
                </a:solidFill>
                <a:latin typeface="Inter"/>
                <a:ea typeface="Inter"/>
                <a:cs typeface="Inter"/>
              </a:defRPr>
            </a:pPr>
            <a:r>
              <a:rPr sz="1350" b="1">
                <a:solidFill>
                  <a:srgbClr val="121217"/>
                </a:solidFill>
                <a:latin typeface="Inter"/>
                <a:ea typeface="Inter"/>
                <a:cs typeface="Inter"/>
              </a:rPr>
              <a:t>3</a:t>
            </a:r>
          </a:p>
        </p:txBody>
      </p:sp>
      <p:sp>
        <p:nvSpPr>
          <p:cNvPr id="24" name="s2-step-3-label">
            <a:extLst xmlns:a="http://schemas.openxmlformats.org/drawingml/2006/main">
              <a:ext uri="{FF2B5EF4-FFF2-40B4-BE49-F238E27FC236}">
                <a16:creationId xmlns:a16="http://schemas.microsoft.com/office/drawing/2014/main" id="{DAEDFFE3-8F17-48CF-8F8A-D353C0E77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6210300"/>
            <a:ext cx="84963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21217"/>
                </a:solidFill>
                <a:latin typeface="Inter"/>
                <a:ea typeface="Inter"/>
                <a:cs typeface="Inter"/>
              </a:defRPr>
            </a:pPr>
            <a:r>
              <a:rPr sz="1875" b="1">
                <a:solidFill>
                  <a:srgbClr val="121217"/>
                </a:solidFill>
                <a:latin typeface="Inter"/>
                <a:ea typeface="Inter"/>
                <a:cs typeface="Inter"/>
              </a:rPr>
              <a:t>NEO Headless</a:t>
            </a:r>
          </a:p>
        </p:txBody>
      </p:sp>
      <p:sp>
        <p:nvSpPr>
          <p:cNvPr id="25" name="s2-step-3-detail">
            <a:extLst xmlns:a="http://schemas.openxmlformats.org/drawingml/2006/main">
              <a:ext uri="{FF2B5EF4-FFF2-40B4-BE49-F238E27FC236}">
                <a16:creationId xmlns:a16="http://schemas.microsoft.com/office/drawing/2014/main" id="{7815D7B3-16C8-4665-897A-397EA1E9E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6534150"/>
            <a:ext cx="84963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C6C89"/>
                </a:solidFill>
                <a:latin typeface="Inter"/>
                <a:ea typeface="Inter"/>
                <a:cs typeface="Inter"/>
              </a:defRPr>
            </a:pPr>
            <a:r>
              <a:rPr sz="1200">
                <a:solidFill>
                  <a:srgbClr val="6C6C89"/>
                </a:solidFill>
                <a:latin typeface="Inter"/>
                <a:ea typeface="Inter"/>
                <a:cs typeface="Inter"/>
              </a:rPr>
              <a:t>Runtime API para exponer capacidades reales del ERP.</a:t>
            </a:r>
          </a:p>
        </p:txBody>
      </p:sp>
      <p:sp>
        <p:nvSpPr>
          <p:cNvPr id="26" name="s2-rule-3">
            <a:extLst xmlns:a="http://schemas.openxmlformats.org/drawingml/2006/main">
              <a:ext uri="{FF2B5EF4-FFF2-40B4-BE49-F238E27FC236}">
                <a16:creationId xmlns:a16="http://schemas.microsoft.com/office/drawing/2014/main" id="{CEF7AD82-0E63-4163-82D1-8798B3DD4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6896100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AEF"/>
          </a:solidFill>
          <a:ln xmlns:a="http://schemas.openxmlformats.org/drawingml/2006/main" w="0">
            <a:solidFill>
              <a:srgbClr val="E8EAEF"/>
            </a:solidFill>
            <a:prstDash val="solid"/>
          </a:ln>
        </p:spPr>
      </p:sp>
      <p:sp>
        <p:nvSpPr>
          <p:cNvPr id="27" name="s2-step-4-badge">
            <a:extLst xmlns:a="http://schemas.openxmlformats.org/drawingml/2006/main">
              <a:ext uri="{FF2B5EF4-FFF2-40B4-BE49-F238E27FC236}">
                <a16:creationId xmlns:a16="http://schemas.microsoft.com/office/drawing/2014/main" id="{3C23653D-3DCF-4F64-89FA-C4DFF89F0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7114565"/>
            <a:ext cx="4191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D500"/>
          </a:solidFill>
        </p:spPr>
      </p:sp>
      <p:sp>
        <p:nvSpPr>
          <p:cNvPr id="28" name="s2-step-4-badge-text">
            <a:extLst xmlns:a="http://schemas.openxmlformats.org/drawingml/2006/main">
              <a:ext uri="{FF2B5EF4-FFF2-40B4-BE49-F238E27FC236}">
                <a16:creationId xmlns:a16="http://schemas.microsoft.com/office/drawing/2014/main" id="{7848553B-9B92-457D-A714-7CBA2C8ED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7219950"/>
            <a:ext cx="4191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21217"/>
                </a:solidFill>
                <a:latin typeface="Inter"/>
                <a:ea typeface="Inter"/>
                <a:cs typeface="Inter"/>
              </a:defRPr>
            </a:pPr>
            <a:r>
              <a:rPr sz="1350" b="1">
                <a:solidFill>
                  <a:srgbClr val="121217"/>
                </a:solidFill>
                <a:latin typeface="Inter"/>
                <a:ea typeface="Inter"/>
                <a:cs typeface="Inter"/>
              </a:rPr>
              <a:t>4</a:t>
            </a:r>
          </a:p>
        </p:txBody>
      </p:sp>
      <p:sp>
        <p:nvSpPr>
          <p:cNvPr id="29" name="s2-step-4-label">
            <a:extLst xmlns:a="http://schemas.openxmlformats.org/drawingml/2006/main">
              <a:ext uri="{FF2B5EF4-FFF2-40B4-BE49-F238E27FC236}">
                <a16:creationId xmlns:a16="http://schemas.microsoft.com/office/drawing/2014/main" id="{220AB1A5-C69A-4AFB-8C1A-52B40DC52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7105650"/>
            <a:ext cx="84963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21217"/>
                </a:solidFill>
                <a:latin typeface="Inter"/>
                <a:ea typeface="Inter"/>
                <a:cs typeface="Inter"/>
              </a:defRPr>
            </a:pPr>
            <a:r>
              <a:rPr sz="1875" b="1">
                <a:solidFill>
                  <a:srgbClr val="121217"/>
                </a:solidFill>
                <a:latin typeface="Inter"/>
                <a:ea typeface="Inter"/>
                <a:cs typeface="Inter"/>
              </a:rPr>
              <a:t>Etendo GO</a:t>
            </a:r>
          </a:p>
        </p:txBody>
      </p:sp>
      <p:sp>
        <p:nvSpPr>
          <p:cNvPr id="30" name="s2-step-4-detail">
            <a:extLst xmlns:a="http://schemas.openxmlformats.org/drawingml/2006/main">
              <a:ext uri="{FF2B5EF4-FFF2-40B4-BE49-F238E27FC236}">
                <a16:creationId xmlns:a16="http://schemas.microsoft.com/office/drawing/2014/main" id="{6E71B4E3-182A-48BA-B79C-7FEB11C3C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7429500"/>
            <a:ext cx="84963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C6C89"/>
                </a:solidFill>
                <a:latin typeface="Inter"/>
                <a:ea typeface="Inter"/>
                <a:cs typeface="Inter"/>
              </a:defRPr>
            </a:pPr>
            <a:r>
              <a:rPr sz="1200">
                <a:solidFill>
                  <a:srgbClr val="6C6C89"/>
                </a:solidFill>
                <a:latin typeface="Inter"/>
                <a:ea typeface="Inter"/>
                <a:cs typeface="Inter"/>
              </a:rPr>
              <a:t>UI simplificada, tools agénticas, validación y observabilidad.</a:t>
            </a:r>
          </a:p>
        </p:txBody>
      </p:sp>
      <p:sp>
        <p:nvSpPr>
          <p:cNvPr id="31" name="s2-position-pill">
            <a:extLst xmlns:a="http://schemas.openxmlformats.org/drawingml/2006/main">
              <a:ext uri="{FF2B5EF4-FFF2-40B4-BE49-F238E27FC236}">
                <a16:creationId xmlns:a16="http://schemas.microsoft.com/office/drawing/2014/main" id="{28D3CE4D-FF69-4A97-863A-36228AECA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9959" y="4511192"/>
            <a:ext cx="2221706" cy="35433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D500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s2-position-pill-text">
            <a:extLst xmlns:a="http://schemas.openxmlformats.org/drawingml/2006/main">
              <a:ext uri="{FF2B5EF4-FFF2-40B4-BE49-F238E27FC236}">
                <a16:creationId xmlns:a16="http://schemas.microsoft.com/office/drawing/2014/main" id="{311DB31E-AD32-40DC-9A1D-981F9B0B0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4591050"/>
            <a:ext cx="18669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21217"/>
                </a:solidFill>
                <a:latin typeface="Inter"/>
                <a:ea typeface="Inter"/>
                <a:cs typeface="Inter"/>
              </a:defRPr>
            </a:pPr>
            <a:r>
              <a:rPr sz="1200" b="1">
                <a:solidFill>
                  <a:srgbClr val="121217"/>
                </a:solidFill>
                <a:latin typeface="Inter"/>
                <a:ea typeface="Inter"/>
                <a:cs typeface="Inter"/>
              </a:rPr>
              <a:t>Norte de posicionamiento</a:t>
            </a:r>
          </a:p>
        </p:txBody>
      </p:sp>
      <p:sp>
        <p:nvSpPr>
          <p:cNvPr id="33" name="s2-b1-dot">
            <a:extLst xmlns:a="http://schemas.openxmlformats.org/drawingml/2006/main">
              <a:ext uri="{FF2B5EF4-FFF2-40B4-BE49-F238E27FC236}">
                <a16:creationId xmlns:a16="http://schemas.microsoft.com/office/drawing/2014/main" id="{EF3164DA-BEA0-4581-A8FF-81DA3BC86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50673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500"/>
          </a:solidFill>
          <a:ln xmlns:a="http://schemas.openxmlformats.org/drawingml/2006/main" w="0">
            <a:solidFill>
              <a:srgbClr val="FFD500"/>
            </a:solidFill>
            <a:prstDash val="solid"/>
          </a:ln>
        </p:spPr>
      </p:sp>
      <p:sp>
        <p:nvSpPr>
          <p:cNvPr id="34" name="s2-b1-text">
            <a:extLst xmlns:a="http://schemas.openxmlformats.org/drawingml/2006/main">
              <a:ext uri="{FF2B5EF4-FFF2-40B4-BE49-F238E27FC236}">
                <a16:creationId xmlns:a16="http://schemas.microsoft.com/office/drawing/2014/main" id="{02D94EBD-8178-44BE-B579-81E44D512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5067300"/>
            <a:ext cx="64579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6000"/>
              </a:lnSpc>
              <a:buNone/>
              <a:defRPr sz="1800">
                <a:solidFill>
                  <a:srgbClr val="6C6C89"/>
                </a:solidFill>
                <a:latin typeface="Inter"/>
                <a:ea typeface="Inter"/>
                <a:cs typeface="Inter"/>
              </a:defRPr>
            </a:pPr>
            <a:r>
              <a:rPr sz="1800">
                <a:solidFill>
                  <a:srgbClr val="6C6C89"/>
                </a:solidFill>
                <a:latin typeface="Inter"/>
                <a:ea typeface="Inter"/>
                <a:cs typeface="Inter"/>
              </a:rPr>
              <a:t>Más simple de usar que un ERP tradicional complejo.</a:t>
            </a:r>
          </a:p>
        </p:txBody>
      </p:sp>
      <p:sp>
        <p:nvSpPr>
          <p:cNvPr id="35" name="s2-b2-dot">
            <a:extLst xmlns:a="http://schemas.openxmlformats.org/drawingml/2006/main">
              <a:ext uri="{FF2B5EF4-FFF2-40B4-BE49-F238E27FC236}">
                <a16:creationId xmlns:a16="http://schemas.microsoft.com/office/drawing/2014/main" id="{6D3BF37B-F120-46FC-8DB6-2A1FC0622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5600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500"/>
          </a:solidFill>
          <a:ln xmlns:a="http://schemas.openxmlformats.org/drawingml/2006/main" w="0">
            <a:solidFill>
              <a:srgbClr val="FFD500"/>
            </a:solidFill>
            <a:prstDash val="solid"/>
          </a:ln>
        </p:spPr>
      </p:sp>
      <p:sp>
        <p:nvSpPr>
          <p:cNvPr id="36" name="s2-b2-text">
            <a:extLst xmlns:a="http://schemas.openxmlformats.org/drawingml/2006/main">
              <a:ext uri="{FF2B5EF4-FFF2-40B4-BE49-F238E27FC236}">
                <a16:creationId xmlns:a16="http://schemas.microsoft.com/office/drawing/2014/main" id="{567A3F2F-AE79-40F6-B345-DC4A0CF2B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5600700"/>
            <a:ext cx="64579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6000"/>
              </a:lnSpc>
              <a:buNone/>
              <a:defRPr sz="1800">
                <a:solidFill>
                  <a:srgbClr val="6C6C89"/>
                </a:solidFill>
                <a:latin typeface="Inter"/>
                <a:ea typeface="Inter"/>
                <a:cs typeface="Inter"/>
              </a:defRPr>
            </a:pPr>
            <a:r>
              <a:rPr sz="1800">
                <a:solidFill>
                  <a:srgbClr val="6C6C89"/>
                </a:solidFill>
                <a:latin typeface="Inter"/>
                <a:ea typeface="Inter"/>
                <a:cs typeface="Inter"/>
              </a:rPr>
              <a:t>Más directo y atractivo como producto.</a:t>
            </a:r>
          </a:p>
        </p:txBody>
      </p:sp>
      <p:sp>
        <p:nvSpPr>
          <p:cNvPr id="37" name="s2-b3-dot">
            <a:extLst xmlns:a="http://schemas.openxmlformats.org/drawingml/2006/main">
              <a:ext uri="{FF2B5EF4-FFF2-40B4-BE49-F238E27FC236}">
                <a16:creationId xmlns:a16="http://schemas.microsoft.com/office/drawing/2014/main" id="{872FA7FE-4AE6-4874-B8C0-99EB84BC4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341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500"/>
          </a:solidFill>
          <a:ln xmlns:a="http://schemas.openxmlformats.org/drawingml/2006/main" w="0">
            <a:solidFill>
              <a:srgbClr val="FFD500"/>
            </a:solidFill>
            <a:prstDash val="solid"/>
          </a:ln>
        </p:spPr>
      </p:sp>
      <p:sp>
        <p:nvSpPr>
          <p:cNvPr id="38" name="s2-b3-text">
            <a:extLst xmlns:a="http://schemas.openxmlformats.org/drawingml/2006/main">
              <a:ext uri="{FF2B5EF4-FFF2-40B4-BE49-F238E27FC236}">
                <a16:creationId xmlns:a16="http://schemas.microsoft.com/office/drawing/2014/main" id="{D07B4C35-F377-45AE-9759-30D3B95A8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134100"/>
            <a:ext cx="64579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6000"/>
              </a:lnSpc>
              <a:buNone/>
              <a:defRPr sz="1800">
                <a:solidFill>
                  <a:srgbClr val="6C6C89"/>
                </a:solidFill>
                <a:latin typeface="Inter"/>
                <a:ea typeface="Inter"/>
                <a:cs typeface="Inter"/>
              </a:defRPr>
            </a:pPr>
            <a:r>
              <a:rPr sz="1800">
                <a:solidFill>
                  <a:srgbClr val="6C6C89"/>
                </a:solidFill>
                <a:latin typeface="Inter"/>
                <a:ea typeface="Inter"/>
                <a:cs typeface="Inter"/>
              </a:rPr>
              <a:t>Más simple que Odoo como aspiración de UX.</a:t>
            </a:r>
          </a:p>
        </p:txBody>
      </p:sp>
      <p:sp>
        <p:nvSpPr>
          <p:cNvPr id="39" name="s2-b4-dot">
            <a:extLst xmlns:a="http://schemas.openxmlformats.org/drawingml/2006/main">
              <a:ext uri="{FF2B5EF4-FFF2-40B4-BE49-F238E27FC236}">
                <a16:creationId xmlns:a16="http://schemas.microsoft.com/office/drawing/2014/main" id="{57DE557D-0316-4E9E-9096-B6AAA0DC4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6675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500"/>
          </a:solidFill>
          <a:ln xmlns:a="http://schemas.openxmlformats.org/drawingml/2006/main" w="0">
            <a:solidFill>
              <a:srgbClr val="FFD500"/>
            </a:solidFill>
            <a:prstDash val="solid"/>
          </a:ln>
        </p:spPr>
      </p:sp>
      <p:sp>
        <p:nvSpPr>
          <p:cNvPr id="40" name="s2-b4-text">
            <a:extLst xmlns:a="http://schemas.openxmlformats.org/drawingml/2006/main">
              <a:ext uri="{FF2B5EF4-FFF2-40B4-BE49-F238E27FC236}">
                <a16:creationId xmlns:a16="http://schemas.microsoft.com/office/drawing/2014/main" id="{27EDA0CF-0CF7-455A-BD78-7B635AB20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667500"/>
            <a:ext cx="64579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6000"/>
              </a:lnSpc>
              <a:buNone/>
              <a:defRPr sz="1800">
                <a:solidFill>
                  <a:srgbClr val="6C6C89"/>
                </a:solidFill>
                <a:latin typeface="Inter"/>
                <a:ea typeface="Inter"/>
                <a:cs typeface="Inter"/>
              </a:defRPr>
            </a:pPr>
            <a:r>
              <a:rPr sz="1800">
                <a:solidFill>
                  <a:srgbClr val="6C6C89"/>
                </a:solidFill>
                <a:latin typeface="Inter"/>
                <a:ea typeface="Inter"/>
                <a:cs typeface="Inter"/>
              </a:rPr>
              <a:t>Más configurable que Holded como aspiración de producto.</a:t>
            </a:r>
          </a:p>
        </p:txBody>
      </p:sp>
      <p:sp>
        <p:nvSpPr>
          <p:cNvPr id="41" name="s2-b5-dot">
            <a:extLst xmlns:a="http://schemas.openxmlformats.org/drawingml/2006/main">
              <a:ext uri="{FF2B5EF4-FFF2-40B4-BE49-F238E27FC236}">
                <a16:creationId xmlns:a16="http://schemas.microsoft.com/office/drawing/2014/main" id="{223D2D23-7847-47A7-AD41-43D0BF5C6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71818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500"/>
          </a:solidFill>
          <a:ln xmlns:a="http://schemas.openxmlformats.org/drawingml/2006/main" w="0">
            <a:solidFill>
              <a:srgbClr val="FFD500"/>
            </a:solidFill>
            <a:prstDash val="solid"/>
          </a:ln>
        </p:spPr>
      </p:sp>
      <p:sp>
        <p:nvSpPr>
          <p:cNvPr id="42" name="s2-b5-text">
            <a:extLst xmlns:a="http://schemas.openxmlformats.org/drawingml/2006/main">
              <a:ext uri="{FF2B5EF4-FFF2-40B4-BE49-F238E27FC236}">
                <a16:creationId xmlns:a16="http://schemas.microsoft.com/office/drawing/2014/main" id="{127EBE67-0FFF-45FC-B273-CF6E351D6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7181850"/>
            <a:ext cx="64579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6000"/>
              </a:lnSpc>
              <a:buNone/>
              <a:defRPr sz="1800">
                <a:solidFill>
                  <a:srgbClr val="6C6C89"/>
                </a:solidFill>
                <a:latin typeface="Inter"/>
                <a:ea typeface="Inter"/>
                <a:cs typeface="Inter"/>
              </a:defRPr>
            </a:pPr>
            <a:r>
              <a:rPr sz="1800">
                <a:solidFill>
                  <a:srgbClr val="6C6C89"/>
                </a:solidFill>
                <a:latin typeface="Inter"/>
                <a:ea typeface="Inter"/>
                <a:cs typeface="Inter"/>
              </a:rPr>
              <a:t>Con la profundidad funcional de Etendo por debajo.</a:t>
            </a:r>
          </a:p>
        </p:txBody>
      </p:sp>
      <p:sp>
        <p:nvSpPr>
          <p:cNvPr id="43" name="footer-left-2">
            <a:extLst xmlns:a="http://schemas.openxmlformats.org/drawingml/2006/main">
              <a:ext uri="{FF2B5EF4-FFF2-40B4-BE49-F238E27FC236}">
                <a16:creationId xmlns:a16="http://schemas.microsoft.com/office/drawing/2014/main" id="{074515B8-3D76-4628-A7EF-6E736142D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9734550"/>
            <a:ext cx="59055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828FA3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828FA3"/>
                </a:solidFill>
                <a:latin typeface="Inter"/>
                <a:ea typeface="Inter"/>
                <a:cs typeface="Inter"/>
              </a:rPr>
              <a:t>Etendo GO · Producto · 2026-04-30</a:t>
            </a:r>
          </a:p>
        </p:txBody>
      </p:sp>
      <p:sp>
        <p:nvSpPr>
          <p:cNvPr id="44" name="footer-right-2">
            <a:extLst xmlns:a="http://schemas.openxmlformats.org/drawingml/2006/main">
              <a:ext uri="{FF2B5EF4-FFF2-40B4-BE49-F238E27FC236}">
                <a16:creationId xmlns:a16="http://schemas.microsoft.com/office/drawing/2014/main" id="{144EE583-3DDD-47C4-A4D3-8440C3A66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0" y="9734550"/>
            <a:ext cx="24765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828FA3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828FA3"/>
                </a:solidFill>
                <a:latin typeface="Inter"/>
                <a:ea typeface="Inter"/>
                <a:cs typeface="Inter"/>
              </a:rPr>
              <a:t>Schema Forge snapshot</a:t>
            </a:r>
          </a:p>
        </p:txBody>
      </p:sp>
    </p:spTree>
    <p:extLst>
      <p:ext uri="{BB962C8B-B14F-4D97-AF65-F5344CB8AC3E}">
        <p14:creationId xmlns:p14="http://schemas.microsoft.com/office/powerpoint/2010/main" val="74635815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left-rail-3">
            <a:extLst xmlns:a="http://schemas.openxmlformats.org/drawingml/2006/main">
              <a:ext uri="{FF2B5EF4-FFF2-40B4-BE49-F238E27FC236}">
                <a16:creationId xmlns:a16="http://schemas.microsoft.com/office/drawing/2014/main" id="{274E361B-6E10-4738-ACB5-5B1EB87F9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00050"/>
            <a:ext cx="819150" cy="948690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AEF"/>
            </a:solidFill>
            <a:prstDash val="solid"/>
          </a:ln>
        </p:spPr>
      </p:sp>
      <p:pic>
        <p:nvPicPr>
          <p:cNvPr id="2" name="favicon-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0fd788f601445b"/>
          <a:stretch xmlns:a="http://schemas.openxmlformats.org/drawingml/2006/main"/>
        </p:blipFill>
        <p:spPr>
          <a:xfrm xmlns:a="http://schemas.openxmlformats.org/drawingml/2006/main">
            <a:off x="723900" y="571500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3" name="rail-accent-3">
            <a:extLst xmlns:a="http://schemas.openxmlformats.org/drawingml/2006/main">
              <a:ext uri="{FF2B5EF4-FFF2-40B4-BE49-F238E27FC236}">
                <a16:creationId xmlns:a16="http://schemas.microsoft.com/office/drawing/2014/main" id="{C80E5333-8F43-449D-A425-30E6AC916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43400"/>
            <a:ext cx="76200" cy="1143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D500"/>
          </a:solidFill>
          <a:ln xmlns:a="http://schemas.openxmlformats.org/drawingml/2006/main" w="0">
            <a:solidFill>
              <a:srgbClr val="FFD500"/>
            </a:solidFill>
            <a:prstDash val="solid"/>
          </a:ln>
        </p:spPr>
      </p:sp>
      <p:sp>
        <p:nvSpPr>
          <p:cNvPr id="4" name="rail-section-3">
            <a:extLst xmlns:a="http://schemas.openxmlformats.org/drawingml/2006/main">
              <a:ext uri="{FF2B5EF4-FFF2-40B4-BE49-F238E27FC236}">
                <a16:creationId xmlns:a16="http://schemas.microsoft.com/office/drawing/2014/main" id="{0D0A71E4-CE50-4E28-BD77-89CC7A7FF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638800"/>
            <a:ext cx="6286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C6C89"/>
                </a:solidFill>
                <a:latin typeface="Inter"/>
                <a:ea typeface="Inter"/>
                <a:cs typeface="Inter"/>
              </a:defRPr>
            </a:pPr>
            <a:r>
              <a:rPr sz="975" b="1">
                <a:solidFill>
                  <a:srgbClr val="6C6C89"/>
                </a:solidFill>
                <a:latin typeface="Inter"/>
                <a:ea typeface="Inter"/>
                <a:cs typeface="Inter"/>
              </a:rPr>
              <a:t>Qué es Etendo GO</a:t>
            </a:r>
          </a:p>
        </p:txBody>
      </p:sp>
      <p:sp>
        <p:nvSpPr>
          <p:cNvPr id="5" name="rail-number-3">
            <a:extLst xmlns:a="http://schemas.openxmlformats.org/drawingml/2006/main">
              <a:ext uri="{FF2B5EF4-FFF2-40B4-BE49-F238E27FC236}">
                <a16:creationId xmlns:a16="http://schemas.microsoft.com/office/drawing/2014/main" id="{8C3C3D12-01EC-4CF5-90D2-1CCD0E2C1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0"/>
            <a:ext cx="571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828FA3"/>
                </a:solidFill>
                <a:latin typeface="Inter"/>
                <a:ea typeface="Inter"/>
                <a:cs typeface="Inter"/>
              </a:defRPr>
            </a:pPr>
            <a:r>
              <a:rPr sz="1200" b="1">
                <a:solidFill>
                  <a:srgbClr val="828FA3"/>
                </a:solidFill>
                <a:latin typeface="Inter"/>
                <a:ea typeface="Inter"/>
                <a:cs typeface="Inter"/>
              </a:rPr>
              <a:t>03</a:t>
            </a:r>
          </a:p>
        </p:txBody>
      </p:sp>
      <p:sp>
        <p:nvSpPr>
          <p:cNvPr id="6" name="section-pill-3">
            <a:extLst xmlns:a="http://schemas.openxmlformats.org/drawingml/2006/main">
              <a:ext uri="{FF2B5EF4-FFF2-40B4-BE49-F238E27FC236}">
                <a16:creationId xmlns:a16="http://schemas.microsoft.com/office/drawing/2014/main" id="{12492F21-B5F3-44DE-8CB6-68D54C085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19100"/>
            <a:ext cx="1686497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D500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section-pill-3-text">
            <a:extLst xmlns:a="http://schemas.openxmlformats.org/drawingml/2006/main">
              <a:ext uri="{FF2B5EF4-FFF2-40B4-BE49-F238E27FC236}">
                <a16:creationId xmlns:a16="http://schemas.microsoft.com/office/drawing/2014/main" id="{C1676606-BC5E-4B99-B55D-AFBD91D2F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95300"/>
            <a:ext cx="1333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21217"/>
                </a:solidFill>
                <a:latin typeface="Inter"/>
                <a:ea typeface="Inter"/>
                <a:cs typeface="Inter"/>
              </a:defRPr>
            </a:pPr>
            <a:r>
              <a:rPr sz="1200" b="1">
                <a:solidFill>
                  <a:srgbClr val="121217"/>
                </a:solidFill>
                <a:latin typeface="Inter"/>
                <a:ea typeface="Inter"/>
                <a:cs typeface="Inter"/>
              </a:rPr>
              <a:t>Qué es Etendo GO</a:t>
            </a:r>
          </a:p>
        </p:txBody>
      </p:sp>
      <p:sp>
        <p:nvSpPr>
          <p:cNvPr id="8" name="search-pill-3">
            <a:extLst xmlns:a="http://schemas.openxmlformats.org/drawingml/2006/main">
              <a:ext uri="{FF2B5EF4-FFF2-40B4-BE49-F238E27FC236}">
                <a16:creationId xmlns:a16="http://schemas.microsoft.com/office/drawing/2014/main" id="{2FC1974E-87DE-4464-A819-EABF1377B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400050"/>
            <a:ext cx="495300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AEF"/>
          </a:solidFill>
        </p:spPr>
      </p:sp>
      <p:sp>
        <p:nvSpPr>
          <p:cNvPr id="9" name="search-text-3">
            <a:extLst xmlns:a="http://schemas.openxmlformats.org/drawingml/2006/main">
              <a:ext uri="{FF2B5EF4-FFF2-40B4-BE49-F238E27FC236}">
                <a16:creationId xmlns:a16="http://schemas.microsoft.com/office/drawing/2014/main" id="{174809BE-6356-41E6-A234-E8D1DD024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68300" y="495300"/>
            <a:ext cx="45339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55B6D"/>
                </a:solidFill>
                <a:latin typeface="Inter"/>
                <a:ea typeface="Inter"/>
                <a:cs typeface="Inter"/>
              </a:defRPr>
            </a:pPr>
            <a:r>
              <a:rPr sz="1125">
                <a:solidFill>
                  <a:srgbClr val="555B6D"/>
                </a:solidFill>
                <a:latin typeface="Inter"/>
                <a:ea typeface="Inter"/>
                <a:cs typeface="Inter"/>
              </a:rPr>
              <a:t>Buscar en Etendo GO / preguntar al agente</a:t>
            </a:r>
          </a:p>
        </p:txBody>
      </p:sp>
      <p:sp>
        <p:nvSpPr>
          <p:cNvPr id="10" name="slide-title-3">
            <a:extLst xmlns:a="http://schemas.openxmlformats.org/drawingml/2006/main">
              <a:ext uri="{FF2B5EF4-FFF2-40B4-BE49-F238E27FC236}">
                <a16:creationId xmlns:a16="http://schemas.microsoft.com/office/drawing/2014/main" id="{6C9F61E6-07B8-4389-9363-E0104488E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876300"/>
            <a:ext cx="161925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21217"/>
                </a:solidFill>
                <a:latin typeface="Inter"/>
                <a:ea typeface="Inter"/>
                <a:cs typeface="Inter"/>
              </a:defRPr>
            </a:pPr>
            <a:r>
              <a:rPr sz="3900" b="1">
                <a:solidFill>
                  <a:srgbClr val="121217"/>
                </a:solidFill>
                <a:latin typeface="Inter"/>
                <a:ea typeface="Inter"/>
                <a:cs typeface="Inter"/>
              </a:rPr>
              <a:t>La nueva capa de operación del ERP</a:t>
            </a:r>
          </a:p>
        </p:txBody>
      </p:sp>
      <p:sp>
        <p:nvSpPr>
          <p:cNvPr id="11" name="slide-subtitle-3">
            <a:extLst xmlns:a="http://schemas.openxmlformats.org/drawingml/2006/main">
              <a:ext uri="{FF2B5EF4-FFF2-40B4-BE49-F238E27FC236}">
                <a16:creationId xmlns:a16="http://schemas.microsoft.com/office/drawing/2014/main" id="{3B3EBC8A-90AF-4075-BFC6-2F8EFD66C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581150"/>
            <a:ext cx="100203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2025">
                <a:solidFill>
                  <a:srgbClr val="6C6C89"/>
                </a:solidFill>
                <a:latin typeface="Inter"/>
                <a:ea typeface="Inter"/>
                <a:cs typeface="Inter"/>
              </a:defRPr>
            </a:pPr>
            <a:r>
              <a:rPr sz="2025">
                <a:solidFill>
                  <a:srgbClr val="6C6C89"/>
                </a:solidFill>
                <a:latin typeface="Inter"/>
                <a:ea typeface="Inter"/>
                <a:cs typeface="Inter"/>
              </a:rPr>
              <a:t>Etendo GO ordena las superficies modernas de operación sin duplicar la lógica central.</a:t>
            </a:r>
          </a:p>
        </p:txBody>
      </p:sp>
      <p:sp>
        <p:nvSpPr>
          <p:cNvPr id="12" name="s3-core">
            <a:extLst xmlns:a="http://schemas.openxmlformats.org/drawingml/2006/main">
              <a:ext uri="{FF2B5EF4-FFF2-40B4-BE49-F238E27FC236}">
                <a16:creationId xmlns:a16="http://schemas.microsoft.com/office/drawing/2014/main" id="{1BBC80A8-22F4-420C-BA8E-FF0D25C27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203475"/>
            <a:ext cx="7477125" cy="7256755"/>
          </a:xfrm>
          <a:prstGeom xmlns:a="http://schemas.openxmlformats.org/drawingml/2006/main" prst="roundRect">
            <a:avLst>
              <a:gd name="adj" fmla="val 15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AEF"/>
            </a:solidFill>
            <a:prstDash val="solid"/>
          </a:ln>
        </p:spPr>
      </p:sp>
      <p:sp>
        <p:nvSpPr>
          <p:cNvPr id="13" name="s3-core-title">
            <a:extLst xmlns:a="http://schemas.openxmlformats.org/drawingml/2006/main">
              <a:ext uri="{FF2B5EF4-FFF2-40B4-BE49-F238E27FC236}">
                <a16:creationId xmlns:a16="http://schemas.microsoft.com/office/drawing/2014/main" id="{A61ADE5B-976C-4A37-8417-2B0D2AB53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4476750"/>
            <a:ext cx="67627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21217"/>
                </a:solidFill>
                <a:latin typeface="Inter"/>
                <a:ea typeface="Inter"/>
                <a:cs typeface="Inter"/>
              </a:defRPr>
            </a:pPr>
            <a:r>
              <a:rPr sz="3450" b="1">
                <a:solidFill>
                  <a:srgbClr val="121217"/>
                </a:solidFill>
                <a:latin typeface="Inter"/>
                <a:ea typeface="Inter"/>
                <a:cs typeface="Inter"/>
              </a:rPr>
              <a:t>Core ERP</a:t>
            </a:r>
          </a:p>
        </p:txBody>
      </p:sp>
      <p:sp>
        <p:nvSpPr>
          <p:cNvPr id="14" name="s3-core-b1-dot">
            <a:extLst xmlns:a="http://schemas.openxmlformats.org/drawingml/2006/main">
              <a:ext uri="{FF2B5EF4-FFF2-40B4-BE49-F238E27FC236}">
                <a16:creationId xmlns:a16="http://schemas.microsoft.com/office/drawing/2014/main" id="{669F6154-C0FE-4529-BEBD-E08C91235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52387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500"/>
          </a:solidFill>
          <a:ln xmlns:a="http://schemas.openxmlformats.org/drawingml/2006/main" w="0">
            <a:solidFill>
              <a:srgbClr val="FFD500"/>
            </a:solidFill>
            <a:prstDash val="solid"/>
          </a:ln>
        </p:spPr>
      </p:sp>
      <p:sp>
        <p:nvSpPr>
          <p:cNvPr id="15" name="s3-core-b1-text">
            <a:extLst xmlns:a="http://schemas.openxmlformats.org/drawingml/2006/main">
              <a:ext uri="{FF2B5EF4-FFF2-40B4-BE49-F238E27FC236}">
                <a16:creationId xmlns:a16="http://schemas.microsoft.com/office/drawing/2014/main" id="{D1604891-DCE6-413B-998E-A28C7E9A9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5238750"/>
            <a:ext cx="65151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6000"/>
              </a:lnSpc>
              <a:buNone/>
              <a:defRPr sz="1800">
                <a:solidFill>
                  <a:srgbClr val="6C6C89"/>
                </a:solidFill>
                <a:latin typeface="Inter"/>
                <a:ea typeface="Inter"/>
                <a:cs typeface="Inter"/>
              </a:defRPr>
            </a:pPr>
            <a:r>
              <a:rPr sz="1800">
                <a:solidFill>
                  <a:srgbClr val="6C6C89"/>
                </a:solidFill>
                <a:latin typeface="Inter"/>
                <a:ea typeface="Inter"/>
                <a:cs typeface="Inter"/>
              </a:rPr>
              <a:t>Reglas de negocio</a:t>
            </a:r>
          </a:p>
        </p:txBody>
      </p:sp>
      <p:sp>
        <p:nvSpPr>
          <p:cNvPr id="16" name="s3-core-b2-dot">
            <a:extLst xmlns:a="http://schemas.openxmlformats.org/drawingml/2006/main">
              <a:ext uri="{FF2B5EF4-FFF2-40B4-BE49-F238E27FC236}">
                <a16:creationId xmlns:a16="http://schemas.microsoft.com/office/drawing/2014/main" id="{BA55F782-0DA1-46C4-85D1-63CAB8201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57721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500"/>
          </a:solidFill>
          <a:ln xmlns:a="http://schemas.openxmlformats.org/drawingml/2006/main" w="0">
            <a:solidFill>
              <a:srgbClr val="FFD500"/>
            </a:solidFill>
            <a:prstDash val="solid"/>
          </a:ln>
        </p:spPr>
      </p:sp>
      <p:sp>
        <p:nvSpPr>
          <p:cNvPr id="17" name="s3-core-b2-text">
            <a:extLst xmlns:a="http://schemas.openxmlformats.org/drawingml/2006/main">
              <a:ext uri="{FF2B5EF4-FFF2-40B4-BE49-F238E27FC236}">
                <a16:creationId xmlns:a16="http://schemas.microsoft.com/office/drawing/2014/main" id="{A75EA36E-7107-4753-BBA8-727021EE0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5772150"/>
            <a:ext cx="65151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6000"/>
              </a:lnSpc>
              <a:buNone/>
              <a:defRPr sz="1800">
                <a:solidFill>
                  <a:srgbClr val="6C6C89"/>
                </a:solidFill>
                <a:latin typeface="Inter"/>
                <a:ea typeface="Inter"/>
                <a:cs typeface="Inter"/>
              </a:defRPr>
            </a:pPr>
            <a:r>
              <a:rPr sz="1800">
                <a:solidFill>
                  <a:srgbClr val="6C6C89"/>
                </a:solidFill>
                <a:latin typeface="Inter"/>
                <a:ea typeface="Inter"/>
                <a:cs typeface="Inter"/>
              </a:rPr>
              <a:t>Datos y relaciones</a:t>
            </a:r>
          </a:p>
        </p:txBody>
      </p:sp>
      <p:sp>
        <p:nvSpPr>
          <p:cNvPr id="18" name="s3-core-b3-dot">
            <a:extLst xmlns:a="http://schemas.openxmlformats.org/drawingml/2006/main">
              <a:ext uri="{FF2B5EF4-FFF2-40B4-BE49-F238E27FC236}">
                <a16:creationId xmlns:a16="http://schemas.microsoft.com/office/drawing/2014/main" id="{23E6CA7F-A3EA-4A51-8DBD-11F04BD80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63246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500"/>
          </a:solidFill>
          <a:ln xmlns:a="http://schemas.openxmlformats.org/drawingml/2006/main" w="0">
            <a:solidFill>
              <a:srgbClr val="FFD500"/>
            </a:solidFill>
            <a:prstDash val="solid"/>
          </a:ln>
        </p:spPr>
      </p:sp>
      <p:sp>
        <p:nvSpPr>
          <p:cNvPr id="19" name="s3-core-b3-text">
            <a:extLst xmlns:a="http://schemas.openxmlformats.org/drawingml/2006/main">
              <a:ext uri="{FF2B5EF4-FFF2-40B4-BE49-F238E27FC236}">
                <a16:creationId xmlns:a16="http://schemas.microsoft.com/office/drawing/2014/main" id="{FD03A2C4-FC84-48F1-9919-4EC7EF923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6324600"/>
            <a:ext cx="65151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6000"/>
              </a:lnSpc>
              <a:buNone/>
              <a:defRPr sz="1800">
                <a:solidFill>
                  <a:srgbClr val="6C6C89"/>
                </a:solidFill>
                <a:latin typeface="Inter"/>
                <a:ea typeface="Inter"/>
                <a:cs typeface="Inter"/>
              </a:defRPr>
            </a:pPr>
            <a:r>
              <a:rPr sz="1800">
                <a:solidFill>
                  <a:srgbClr val="6C6C89"/>
                </a:solidFill>
                <a:latin typeface="Inter"/>
                <a:ea typeface="Inter"/>
                <a:cs typeface="Inter"/>
              </a:rPr>
              <a:t>Procesos y permisos</a:t>
            </a:r>
          </a:p>
        </p:txBody>
      </p:sp>
      <p:sp>
        <p:nvSpPr>
          <p:cNvPr id="20" name="s3-core-b4-dot">
            <a:extLst xmlns:a="http://schemas.openxmlformats.org/drawingml/2006/main">
              <a:ext uri="{FF2B5EF4-FFF2-40B4-BE49-F238E27FC236}">
                <a16:creationId xmlns:a16="http://schemas.microsoft.com/office/drawing/2014/main" id="{68427753-8FC7-43E5-A1DA-FE4F76D10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68770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500"/>
          </a:solidFill>
          <a:ln xmlns:a="http://schemas.openxmlformats.org/drawingml/2006/main" w="0">
            <a:solidFill>
              <a:srgbClr val="FFD500"/>
            </a:solidFill>
            <a:prstDash val="solid"/>
          </a:ln>
        </p:spPr>
      </p:sp>
      <p:sp>
        <p:nvSpPr>
          <p:cNvPr id="21" name="s3-core-b4-text">
            <a:extLst xmlns:a="http://schemas.openxmlformats.org/drawingml/2006/main">
              <a:ext uri="{FF2B5EF4-FFF2-40B4-BE49-F238E27FC236}">
                <a16:creationId xmlns:a16="http://schemas.microsoft.com/office/drawing/2014/main" id="{11B2E0FC-633F-4BF8-827E-DFC573DE0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6877050"/>
            <a:ext cx="65151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6000"/>
              </a:lnSpc>
              <a:buNone/>
              <a:defRPr sz="1800">
                <a:solidFill>
                  <a:srgbClr val="6C6C89"/>
                </a:solidFill>
                <a:latin typeface="Inter"/>
                <a:ea typeface="Inter"/>
                <a:cs typeface="Inter"/>
              </a:defRPr>
            </a:pPr>
            <a:r>
              <a:rPr sz="1800">
                <a:solidFill>
                  <a:srgbClr val="6C6C89"/>
                </a:solidFill>
                <a:latin typeface="Inter"/>
                <a:ea typeface="Inter"/>
                <a:cs typeface="Inter"/>
              </a:rPr>
              <a:t>Consistencia transaccional</a:t>
            </a:r>
          </a:p>
        </p:txBody>
      </p:sp>
      <p:sp>
        <p:nvSpPr>
          <p:cNvPr id="22" name="s3-bridge-line">
            <a:extLst xmlns:a="http://schemas.openxmlformats.org/drawingml/2006/main">
              <a:ext uri="{FF2B5EF4-FFF2-40B4-BE49-F238E27FC236}">
                <a16:creationId xmlns:a16="http://schemas.microsoft.com/office/drawing/2014/main" id="{6AFC4D7C-28ED-4F2C-A612-D42243C4B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4191000"/>
            <a:ext cx="76200" cy="2857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D500"/>
          </a:solidFill>
          <a:ln xmlns:a="http://schemas.openxmlformats.org/drawingml/2006/main" w="0">
            <a:solidFill>
              <a:srgbClr val="FFD500"/>
            </a:solidFill>
            <a:prstDash val="solid"/>
          </a:ln>
        </p:spPr>
      </p:sp>
      <p:sp>
        <p:nvSpPr>
          <p:cNvPr id="23" name="s3-bridge-text">
            <a:extLst xmlns:a="http://schemas.openxmlformats.org/drawingml/2006/main">
              <a:ext uri="{FF2B5EF4-FFF2-40B4-BE49-F238E27FC236}">
                <a16:creationId xmlns:a16="http://schemas.microsoft.com/office/drawing/2014/main" id="{6E988C39-8001-4F4B-BDD2-562267F74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7258050"/>
            <a:ext cx="7239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6C6C89"/>
                </a:solidFill>
                <a:latin typeface="Inter"/>
                <a:ea typeface="Inter"/>
                <a:cs typeface="Inter"/>
              </a:defRPr>
            </a:pPr>
            <a:r>
              <a:rPr sz="1200" b="1">
                <a:solidFill>
                  <a:srgbClr val="6C6C89"/>
                </a:solidFill>
                <a:latin typeface="Inter"/>
                <a:ea typeface="Inter"/>
                <a:cs typeface="Inter"/>
              </a:rPr>
              <a:t>sobre</a:t>
            </a:r>
          </a:p>
        </p:txBody>
      </p:sp>
      <p:sp>
        <p:nvSpPr>
          <p:cNvPr id="24" name="s3-go">
            <a:extLst xmlns:a="http://schemas.openxmlformats.org/drawingml/2006/main">
              <a:ext uri="{FF2B5EF4-FFF2-40B4-BE49-F238E27FC236}">
                <a16:creationId xmlns:a16="http://schemas.microsoft.com/office/drawing/2014/main" id="{13B4A987-BE6E-4A70-B6B6-83BC7D729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2203475"/>
            <a:ext cx="7477125" cy="7256755"/>
          </a:xfrm>
          <a:prstGeom xmlns:a="http://schemas.openxmlformats.org/drawingml/2006/main" prst="roundRect">
            <a:avLst>
              <a:gd name="adj" fmla="val 1575"/>
            </a:avLst>
          </a:prstGeom>
          <a:solidFill xmlns:a="http://schemas.openxmlformats.org/drawingml/2006/main">
            <a:srgbClr val="121217"/>
          </a:solidFill>
          <a:ln xmlns:a="http://schemas.openxmlformats.org/drawingml/2006/main" w="0">
            <a:solidFill>
              <a:srgbClr val="121217"/>
            </a:solidFill>
            <a:prstDash val="solid"/>
          </a:ln>
        </p:spPr>
      </p:sp>
      <p:sp>
        <p:nvSpPr>
          <p:cNvPr id="25" name="s3-go-title">
            <a:extLst xmlns:a="http://schemas.openxmlformats.org/drawingml/2006/main">
              <a:ext uri="{FF2B5EF4-FFF2-40B4-BE49-F238E27FC236}">
                <a16:creationId xmlns:a16="http://schemas.microsoft.com/office/drawing/2014/main" id="{B24DC752-2ECB-46C2-A3AD-1FC4FE6EC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4476750"/>
            <a:ext cx="67627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345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Etendo GO</a:t>
            </a:r>
          </a:p>
        </p:txBody>
      </p:sp>
      <p:sp>
        <p:nvSpPr>
          <p:cNvPr id="26" name="s3-go-b1-dot">
            <a:extLst xmlns:a="http://schemas.openxmlformats.org/drawingml/2006/main">
              <a:ext uri="{FF2B5EF4-FFF2-40B4-BE49-F238E27FC236}">
                <a16:creationId xmlns:a16="http://schemas.microsoft.com/office/drawing/2014/main" id="{366E2339-F7C9-4194-B032-13C9FD4D0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52387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500"/>
          </a:solidFill>
          <a:ln xmlns:a="http://schemas.openxmlformats.org/drawingml/2006/main" w="0">
            <a:solidFill>
              <a:srgbClr val="FFD500"/>
            </a:solidFill>
            <a:prstDash val="solid"/>
          </a:ln>
        </p:spPr>
      </p:sp>
      <p:sp>
        <p:nvSpPr>
          <p:cNvPr id="27" name="s3-go-b1-text">
            <a:extLst xmlns:a="http://schemas.openxmlformats.org/drawingml/2006/main">
              <a:ext uri="{FF2B5EF4-FFF2-40B4-BE49-F238E27FC236}">
                <a16:creationId xmlns:a16="http://schemas.microsoft.com/office/drawing/2014/main" id="{C49E0DA1-52BA-4388-8C83-B89A229BB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5238750"/>
            <a:ext cx="65151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6000"/>
              </a:lnSpc>
              <a:buNone/>
              <a:defRPr sz="1800">
                <a:solidFill>
                  <a:srgbClr val="D5D9E2"/>
                </a:solidFill>
                <a:latin typeface="Inter"/>
                <a:ea typeface="Inter"/>
                <a:cs typeface="Inter"/>
              </a:defRPr>
            </a:pPr>
            <a:r>
              <a:rPr sz="1800">
                <a:solidFill>
                  <a:srgbClr val="D5D9E2"/>
                </a:solidFill>
                <a:latin typeface="Inter"/>
                <a:ea typeface="Inter"/>
                <a:cs typeface="Inter"/>
              </a:rPr>
              <a:t>UI enfocada para humanos</a:t>
            </a:r>
          </a:p>
        </p:txBody>
      </p:sp>
      <p:sp>
        <p:nvSpPr>
          <p:cNvPr id="28" name="s3-go-b2-dot">
            <a:extLst xmlns:a="http://schemas.openxmlformats.org/drawingml/2006/main">
              <a:ext uri="{FF2B5EF4-FFF2-40B4-BE49-F238E27FC236}">
                <a16:creationId xmlns:a16="http://schemas.microsoft.com/office/drawing/2014/main" id="{5B664195-493E-4E51-BCD6-A99CBBAEB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57721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500"/>
          </a:solidFill>
          <a:ln xmlns:a="http://schemas.openxmlformats.org/drawingml/2006/main" w="0">
            <a:solidFill>
              <a:srgbClr val="FFD500"/>
            </a:solidFill>
            <a:prstDash val="solid"/>
          </a:ln>
        </p:spPr>
      </p:sp>
      <p:sp>
        <p:nvSpPr>
          <p:cNvPr id="29" name="s3-go-b2-text">
            <a:extLst xmlns:a="http://schemas.openxmlformats.org/drawingml/2006/main">
              <a:ext uri="{FF2B5EF4-FFF2-40B4-BE49-F238E27FC236}">
                <a16:creationId xmlns:a16="http://schemas.microsoft.com/office/drawing/2014/main" id="{AF07D858-A02D-4241-9481-0A1049DF4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5772150"/>
            <a:ext cx="65151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6000"/>
              </a:lnSpc>
              <a:buNone/>
              <a:defRPr sz="1800">
                <a:solidFill>
                  <a:srgbClr val="D5D9E2"/>
                </a:solidFill>
                <a:latin typeface="Inter"/>
                <a:ea typeface="Inter"/>
                <a:cs typeface="Inter"/>
              </a:defRPr>
            </a:pPr>
            <a:r>
              <a:rPr sz="1800">
                <a:solidFill>
                  <a:srgbClr val="D5D9E2"/>
                </a:solidFill>
                <a:latin typeface="Inter"/>
                <a:ea typeface="Inter"/>
                <a:cs typeface="Inter"/>
              </a:rPr>
              <a:t>APIs y contratos explícitos</a:t>
            </a:r>
          </a:p>
        </p:txBody>
      </p:sp>
      <p:sp>
        <p:nvSpPr>
          <p:cNvPr id="30" name="s3-go-b3-dot">
            <a:extLst xmlns:a="http://schemas.openxmlformats.org/drawingml/2006/main">
              <a:ext uri="{FF2B5EF4-FFF2-40B4-BE49-F238E27FC236}">
                <a16:creationId xmlns:a16="http://schemas.microsoft.com/office/drawing/2014/main" id="{8ABEE439-5714-477D-B0D4-68FAFABDC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3246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500"/>
          </a:solidFill>
          <a:ln xmlns:a="http://schemas.openxmlformats.org/drawingml/2006/main" w="0">
            <a:solidFill>
              <a:srgbClr val="FFD500"/>
            </a:solidFill>
            <a:prstDash val="solid"/>
          </a:ln>
        </p:spPr>
      </p:sp>
      <p:sp>
        <p:nvSpPr>
          <p:cNvPr id="31" name="s3-go-b3-text">
            <a:extLst xmlns:a="http://schemas.openxmlformats.org/drawingml/2006/main">
              <a:ext uri="{FF2B5EF4-FFF2-40B4-BE49-F238E27FC236}">
                <a16:creationId xmlns:a16="http://schemas.microsoft.com/office/drawing/2014/main" id="{3E842B97-5B25-40C8-B658-1D469AB70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24600"/>
            <a:ext cx="65151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6000"/>
              </a:lnSpc>
              <a:buNone/>
              <a:defRPr sz="1800">
                <a:solidFill>
                  <a:srgbClr val="D5D9E2"/>
                </a:solidFill>
                <a:latin typeface="Inter"/>
                <a:ea typeface="Inter"/>
                <a:cs typeface="Inter"/>
              </a:defRPr>
            </a:pPr>
            <a:r>
              <a:rPr sz="1800">
                <a:solidFill>
                  <a:srgbClr val="D5D9E2"/>
                </a:solidFill>
                <a:latin typeface="Inter"/>
                <a:ea typeface="Inter"/>
                <a:cs typeface="Inter"/>
              </a:rPr>
              <a:t>Tools operables por agentes</a:t>
            </a:r>
          </a:p>
        </p:txBody>
      </p:sp>
      <p:sp>
        <p:nvSpPr>
          <p:cNvPr id="32" name="s3-go-b4-dot">
            <a:extLst xmlns:a="http://schemas.openxmlformats.org/drawingml/2006/main">
              <a:ext uri="{FF2B5EF4-FFF2-40B4-BE49-F238E27FC236}">
                <a16:creationId xmlns:a16="http://schemas.microsoft.com/office/drawing/2014/main" id="{7852AE1A-7EB9-44B7-B8A0-F52BF6BF2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8770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500"/>
          </a:solidFill>
          <a:ln xmlns:a="http://schemas.openxmlformats.org/drawingml/2006/main" w="0">
            <a:solidFill>
              <a:srgbClr val="FFD500"/>
            </a:solidFill>
            <a:prstDash val="solid"/>
          </a:ln>
        </p:spPr>
      </p:sp>
      <p:sp>
        <p:nvSpPr>
          <p:cNvPr id="33" name="s3-go-b4-text">
            <a:extLst xmlns:a="http://schemas.openxmlformats.org/drawingml/2006/main">
              <a:ext uri="{FF2B5EF4-FFF2-40B4-BE49-F238E27FC236}">
                <a16:creationId xmlns:a16="http://schemas.microsoft.com/office/drawing/2014/main" id="{B8225528-3313-4DA5-94DC-25D5B73AE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877050"/>
            <a:ext cx="65151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6000"/>
              </a:lnSpc>
              <a:buNone/>
              <a:defRPr sz="1800">
                <a:solidFill>
                  <a:srgbClr val="D5D9E2"/>
                </a:solidFill>
                <a:latin typeface="Inter"/>
                <a:ea typeface="Inter"/>
                <a:cs typeface="Inter"/>
              </a:defRPr>
            </a:pPr>
            <a:r>
              <a:rPr sz="1800">
                <a:solidFill>
                  <a:srgbClr val="D5D9E2"/>
                </a:solidFill>
                <a:latin typeface="Inter"/>
                <a:ea typeface="Inter"/>
                <a:cs typeface="Inter"/>
              </a:rPr>
              <a:t>Métricas de uso y validación</a:t>
            </a:r>
          </a:p>
        </p:txBody>
      </p:sp>
      <p:sp>
        <p:nvSpPr>
          <p:cNvPr id="34" name="footer-left-3">
            <a:extLst xmlns:a="http://schemas.openxmlformats.org/drawingml/2006/main">
              <a:ext uri="{FF2B5EF4-FFF2-40B4-BE49-F238E27FC236}">
                <a16:creationId xmlns:a16="http://schemas.microsoft.com/office/drawing/2014/main" id="{EB8A5624-2EDD-4C3D-9C1B-120CC0C38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9734550"/>
            <a:ext cx="59055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828FA3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828FA3"/>
                </a:solidFill>
                <a:latin typeface="Inter"/>
                <a:ea typeface="Inter"/>
                <a:cs typeface="Inter"/>
              </a:rPr>
              <a:t>Etendo GO · Producto · 2026-04-30</a:t>
            </a:r>
          </a:p>
        </p:txBody>
      </p:sp>
      <p:sp>
        <p:nvSpPr>
          <p:cNvPr id="35" name="footer-right-3">
            <a:extLst xmlns:a="http://schemas.openxmlformats.org/drawingml/2006/main">
              <a:ext uri="{FF2B5EF4-FFF2-40B4-BE49-F238E27FC236}">
                <a16:creationId xmlns:a16="http://schemas.microsoft.com/office/drawing/2014/main" id="{19CB53B4-E092-4C54-A4D7-FB128A892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0" y="9734550"/>
            <a:ext cx="24765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828FA3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828FA3"/>
                </a:solidFill>
                <a:latin typeface="Inter"/>
                <a:ea typeface="Inter"/>
                <a:cs typeface="Inter"/>
              </a:rPr>
              <a:t>Schema Forge snapshot</a:t>
            </a:r>
          </a:p>
        </p:txBody>
      </p:sp>
    </p:spTree>
    <p:extLst>
      <p:ext uri="{BB962C8B-B14F-4D97-AF65-F5344CB8AC3E}">
        <p14:creationId xmlns:p14="http://schemas.microsoft.com/office/powerpoint/2010/main" val="196797152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left-rail-4">
            <a:extLst xmlns:a="http://schemas.openxmlformats.org/drawingml/2006/main">
              <a:ext uri="{FF2B5EF4-FFF2-40B4-BE49-F238E27FC236}">
                <a16:creationId xmlns:a16="http://schemas.microsoft.com/office/drawing/2014/main" id="{AD18A7FC-8FB9-4FC0-9714-521C97503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00050"/>
            <a:ext cx="819150" cy="948690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AEF"/>
            </a:solidFill>
            <a:prstDash val="solid"/>
          </a:ln>
        </p:spPr>
      </p:sp>
      <p:pic>
        <p:nvPicPr>
          <p:cNvPr id="2" name="favicon-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1b2078d9114678"/>
          <a:stretch xmlns:a="http://schemas.openxmlformats.org/drawingml/2006/main"/>
        </p:blipFill>
        <p:spPr>
          <a:xfrm xmlns:a="http://schemas.openxmlformats.org/drawingml/2006/main">
            <a:off x="723900" y="571500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3" name="rail-accent-4">
            <a:extLst xmlns:a="http://schemas.openxmlformats.org/drawingml/2006/main">
              <a:ext uri="{FF2B5EF4-FFF2-40B4-BE49-F238E27FC236}">
                <a16:creationId xmlns:a16="http://schemas.microsoft.com/office/drawing/2014/main" id="{4E62898B-131B-4990-BDF1-79AC20612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19600"/>
            <a:ext cx="76200" cy="1143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D500"/>
          </a:solidFill>
          <a:ln xmlns:a="http://schemas.openxmlformats.org/drawingml/2006/main" w="0">
            <a:solidFill>
              <a:srgbClr val="FFD500"/>
            </a:solidFill>
            <a:prstDash val="solid"/>
          </a:ln>
        </p:spPr>
      </p:sp>
      <p:sp>
        <p:nvSpPr>
          <p:cNvPr id="4" name="rail-section-4">
            <a:extLst xmlns:a="http://schemas.openxmlformats.org/drawingml/2006/main">
              <a:ext uri="{FF2B5EF4-FFF2-40B4-BE49-F238E27FC236}">
                <a16:creationId xmlns:a16="http://schemas.microsoft.com/office/drawing/2014/main" id="{1E8D79EA-CC8F-4641-A6D9-9099957A5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15000"/>
            <a:ext cx="6286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C6C89"/>
                </a:solidFill>
                <a:latin typeface="Inter"/>
                <a:ea typeface="Inter"/>
                <a:cs typeface="Inter"/>
              </a:defRPr>
            </a:pPr>
            <a:r>
              <a:rPr sz="975" b="1">
                <a:solidFill>
                  <a:srgbClr val="6C6C89"/>
                </a:solidFill>
                <a:latin typeface="Inter"/>
                <a:ea typeface="Inter"/>
                <a:cs typeface="Inter"/>
              </a:rPr>
              <a:t>Cómo lo hacemos</a:t>
            </a:r>
          </a:p>
        </p:txBody>
      </p:sp>
      <p:sp>
        <p:nvSpPr>
          <p:cNvPr id="5" name="rail-number-4">
            <a:extLst xmlns:a="http://schemas.openxmlformats.org/drawingml/2006/main">
              <a:ext uri="{FF2B5EF4-FFF2-40B4-BE49-F238E27FC236}">
                <a16:creationId xmlns:a16="http://schemas.microsoft.com/office/drawing/2014/main" id="{D326C3BE-D9E4-401B-B4F5-683057030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0"/>
            <a:ext cx="571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828FA3"/>
                </a:solidFill>
                <a:latin typeface="Inter"/>
                <a:ea typeface="Inter"/>
                <a:cs typeface="Inter"/>
              </a:defRPr>
            </a:pPr>
            <a:r>
              <a:rPr sz="1200" b="1">
                <a:solidFill>
                  <a:srgbClr val="828FA3"/>
                </a:solidFill>
                <a:latin typeface="Inter"/>
                <a:ea typeface="Inter"/>
                <a:cs typeface="Inter"/>
              </a:rPr>
              <a:t>04</a:t>
            </a:r>
          </a:p>
        </p:txBody>
      </p:sp>
      <p:sp>
        <p:nvSpPr>
          <p:cNvPr id="6" name="section-pill-4">
            <a:extLst xmlns:a="http://schemas.openxmlformats.org/drawingml/2006/main">
              <a:ext uri="{FF2B5EF4-FFF2-40B4-BE49-F238E27FC236}">
                <a16:creationId xmlns:a16="http://schemas.microsoft.com/office/drawing/2014/main" id="{2D91AF36-D072-4F0B-9886-5B292D7E2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19100"/>
            <a:ext cx="1663351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D500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section-pill-4-text">
            <a:extLst xmlns:a="http://schemas.openxmlformats.org/drawingml/2006/main">
              <a:ext uri="{FF2B5EF4-FFF2-40B4-BE49-F238E27FC236}">
                <a16:creationId xmlns:a16="http://schemas.microsoft.com/office/drawing/2014/main" id="{E0C7B7AA-1974-4205-89D8-04A0F1211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95300"/>
            <a:ext cx="1333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21217"/>
                </a:solidFill>
                <a:latin typeface="Inter"/>
                <a:ea typeface="Inter"/>
                <a:cs typeface="Inter"/>
              </a:defRPr>
            </a:pPr>
            <a:r>
              <a:rPr sz="1200" b="1">
                <a:solidFill>
                  <a:srgbClr val="121217"/>
                </a:solidFill>
                <a:latin typeface="Inter"/>
                <a:ea typeface="Inter"/>
                <a:cs typeface="Inter"/>
              </a:rPr>
              <a:t>Cómo lo hacemos</a:t>
            </a:r>
          </a:p>
        </p:txBody>
      </p:sp>
      <p:sp>
        <p:nvSpPr>
          <p:cNvPr id="8" name="search-pill-4">
            <a:extLst xmlns:a="http://schemas.openxmlformats.org/drawingml/2006/main">
              <a:ext uri="{FF2B5EF4-FFF2-40B4-BE49-F238E27FC236}">
                <a16:creationId xmlns:a16="http://schemas.microsoft.com/office/drawing/2014/main" id="{987730CE-AF32-4394-BD1A-393A94EFB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400050"/>
            <a:ext cx="495300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AEF"/>
          </a:solidFill>
        </p:spPr>
      </p:sp>
      <p:sp>
        <p:nvSpPr>
          <p:cNvPr id="9" name="search-text-4">
            <a:extLst xmlns:a="http://schemas.openxmlformats.org/drawingml/2006/main">
              <a:ext uri="{FF2B5EF4-FFF2-40B4-BE49-F238E27FC236}">
                <a16:creationId xmlns:a16="http://schemas.microsoft.com/office/drawing/2014/main" id="{BA66453F-E2A0-4AEE-BCAD-4991D2FCF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68300" y="495300"/>
            <a:ext cx="45339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55B6D"/>
                </a:solidFill>
                <a:latin typeface="Inter"/>
                <a:ea typeface="Inter"/>
                <a:cs typeface="Inter"/>
              </a:defRPr>
            </a:pPr>
            <a:r>
              <a:rPr sz="1125">
                <a:solidFill>
                  <a:srgbClr val="555B6D"/>
                </a:solidFill>
                <a:latin typeface="Inter"/>
                <a:ea typeface="Inter"/>
                <a:cs typeface="Inter"/>
              </a:rPr>
              <a:t>Buscar en Etendo GO / preguntar al agente</a:t>
            </a:r>
          </a:p>
        </p:txBody>
      </p:sp>
      <p:sp>
        <p:nvSpPr>
          <p:cNvPr id="10" name="slide-title-4">
            <a:extLst xmlns:a="http://schemas.openxmlformats.org/drawingml/2006/main">
              <a:ext uri="{FF2B5EF4-FFF2-40B4-BE49-F238E27FC236}">
                <a16:creationId xmlns:a16="http://schemas.microsoft.com/office/drawing/2014/main" id="{C1039849-72AE-422E-8B97-6CB28FF77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876300"/>
            <a:ext cx="161925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21217"/>
                </a:solidFill>
                <a:latin typeface="Inter"/>
                <a:ea typeface="Inter"/>
                <a:cs typeface="Inter"/>
              </a:defRPr>
            </a:pPr>
            <a:r>
              <a:rPr sz="3900" b="1">
                <a:solidFill>
                  <a:srgbClr val="121217"/>
                </a:solidFill>
                <a:latin typeface="Inter"/>
                <a:ea typeface="Inter"/>
                <a:cs typeface="Inter"/>
              </a:rPr>
              <a:t>Schema Forge convierte metadata del ERP en producto</a:t>
            </a:r>
          </a:p>
        </p:txBody>
      </p:sp>
      <p:sp>
        <p:nvSpPr>
          <p:cNvPr id="11" name="slide-subtitle-4">
            <a:extLst xmlns:a="http://schemas.openxmlformats.org/drawingml/2006/main">
              <a:ext uri="{FF2B5EF4-FFF2-40B4-BE49-F238E27FC236}">
                <a16:creationId xmlns:a16="http://schemas.microsoft.com/office/drawing/2014/main" id="{D8D011F2-1EF8-45A9-A5CD-9A87C78AC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581150"/>
            <a:ext cx="106108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2025">
                <a:solidFill>
                  <a:srgbClr val="6C6C89"/>
                </a:solidFill>
                <a:latin typeface="Inter"/>
                <a:ea typeface="Inter"/>
                <a:cs typeface="Inter"/>
              </a:defRPr>
            </a:pPr>
            <a:r>
              <a:rPr sz="2025">
                <a:solidFill>
                  <a:srgbClr val="6C6C89"/>
                </a:solidFill>
                <a:latin typeface="Inter"/>
                <a:ea typeface="Inter"/>
                <a:cs typeface="Inter"/>
              </a:rPr>
              <a:t>Partimos de metadata real de Etendo y la transformamos en decisiones, contratos, UI, tools, pruebas y documentación.</a:t>
            </a:r>
          </a:p>
        </p:txBody>
      </p:sp>
      <p:sp>
        <p:nvSpPr>
          <p:cNvPr id="12" name="s4-step-1-badge">
            <a:extLst xmlns:a="http://schemas.openxmlformats.org/drawingml/2006/main">
              <a:ext uri="{FF2B5EF4-FFF2-40B4-BE49-F238E27FC236}">
                <a16:creationId xmlns:a16="http://schemas.microsoft.com/office/drawing/2014/main" id="{7E1D312F-76E4-4AEE-826C-59D2B760C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112506"/>
            <a:ext cx="4191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D500"/>
          </a:solidFill>
        </p:spPr>
      </p:sp>
      <p:sp>
        <p:nvSpPr>
          <p:cNvPr id="13" name="s4-step-1-badge-text">
            <a:extLst xmlns:a="http://schemas.openxmlformats.org/drawingml/2006/main">
              <a:ext uri="{FF2B5EF4-FFF2-40B4-BE49-F238E27FC236}">
                <a16:creationId xmlns:a16="http://schemas.microsoft.com/office/drawing/2014/main" id="{562A442C-523E-420A-98EF-FE91DAB4B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219700"/>
            <a:ext cx="4191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21217"/>
                </a:solidFill>
                <a:latin typeface="Inter"/>
                <a:ea typeface="Inter"/>
                <a:cs typeface="Inter"/>
              </a:defRPr>
            </a:pPr>
            <a:r>
              <a:rPr sz="1350" b="1">
                <a:solidFill>
                  <a:srgbClr val="121217"/>
                </a:solidFill>
                <a:latin typeface="Inter"/>
                <a:ea typeface="Inter"/>
                <a:cs typeface="Inter"/>
              </a:rPr>
              <a:t>1</a:t>
            </a:r>
          </a:p>
        </p:txBody>
      </p:sp>
      <p:sp>
        <p:nvSpPr>
          <p:cNvPr id="14" name="s4-step-1-label">
            <a:extLst xmlns:a="http://schemas.openxmlformats.org/drawingml/2006/main">
              <a:ext uri="{FF2B5EF4-FFF2-40B4-BE49-F238E27FC236}">
                <a16:creationId xmlns:a16="http://schemas.microsoft.com/office/drawing/2014/main" id="{FC3868A9-EB7B-4CCD-ADCD-BC47A5D83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105400"/>
            <a:ext cx="25146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21217"/>
                </a:solidFill>
                <a:latin typeface="Inter"/>
                <a:ea typeface="Inter"/>
                <a:cs typeface="Inter"/>
              </a:defRPr>
            </a:pPr>
            <a:r>
              <a:rPr sz="1875" b="1">
                <a:solidFill>
                  <a:srgbClr val="121217"/>
                </a:solidFill>
                <a:latin typeface="Inter"/>
                <a:ea typeface="Inter"/>
                <a:cs typeface="Inter"/>
              </a:rPr>
              <a:t>Metadata</a:t>
            </a:r>
          </a:p>
        </p:txBody>
      </p:sp>
      <p:sp>
        <p:nvSpPr>
          <p:cNvPr id="15" name="s4-step-1-detail">
            <a:extLst xmlns:a="http://schemas.openxmlformats.org/drawingml/2006/main">
              <a:ext uri="{FF2B5EF4-FFF2-40B4-BE49-F238E27FC236}">
                <a16:creationId xmlns:a16="http://schemas.microsoft.com/office/drawing/2014/main" id="{E50CF80F-DC83-4F4E-BF25-BD714456B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429250"/>
            <a:ext cx="25146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C6C89"/>
                </a:solidFill>
                <a:latin typeface="Inter"/>
                <a:ea typeface="Inter"/>
                <a:cs typeface="Inter"/>
              </a:defRPr>
            </a:pPr>
            <a:r>
              <a:rPr sz="1200">
                <a:solidFill>
                  <a:srgbClr val="6C6C89"/>
                </a:solidFill>
                <a:latin typeface="Inter"/>
                <a:ea typeface="Inter"/>
                <a:cs typeface="Inter"/>
              </a:rPr>
              <a:t>ventanas, tabs, columnas</a:t>
            </a:r>
          </a:p>
        </p:txBody>
      </p:sp>
      <p:sp>
        <p:nvSpPr>
          <p:cNvPr id="16" name="s4-step-2-badge">
            <a:extLst xmlns:a="http://schemas.openxmlformats.org/drawingml/2006/main">
              <a:ext uri="{FF2B5EF4-FFF2-40B4-BE49-F238E27FC236}">
                <a16:creationId xmlns:a16="http://schemas.microsoft.com/office/drawing/2014/main" id="{97982346-DCE1-4C9D-8740-4813F618F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2040" y="5112506"/>
            <a:ext cx="4191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AEF"/>
          </a:solidFill>
        </p:spPr>
      </p:sp>
      <p:sp>
        <p:nvSpPr>
          <p:cNvPr id="17" name="s4-step-2-badge-text">
            <a:extLst xmlns:a="http://schemas.openxmlformats.org/drawingml/2006/main">
              <a:ext uri="{FF2B5EF4-FFF2-40B4-BE49-F238E27FC236}">
                <a16:creationId xmlns:a16="http://schemas.microsoft.com/office/drawing/2014/main" id="{3FAEBFB7-2087-4FF1-8ACE-2D189419A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219700"/>
            <a:ext cx="4191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21217"/>
                </a:solidFill>
                <a:latin typeface="Inter"/>
                <a:ea typeface="Inter"/>
                <a:cs typeface="Inter"/>
              </a:defRPr>
            </a:pPr>
            <a:r>
              <a:rPr sz="1350" b="1">
                <a:solidFill>
                  <a:srgbClr val="121217"/>
                </a:solidFill>
                <a:latin typeface="Inter"/>
                <a:ea typeface="Inter"/>
                <a:cs typeface="Inter"/>
              </a:rPr>
              <a:t>2</a:t>
            </a:r>
          </a:p>
        </p:txBody>
      </p:sp>
      <p:sp>
        <p:nvSpPr>
          <p:cNvPr id="18" name="s4-step-2-label">
            <a:extLst xmlns:a="http://schemas.openxmlformats.org/drawingml/2006/main">
              <a:ext uri="{FF2B5EF4-FFF2-40B4-BE49-F238E27FC236}">
                <a16:creationId xmlns:a16="http://schemas.microsoft.com/office/drawing/2014/main" id="{8076DBFD-CEFE-4BAA-B29F-279CE63A4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5105400"/>
            <a:ext cx="25146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21217"/>
                </a:solidFill>
                <a:latin typeface="Inter"/>
                <a:ea typeface="Inter"/>
                <a:cs typeface="Inter"/>
              </a:defRPr>
            </a:pPr>
            <a:r>
              <a:rPr sz="1875" b="1">
                <a:solidFill>
                  <a:srgbClr val="121217"/>
                </a:solidFill>
                <a:latin typeface="Inter"/>
                <a:ea typeface="Inter"/>
                <a:cs typeface="Inter"/>
              </a:rPr>
              <a:t>Decisiones</a:t>
            </a:r>
          </a:p>
        </p:txBody>
      </p:sp>
      <p:sp>
        <p:nvSpPr>
          <p:cNvPr id="19" name="s4-step-2-detail">
            <a:extLst xmlns:a="http://schemas.openxmlformats.org/drawingml/2006/main">
              <a:ext uri="{FF2B5EF4-FFF2-40B4-BE49-F238E27FC236}">
                <a16:creationId xmlns:a16="http://schemas.microsoft.com/office/drawing/2014/main" id="{B6441584-794F-4A31-9237-772510C33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5429250"/>
            <a:ext cx="25146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C6C89"/>
                </a:solidFill>
                <a:latin typeface="Inter"/>
                <a:ea typeface="Inter"/>
                <a:cs typeface="Inter"/>
              </a:defRPr>
            </a:pPr>
            <a:r>
              <a:rPr sz="1200">
                <a:solidFill>
                  <a:srgbClr val="6C6C89"/>
                </a:solidFill>
                <a:latin typeface="Inter"/>
                <a:ea typeface="Inter"/>
                <a:cs typeface="Inter"/>
              </a:rPr>
              <a:t>visibilidad, edición, reglas</a:t>
            </a:r>
          </a:p>
        </p:txBody>
      </p:sp>
      <p:sp>
        <p:nvSpPr>
          <p:cNvPr id="20" name="s4-step-3-badge">
            <a:extLst xmlns:a="http://schemas.openxmlformats.org/drawingml/2006/main">
              <a:ext uri="{FF2B5EF4-FFF2-40B4-BE49-F238E27FC236}">
                <a16:creationId xmlns:a16="http://schemas.microsoft.com/office/drawing/2014/main" id="{D24E393D-BEB8-4B56-8109-9F4D12AFC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4830" y="5112506"/>
            <a:ext cx="4191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D500"/>
          </a:solidFill>
        </p:spPr>
      </p:sp>
      <p:sp>
        <p:nvSpPr>
          <p:cNvPr id="21" name="s4-step-3-badge-text">
            <a:extLst xmlns:a="http://schemas.openxmlformats.org/drawingml/2006/main">
              <a:ext uri="{FF2B5EF4-FFF2-40B4-BE49-F238E27FC236}">
                <a16:creationId xmlns:a16="http://schemas.microsoft.com/office/drawing/2014/main" id="{BDE2DC42-08C6-494E-A264-C7613B09F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219700"/>
            <a:ext cx="4191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21217"/>
                </a:solidFill>
                <a:latin typeface="Inter"/>
                <a:ea typeface="Inter"/>
                <a:cs typeface="Inter"/>
              </a:defRPr>
            </a:pPr>
            <a:r>
              <a:rPr sz="1350" b="1">
                <a:solidFill>
                  <a:srgbClr val="121217"/>
                </a:solidFill>
                <a:latin typeface="Inter"/>
                <a:ea typeface="Inter"/>
                <a:cs typeface="Inter"/>
              </a:rPr>
              <a:t>3</a:t>
            </a:r>
          </a:p>
        </p:txBody>
      </p:sp>
      <p:sp>
        <p:nvSpPr>
          <p:cNvPr id="22" name="s4-step-3-label">
            <a:extLst xmlns:a="http://schemas.openxmlformats.org/drawingml/2006/main">
              <a:ext uri="{FF2B5EF4-FFF2-40B4-BE49-F238E27FC236}">
                <a16:creationId xmlns:a16="http://schemas.microsoft.com/office/drawing/2014/main" id="{1DA0ACEB-83B0-4D59-B6A7-975D635C3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105400"/>
            <a:ext cx="25146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21217"/>
                </a:solidFill>
                <a:latin typeface="Inter"/>
                <a:ea typeface="Inter"/>
                <a:cs typeface="Inter"/>
              </a:defRPr>
            </a:pPr>
            <a:r>
              <a:rPr sz="1875" b="1">
                <a:solidFill>
                  <a:srgbClr val="121217"/>
                </a:solidFill>
                <a:latin typeface="Inter"/>
                <a:ea typeface="Inter"/>
                <a:cs typeface="Inter"/>
              </a:rPr>
              <a:t>Contratos</a:t>
            </a:r>
          </a:p>
        </p:txBody>
      </p:sp>
      <p:sp>
        <p:nvSpPr>
          <p:cNvPr id="23" name="s4-step-3-detail">
            <a:extLst xmlns:a="http://schemas.openxmlformats.org/drawingml/2006/main">
              <a:ext uri="{FF2B5EF4-FFF2-40B4-BE49-F238E27FC236}">
                <a16:creationId xmlns:a16="http://schemas.microsoft.com/office/drawing/2014/main" id="{1B243FB2-F89C-4A52-B17E-74ED78CBB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429250"/>
            <a:ext cx="25146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C6C89"/>
                </a:solidFill>
                <a:latin typeface="Inter"/>
                <a:ea typeface="Inter"/>
                <a:cs typeface="Inter"/>
              </a:defRPr>
            </a:pPr>
            <a:r>
              <a:rPr sz="1200">
                <a:solidFill>
                  <a:srgbClr val="6C6C89"/>
                </a:solidFill>
                <a:latin typeface="Inter"/>
                <a:ea typeface="Inter"/>
                <a:cs typeface="Inter"/>
              </a:rPr>
              <a:t>frontend/backend + NEO</a:t>
            </a:r>
          </a:p>
        </p:txBody>
      </p:sp>
      <p:sp>
        <p:nvSpPr>
          <p:cNvPr id="24" name="s4-step-4-badge">
            <a:extLst xmlns:a="http://schemas.openxmlformats.org/drawingml/2006/main">
              <a:ext uri="{FF2B5EF4-FFF2-40B4-BE49-F238E27FC236}">
                <a16:creationId xmlns:a16="http://schemas.microsoft.com/office/drawing/2014/main" id="{10C3F7C6-A544-4C65-A294-FE4DB39BF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7620" y="5112506"/>
            <a:ext cx="4191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AEF"/>
          </a:solidFill>
        </p:spPr>
      </p:sp>
      <p:sp>
        <p:nvSpPr>
          <p:cNvPr id="25" name="s4-step-4-badge-text">
            <a:extLst xmlns:a="http://schemas.openxmlformats.org/drawingml/2006/main">
              <a:ext uri="{FF2B5EF4-FFF2-40B4-BE49-F238E27FC236}">
                <a16:creationId xmlns:a16="http://schemas.microsoft.com/office/drawing/2014/main" id="{4EC3C592-1CB1-4551-878F-509BF22A8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5219700"/>
            <a:ext cx="4191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21217"/>
                </a:solidFill>
                <a:latin typeface="Inter"/>
                <a:ea typeface="Inter"/>
                <a:cs typeface="Inter"/>
              </a:defRPr>
            </a:pPr>
            <a:r>
              <a:rPr sz="1350" b="1">
                <a:solidFill>
                  <a:srgbClr val="121217"/>
                </a:solidFill>
                <a:latin typeface="Inter"/>
                <a:ea typeface="Inter"/>
                <a:cs typeface="Inter"/>
              </a:rPr>
              <a:t>4</a:t>
            </a:r>
          </a:p>
        </p:txBody>
      </p:sp>
      <p:sp>
        <p:nvSpPr>
          <p:cNvPr id="26" name="s4-step-4-label">
            <a:extLst xmlns:a="http://schemas.openxmlformats.org/drawingml/2006/main">
              <a:ext uri="{FF2B5EF4-FFF2-40B4-BE49-F238E27FC236}">
                <a16:creationId xmlns:a16="http://schemas.microsoft.com/office/drawing/2014/main" id="{F3471784-E7C8-4C64-8B95-8EAA7161F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0550" y="5105400"/>
            <a:ext cx="25146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21217"/>
                </a:solidFill>
                <a:latin typeface="Inter"/>
                <a:ea typeface="Inter"/>
                <a:cs typeface="Inter"/>
              </a:defRPr>
            </a:pPr>
            <a:r>
              <a:rPr sz="1875" b="1">
                <a:solidFill>
                  <a:srgbClr val="121217"/>
                </a:solidFill>
                <a:latin typeface="Inter"/>
                <a:ea typeface="Inter"/>
                <a:cs typeface="Inter"/>
              </a:rPr>
              <a:t>Experiencia</a:t>
            </a:r>
          </a:p>
        </p:txBody>
      </p:sp>
      <p:sp>
        <p:nvSpPr>
          <p:cNvPr id="27" name="s4-step-4-detail">
            <a:extLst xmlns:a="http://schemas.openxmlformats.org/drawingml/2006/main">
              <a:ext uri="{FF2B5EF4-FFF2-40B4-BE49-F238E27FC236}">
                <a16:creationId xmlns:a16="http://schemas.microsoft.com/office/drawing/2014/main" id="{C8662315-6289-4CD5-93BE-91114AC67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0550" y="5429250"/>
            <a:ext cx="25146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C6C89"/>
                </a:solidFill>
                <a:latin typeface="Inter"/>
                <a:ea typeface="Inter"/>
                <a:cs typeface="Inter"/>
              </a:defRPr>
            </a:pPr>
            <a:r>
              <a:rPr sz="1200">
                <a:solidFill>
                  <a:srgbClr val="6C6C89"/>
                </a:solidFill>
                <a:latin typeface="Inter"/>
                <a:ea typeface="Inter"/>
                <a:cs typeface="Inter"/>
              </a:rPr>
              <a:t>UI React + tools</a:t>
            </a:r>
          </a:p>
        </p:txBody>
      </p:sp>
      <p:sp>
        <p:nvSpPr>
          <p:cNvPr id="28" name="s4-step-5-badge">
            <a:extLst xmlns:a="http://schemas.openxmlformats.org/drawingml/2006/main">
              <a:ext uri="{FF2B5EF4-FFF2-40B4-BE49-F238E27FC236}">
                <a16:creationId xmlns:a16="http://schemas.microsoft.com/office/drawing/2014/main" id="{88917972-78A0-4E89-AC90-C254D9780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10410" y="5112506"/>
            <a:ext cx="4191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D500"/>
          </a:solidFill>
        </p:spPr>
      </p:sp>
      <p:sp>
        <p:nvSpPr>
          <p:cNvPr id="29" name="s4-step-5-badge-text">
            <a:extLst xmlns:a="http://schemas.openxmlformats.org/drawingml/2006/main">
              <a:ext uri="{FF2B5EF4-FFF2-40B4-BE49-F238E27FC236}">
                <a16:creationId xmlns:a16="http://schemas.microsoft.com/office/drawing/2014/main" id="{67DB2A7C-EC6A-4C3A-A40B-198FDE376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06600" y="5219700"/>
            <a:ext cx="4191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21217"/>
                </a:solidFill>
                <a:latin typeface="Inter"/>
                <a:ea typeface="Inter"/>
                <a:cs typeface="Inter"/>
              </a:defRPr>
            </a:pPr>
            <a:r>
              <a:rPr sz="1350" b="1">
                <a:solidFill>
                  <a:srgbClr val="121217"/>
                </a:solidFill>
                <a:latin typeface="Inter"/>
                <a:ea typeface="Inter"/>
                <a:cs typeface="Inter"/>
              </a:rPr>
              <a:t>5</a:t>
            </a:r>
          </a:p>
        </p:txBody>
      </p:sp>
      <p:sp>
        <p:nvSpPr>
          <p:cNvPr id="30" name="s4-step-5-label">
            <a:extLst xmlns:a="http://schemas.openxmlformats.org/drawingml/2006/main">
              <a:ext uri="{FF2B5EF4-FFF2-40B4-BE49-F238E27FC236}">
                <a16:creationId xmlns:a16="http://schemas.microsoft.com/office/drawing/2014/main" id="{7D0A40BB-7FB4-4E6C-85DC-FE8197B0C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97150" y="5105400"/>
            <a:ext cx="25146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21217"/>
                </a:solidFill>
                <a:latin typeface="Inter"/>
                <a:ea typeface="Inter"/>
                <a:cs typeface="Inter"/>
              </a:defRPr>
            </a:pPr>
            <a:r>
              <a:rPr sz="1875" b="1">
                <a:solidFill>
                  <a:srgbClr val="121217"/>
                </a:solidFill>
                <a:latin typeface="Inter"/>
                <a:ea typeface="Inter"/>
                <a:cs typeface="Inter"/>
              </a:rPr>
              <a:t>Evidencia</a:t>
            </a:r>
          </a:p>
        </p:txBody>
      </p:sp>
      <p:sp>
        <p:nvSpPr>
          <p:cNvPr id="31" name="s4-step-5-detail">
            <a:extLst xmlns:a="http://schemas.openxmlformats.org/drawingml/2006/main">
              <a:ext uri="{FF2B5EF4-FFF2-40B4-BE49-F238E27FC236}">
                <a16:creationId xmlns:a16="http://schemas.microsoft.com/office/drawing/2014/main" id="{D284EC03-2FEF-4052-9EF7-D034DA65D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97150" y="5429250"/>
            <a:ext cx="25146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C6C89"/>
                </a:solidFill>
                <a:latin typeface="Inter"/>
                <a:ea typeface="Inter"/>
                <a:cs typeface="Inter"/>
              </a:defRPr>
            </a:pPr>
            <a:r>
              <a:rPr sz="1200">
                <a:solidFill>
                  <a:srgbClr val="6C6C89"/>
                </a:solidFill>
                <a:latin typeface="Inter"/>
                <a:ea typeface="Inter"/>
                <a:cs typeface="Inter"/>
              </a:rPr>
              <a:t>tests + documentación</a:t>
            </a:r>
          </a:p>
        </p:txBody>
      </p:sp>
      <p:sp>
        <p:nvSpPr>
          <p:cNvPr id="32" name="s4-claim">
            <a:extLst xmlns:a="http://schemas.openxmlformats.org/drawingml/2006/main">
              <a:ext uri="{FF2B5EF4-FFF2-40B4-BE49-F238E27FC236}">
                <a16:creationId xmlns:a16="http://schemas.microsoft.com/office/drawing/2014/main" id="{89628FFB-BA23-4003-BB1E-CF5CB14C5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962136"/>
            <a:ext cx="16192500" cy="940880"/>
          </a:xfrm>
          <a:prstGeom xmlns:a="http://schemas.openxmlformats.org/drawingml/2006/main" prst="roundRect">
            <a:avLst>
              <a:gd name="adj" fmla="val 121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AEF"/>
            </a:solidFill>
            <a:prstDash val="solid"/>
          </a:ln>
        </p:spPr>
      </p:sp>
      <p:sp>
        <p:nvSpPr>
          <p:cNvPr id="33" name="s4-claim-text">
            <a:extLst xmlns:a="http://schemas.openxmlformats.org/drawingml/2006/main">
              <a:ext uri="{FF2B5EF4-FFF2-40B4-BE49-F238E27FC236}">
                <a16:creationId xmlns:a16="http://schemas.microsoft.com/office/drawing/2014/main" id="{AAE25C64-AAEB-4C5D-80E9-571B608D4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6229350"/>
            <a:ext cx="154686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2325" b="1">
                <a:solidFill>
                  <a:srgbClr val="121217"/>
                </a:solidFill>
                <a:latin typeface="Inter"/>
                <a:ea typeface="Inter"/>
                <a:cs typeface="Inter"/>
              </a:defRPr>
            </a:pPr>
            <a:r>
              <a:rPr sz="2325" b="1">
                <a:solidFill>
                  <a:srgbClr val="121217"/>
                </a:solidFill>
                <a:latin typeface="Inter"/>
                <a:ea typeface="Inter"/>
                <a:cs typeface="Inter"/>
              </a:rPr>
              <a:t>El valor no está solo en generar código: está en hacer explícitas las decisiones de producto.</a:t>
            </a:r>
          </a:p>
        </p:txBody>
      </p:sp>
      <p:sp>
        <p:nvSpPr>
          <p:cNvPr id="34" name="footer-left-4">
            <a:extLst xmlns:a="http://schemas.openxmlformats.org/drawingml/2006/main">
              <a:ext uri="{FF2B5EF4-FFF2-40B4-BE49-F238E27FC236}">
                <a16:creationId xmlns:a16="http://schemas.microsoft.com/office/drawing/2014/main" id="{669D0544-9DED-4499-8D7E-F81B4FFA8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9734550"/>
            <a:ext cx="59055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828FA3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828FA3"/>
                </a:solidFill>
                <a:latin typeface="Inter"/>
                <a:ea typeface="Inter"/>
                <a:cs typeface="Inter"/>
              </a:rPr>
              <a:t>Etendo GO · Producto · 2026-04-30</a:t>
            </a:r>
          </a:p>
        </p:txBody>
      </p:sp>
      <p:sp>
        <p:nvSpPr>
          <p:cNvPr id="35" name="footer-right-4">
            <a:extLst xmlns:a="http://schemas.openxmlformats.org/drawingml/2006/main">
              <a:ext uri="{FF2B5EF4-FFF2-40B4-BE49-F238E27FC236}">
                <a16:creationId xmlns:a16="http://schemas.microsoft.com/office/drawing/2014/main" id="{C804473C-F25D-4AB6-A9C5-B0D5C0E42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0" y="9734550"/>
            <a:ext cx="24765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828FA3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828FA3"/>
                </a:solidFill>
                <a:latin typeface="Inter"/>
                <a:ea typeface="Inter"/>
                <a:cs typeface="Inter"/>
              </a:rPr>
              <a:t>Schema Forge snapshot</a:t>
            </a:r>
          </a:p>
        </p:txBody>
      </p:sp>
    </p:spTree>
    <p:extLst>
      <p:ext uri="{BB962C8B-B14F-4D97-AF65-F5344CB8AC3E}">
        <p14:creationId xmlns:p14="http://schemas.microsoft.com/office/powerpoint/2010/main" val="143938178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left-rail-5">
            <a:extLst xmlns:a="http://schemas.openxmlformats.org/drawingml/2006/main">
              <a:ext uri="{FF2B5EF4-FFF2-40B4-BE49-F238E27FC236}">
                <a16:creationId xmlns:a16="http://schemas.microsoft.com/office/drawing/2014/main" id="{B986AF62-4873-4433-9D0B-40160AF82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00050"/>
            <a:ext cx="819150" cy="948690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AEF"/>
            </a:solidFill>
            <a:prstDash val="solid"/>
          </a:ln>
        </p:spPr>
      </p:sp>
      <p:pic>
        <p:nvPicPr>
          <p:cNvPr id="2" name="favicon-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8a475c5b7e4e0d"/>
          <a:stretch xmlns:a="http://schemas.openxmlformats.org/drawingml/2006/main"/>
        </p:blipFill>
        <p:spPr>
          <a:xfrm xmlns:a="http://schemas.openxmlformats.org/drawingml/2006/main">
            <a:off x="723900" y="571500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3" name="rail-accent-5">
            <a:extLst xmlns:a="http://schemas.openxmlformats.org/drawingml/2006/main">
              <a:ext uri="{FF2B5EF4-FFF2-40B4-BE49-F238E27FC236}">
                <a16:creationId xmlns:a16="http://schemas.microsoft.com/office/drawing/2014/main" id="{FE40C3CB-9958-44C9-8F3A-E7072E8F2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19600"/>
            <a:ext cx="76200" cy="1143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D500"/>
          </a:solidFill>
          <a:ln xmlns:a="http://schemas.openxmlformats.org/drawingml/2006/main" w="0">
            <a:solidFill>
              <a:srgbClr val="FFD500"/>
            </a:solidFill>
            <a:prstDash val="solid"/>
          </a:ln>
        </p:spPr>
      </p:sp>
      <p:sp>
        <p:nvSpPr>
          <p:cNvPr id="4" name="rail-section-5">
            <a:extLst xmlns:a="http://schemas.openxmlformats.org/drawingml/2006/main">
              <a:ext uri="{FF2B5EF4-FFF2-40B4-BE49-F238E27FC236}">
                <a16:creationId xmlns:a16="http://schemas.microsoft.com/office/drawing/2014/main" id="{26110948-F80B-4D4B-9FC2-1EE20AA01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15000"/>
            <a:ext cx="6286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C6C89"/>
                </a:solidFill>
                <a:latin typeface="Inter"/>
                <a:ea typeface="Inter"/>
                <a:cs typeface="Inter"/>
              </a:defRPr>
            </a:pPr>
            <a:r>
              <a:rPr sz="975" b="1">
                <a:solidFill>
                  <a:srgbClr val="6C6C89"/>
                </a:solidFill>
                <a:latin typeface="Inter"/>
                <a:ea typeface="Inter"/>
                <a:cs typeface="Inter"/>
              </a:rPr>
              <a:t>Por qué importa</a:t>
            </a:r>
          </a:p>
        </p:txBody>
      </p:sp>
      <p:sp>
        <p:nvSpPr>
          <p:cNvPr id="5" name="rail-number-5">
            <a:extLst xmlns:a="http://schemas.openxmlformats.org/drawingml/2006/main">
              <a:ext uri="{FF2B5EF4-FFF2-40B4-BE49-F238E27FC236}">
                <a16:creationId xmlns:a16="http://schemas.microsoft.com/office/drawing/2014/main" id="{466F08E1-3394-4A4C-8DE8-2314A3D4E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0"/>
            <a:ext cx="571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828FA3"/>
                </a:solidFill>
                <a:latin typeface="Inter"/>
                <a:ea typeface="Inter"/>
                <a:cs typeface="Inter"/>
              </a:defRPr>
            </a:pPr>
            <a:r>
              <a:rPr sz="1200" b="1">
                <a:solidFill>
                  <a:srgbClr val="828FA3"/>
                </a:solidFill>
                <a:latin typeface="Inter"/>
                <a:ea typeface="Inter"/>
                <a:cs typeface="Inter"/>
              </a:rPr>
              <a:t>05</a:t>
            </a:r>
          </a:p>
        </p:txBody>
      </p:sp>
      <p:sp>
        <p:nvSpPr>
          <p:cNvPr id="6" name="section-pill-5">
            <a:extLst xmlns:a="http://schemas.openxmlformats.org/drawingml/2006/main">
              <a:ext uri="{FF2B5EF4-FFF2-40B4-BE49-F238E27FC236}">
                <a16:creationId xmlns:a16="http://schemas.microsoft.com/office/drawing/2014/main" id="{08D21068-9505-4D3D-8B05-CF849FF4E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19100"/>
            <a:ext cx="1516666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D500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section-pill-5-text">
            <a:extLst xmlns:a="http://schemas.openxmlformats.org/drawingml/2006/main">
              <a:ext uri="{FF2B5EF4-FFF2-40B4-BE49-F238E27FC236}">
                <a16:creationId xmlns:a16="http://schemas.microsoft.com/office/drawing/2014/main" id="{36324D2D-778A-4AB3-B784-E11A90312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95300"/>
            <a:ext cx="11811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21217"/>
                </a:solidFill>
                <a:latin typeface="Inter"/>
                <a:ea typeface="Inter"/>
                <a:cs typeface="Inter"/>
              </a:defRPr>
            </a:pPr>
            <a:r>
              <a:rPr sz="1200" b="1">
                <a:solidFill>
                  <a:srgbClr val="121217"/>
                </a:solidFill>
                <a:latin typeface="Inter"/>
                <a:ea typeface="Inter"/>
                <a:cs typeface="Inter"/>
              </a:rPr>
              <a:t>Por qué importa</a:t>
            </a:r>
          </a:p>
        </p:txBody>
      </p:sp>
      <p:sp>
        <p:nvSpPr>
          <p:cNvPr id="8" name="search-pill-5">
            <a:extLst xmlns:a="http://schemas.openxmlformats.org/drawingml/2006/main">
              <a:ext uri="{FF2B5EF4-FFF2-40B4-BE49-F238E27FC236}">
                <a16:creationId xmlns:a16="http://schemas.microsoft.com/office/drawing/2014/main" id="{29544415-AF30-4D8B-92A6-542C00371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400050"/>
            <a:ext cx="495300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AEF"/>
          </a:solidFill>
        </p:spPr>
      </p:sp>
      <p:sp>
        <p:nvSpPr>
          <p:cNvPr id="9" name="search-text-5">
            <a:extLst xmlns:a="http://schemas.openxmlformats.org/drawingml/2006/main">
              <a:ext uri="{FF2B5EF4-FFF2-40B4-BE49-F238E27FC236}">
                <a16:creationId xmlns:a16="http://schemas.microsoft.com/office/drawing/2014/main" id="{45EDC657-4669-44BB-A31A-E75284D21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68300" y="495300"/>
            <a:ext cx="45339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55B6D"/>
                </a:solidFill>
                <a:latin typeface="Inter"/>
                <a:ea typeface="Inter"/>
                <a:cs typeface="Inter"/>
              </a:defRPr>
            </a:pPr>
            <a:r>
              <a:rPr sz="1125">
                <a:solidFill>
                  <a:srgbClr val="555B6D"/>
                </a:solidFill>
                <a:latin typeface="Inter"/>
                <a:ea typeface="Inter"/>
                <a:cs typeface="Inter"/>
              </a:rPr>
              <a:t>Buscar en Etendo GO / preguntar al agente</a:t>
            </a:r>
          </a:p>
        </p:txBody>
      </p:sp>
      <p:sp>
        <p:nvSpPr>
          <p:cNvPr id="10" name="slide-title-5">
            <a:extLst xmlns:a="http://schemas.openxmlformats.org/drawingml/2006/main">
              <a:ext uri="{FF2B5EF4-FFF2-40B4-BE49-F238E27FC236}">
                <a16:creationId xmlns:a16="http://schemas.microsoft.com/office/drawing/2014/main" id="{842CA261-E225-4DED-AD0E-323B6F114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876300"/>
            <a:ext cx="161925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21217"/>
                </a:solidFill>
                <a:latin typeface="Inter"/>
                <a:ea typeface="Inter"/>
                <a:cs typeface="Inter"/>
              </a:defRPr>
            </a:pPr>
            <a:r>
              <a:rPr sz="3900" b="1">
                <a:solidFill>
                  <a:srgbClr val="121217"/>
                </a:solidFill>
                <a:latin typeface="Inter"/>
                <a:ea typeface="Inter"/>
                <a:cs typeface="Inter"/>
              </a:rPr>
              <a:t>El ERP no escala si cada pantalla se redescubre a mano</a:t>
            </a:r>
          </a:p>
        </p:txBody>
      </p:sp>
      <p:sp>
        <p:nvSpPr>
          <p:cNvPr id="11" name="slide-subtitle-5">
            <a:extLst xmlns:a="http://schemas.openxmlformats.org/drawingml/2006/main">
              <a:ext uri="{FF2B5EF4-FFF2-40B4-BE49-F238E27FC236}">
                <a16:creationId xmlns:a16="http://schemas.microsoft.com/office/drawing/2014/main" id="{76D82F7B-936C-488A-BA8A-716671FAB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581150"/>
            <a:ext cx="112204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2025">
                <a:solidFill>
                  <a:srgbClr val="6C6C89"/>
                </a:solidFill>
                <a:latin typeface="Inter"/>
                <a:ea typeface="Inter"/>
                <a:cs typeface="Inter"/>
              </a:defRPr>
            </a:pPr>
            <a:r>
              <a:rPr sz="2025">
                <a:solidFill>
                  <a:srgbClr val="6C6C89"/>
                </a:solidFill>
                <a:latin typeface="Inter"/>
                <a:ea typeface="Inter"/>
                <a:cs typeface="Inter"/>
              </a:rPr>
              <a:t>La superficie funcional es demasiado amplia para depender de análisis, diseño, implementación y documentación artesanal en cada ventana.</a:t>
            </a:r>
          </a:p>
        </p:txBody>
      </p:sp>
      <p:sp>
        <p:nvSpPr>
          <p:cNvPr id="12" name="s5-pill">
            <a:extLst xmlns:a="http://schemas.openxmlformats.org/drawingml/2006/main">
              <a:ext uri="{FF2B5EF4-FFF2-40B4-BE49-F238E27FC236}">
                <a16:creationId xmlns:a16="http://schemas.microsoft.com/office/drawing/2014/main" id="{F7858A59-D9DA-4A68-AA1D-3E400FD9F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813173"/>
            <a:ext cx="1432179" cy="35433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D500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s5-pill-text">
            <a:extLst xmlns:a="http://schemas.openxmlformats.org/drawingml/2006/main">
              <a:ext uri="{FF2B5EF4-FFF2-40B4-BE49-F238E27FC236}">
                <a16:creationId xmlns:a16="http://schemas.microsoft.com/office/drawing/2014/main" id="{96E269A3-C940-424C-8107-6A6F82CB4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895850"/>
            <a:ext cx="11049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21217"/>
                </a:solidFill>
                <a:latin typeface="Inter"/>
                <a:ea typeface="Inter"/>
                <a:cs typeface="Inter"/>
              </a:defRPr>
            </a:pPr>
            <a:r>
              <a:rPr sz="1200" b="1">
                <a:solidFill>
                  <a:srgbClr val="121217"/>
                </a:solidFill>
                <a:latin typeface="Inter"/>
                <a:ea typeface="Inter"/>
                <a:cs typeface="Inter"/>
              </a:rPr>
              <a:t>Superficie ERP</a:t>
            </a:r>
          </a:p>
        </p:txBody>
      </p:sp>
      <p:sp>
        <p:nvSpPr>
          <p:cNvPr id="14" name="s5-b1-dot">
            <a:extLst xmlns:a="http://schemas.openxmlformats.org/drawingml/2006/main">
              <a:ext uri="{FF2B5EF4-FFF2-40B4-BE49-F238E27FC236}">
                <a16:creationId xmlns:a16="http://schemas.microsoft.com/office/drawing/2014/main" id="{E0A23382-743F-456C-B46C-E2C90B7D9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530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500"/>
          </a:solidFill>
          <a:ln xmlns:a="http://schemas.openxmlformats.org/drawingml/2006/main" w="0">
            <a:solidFill>
              <a:srgbClr val="FFD500"/>
            </a:solidFill>
            <a:prstDash val="solid"/>
          </a:ln>
        </p:spPr>
      </p:sp>
      <p:sp>
        <p:nvSpPr>
          <p:cNvPr id="15" name="s5-b1-text">
            <a:extLst xmlns:a="http://schemas.openxmlformats.org/drawingml/2006/main">
              <a:ext uri="{FF2B5EF4-FFF2-40B4-BE49-F238E27FC236}">
                <a16:creationId xmlns:a16="http://schemas.microsoft.com/office/drawing/2014/main" id="{A431D22D-49C1-4486-8ADE-A99780904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5353050"/>
            <a:ext cx="7239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6000"/>
              </a:lnSpc>
              <a:buNone/>
              <a:defRPr sz="1800">
                <a:solidFill>
                  <a:srgbClr val="6C6C89"/>
                </a:solidFill>
                <a:latin typeface="Inter"/>
                <a:ea typeface="Inter"/>
                <a:cs typeface="Inter"/>
              </a:defRPr>
            </a:pPr>
            <a:r>
              <a:rPr sz="1800">
                <a:solidFill>
                  <a:srgbClr val="6C6C89"/>
                </a:solidFill>
                <a:latin typeface="Inter"/>
                <a:ea typeface="Inter"/>
                <a:cs typeface="Inter"/>
              </a:rPr>
              <a:t>Ventas, compras, inventario, finanzas y contactos.</a:t>
            </a:r>
          </a:p>
        </p:txBody>
      </p:sp>
      <p:sp>
        <p:nvSpPr>
          <p:cNvPr id="16" name="s5-b2-dot">
            <a:extLst xmlns:a="http://schemas.openxmlformats.org/drawingml/2006/main">
              <a:ext uri="{FF2B5EF4-FFF2-40B4-BE49-F238E27FC236}">
                <a16:creationId xmlns:a16="http://schemas.microsoft.com/office/drawing/2014/main" id="{059D7DBB-1FEB-46A0-8313-AC7F29B08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8674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500"/>
          </a:solidFill>
          <a:ln xmlns:a="http://schemas.openxmlformats.org/drawingml/2006/main" w="0">
            <a:solidFill>
              <a:srgbClr val="FFD500"/>
            </a:solidFill>
            <a:prstDash val="solid"/>
          </a:ln>
        </p:spPr>
      </p:sp>
      <p:sp>
        <p:nvSpPr>
          <p:cNvPr id="17" name="s5-b2-text">
            <a:extLst xmlns:a="http://schemas.openxmlformats.org/drawingml/2006/main">
              <a:ext uri="{FF2B5EF4-FFF2-40B4-BE49-F238E27FC236}">
                <a16:creationId xmlns:a16="http://schemas.microsoft.com/office/drawing/2014/main" id="{576D852D-B09E-45E1-9859-DD4BC41B7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5867400"/>
            <a:ext cx="7239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6000"/>
              </a:lnSpc>
              <a:buNone/>
              <a:defRPr sz="1800">
                <a:solidFill>
                  <a:srgbClr val="6C6C89"/>
                </a:solidFill>
                <a:latin typeface="Inter"/>
                <a:ea typeface="Inter"/>
                <a:cs typeface="Inter"/>
              </a:defRPr>
            </a:pPr>
            <a:r>
              <a:rPr sz="1800">
                <a:solidFill>
                  <a:srgbClr val="6C6C89"/>
                </a:solidFill>
                <a:latin typeface="Inter"/>
                <a:ea typeface="Inter"/>
                <a:cs typeface="Inter"/>
              </a:rPr>
              <a:t>Procesos, reportes, estados y documentos relacionados.</a:t>
            </a:r>
          </a:p>
        </p:txBody>
      </p:sp>
      <p:sp>
        <p:nvSpPr>
          <p:cNvPr id="18" name="s5-b3-dot">
            <a:extLst xmlns:a="http://schemas.openxmlformats.org/drawingml/2006/main">
              <a:ext uri="{FF2B5EF4-FFF2-40B4-BE49-F238E27FC236}">
                <a16:creationId xmlns:a16="http://schemas.microsoft.com/office/drawing/2014/main" id="{74E00793-0343-4C34-92CD-C05C4FCC6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63817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500"/>
          </a:solidFill>
          <a:ln xmlns:a="http://schemas.openxmlformats.org/drawingml/2006/main" w="0">
            <a:solidFill>
              <a:srgbClr val="FFD500"/>
            </a:solidFill>
            <a:prstDash val="solid"/>
          </a:ln>
        </p:spPr>
      </p:sp>
      <p:sp>
        <p:nvSpPr>
          <p:cNvPr id="19" name="s5-b3-text">
            <a:extLst xmlns:a="http://schemas.openxmlformats.org/drawingml/2006/main">
              <a:ext uri="{FF2B5EF4-FFF2-40B4-BE49-F238E27FC236}">
                <a16:creationId xmlns:a16="http://schemas.microsoft.com/office/drawing/2014/main" id="{D19C250D-5212-4945-8298-D2B29C4F5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6381750"/>
            <a:ext cx="7239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6000"/>
              </a:lnSpc>
              <a:buNone/>
              <a:defRPr sz="1800">
                <a:solidFill>
                  <a:srgbClr val="6C6C89"/>
                </a:solidFill>
                <a:latin typeface="Inter"/>
                <a:ea typeface="Inter"/>
                <a:cs typeface="Inter"/>
              </a:defRPr>
            </a:pPr>
            <a:r>
              <a:rPr sz="1800">
                <a:solidFill>
                  <a:srgbClr val="6C6C89"/>
                </a:solidFill>
                <a:latin typeface="Inter"/>
                <a:ea typeface="Inter"/>
                <a:cs typeface="Inter"/>
              </a:rPr>
              <a:t>Reglas contables, permisos, defaults y validaciones.</a:t>
            </a:r>
          </a:p>
        </p:txBody>
      </p:sp>
      <p:sp>
        <p:nvSpPr>
          <p:cNvPr id="20" name="s5-b4-dot">
            <a:extLst xmlns:a="http://schemas.openxmlformats.org/drawingml/2006/main">
              <a:ext uri="{FF2B5EF4-FFF2-40B4-BE49-F238E27FC236}">
                <a16:creationId xmlns:a16="http://schemas.microsoft.com/office/drawing/2014/main" id="{4E3EF1FE-D7B5-47B4-B151-8D17F9593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68770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500"/>
          </a:solidFill>
          <a:ln xmlns:a="http://schemas.openxmlformats.org/drawingml/2006/main" w="0">
            <a:solidFill>
              <a:srgbClr val="FFD500"/>
            </a:solidFill>
            <a:prstDash val="solid"/>
          </a:ln>
        </p:spPr>
      </p:sp>
      <p:sp>
        <p:nvSpPr>
          <p:cNvPr id="21" name="s5-b4-text">
            <a:extLst xmlns:a="http://schemas.openxmlformats.org/drawingml/2006/main">
              <a:ext uri="{FF2B5EF4-FFF2-40B4-BE49-F238E27FC236}">
                <a16:creationId xmlns:a16="http://schemas.microsoft.com/office/drawing/2014/main" id="{53D719DD-68B6-4118-AA73-71428FD6E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6877050"/>
            <a:ext cx="7239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6000"/>
              </a:lnSpc>
              <a:buNone/>
              <a:defRPr sz="1800">
                <a:solidFill>
                  <a:srgbClr val="6C6C89"/>
                </a:solidFill>
                <a:latin typeface="Inter"/>
                <a:ea typeface="Inter"/>
                <a:cs typeface="Inter"/>
              </a:defRPr>
            </a:pPr>
            <a:r>
              <a:rPr sz="1800">
                <a:solidFill>
                  <a:srgbClr val="6C6C89"/>
                </a:solidFill>
                <a:latin typeface="Inter"/>
                <a:ea typeface="Inter"/>
                <a:cs typeface="Inter"/>
              </a:rPr>
              <a:t>Decisiones de producto que deben quedar auditables.</a:t>
            </a:r>
          </a:p>
        </p:txBody>
      </p:sp>
      <p:sp>
        <p:nvSpPr>
          <p:cNvPr id="22" name="s5-trace-panel">
            <a:extLst xmlns:a="http://schemas.openxmlformats.org/drawingml/2006/main">
              <a:ext uri="{FF2B5EF4-FFF2-40B4-BE49-F238E27FC236}">
                <a16:creationId xmlns:a16="http://schemas.microsoft.com/office/drawing/2014/main" id="{D980749F-D266-40A4-BEF6-125F1B018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0716" y="2555291"/>
            <a:ext cx="8271034" cy="6904939"/>
          </a:xfrm>
          <a:prstGeom xmlns:a="http://schemas.openxmlformats.org/drawingml/2006/main" prst="roundRect">
            <a:avLst>
              <a:gd name="adj" fmla="val 16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AEF"/>
            </a:solidFill>
            <a:prstDash val="solid"/>
          </a:ln>
        </p:spPr>
      </p:sp>
      <p:sp>
        <p:nvSpPr>
          <p:cNvPr id="23" name="s5-trace-title">
            <a:extLst xmlns:a="http://schemas.openxmlformats.org/drawingml/2006/main">
              <a:ext uri="{FF2B5EF4-FFF2-40B4-BE49-F238E27FC236}">
                <a16:creationId xmlns:a16="http://schemas.microsoft.com/office/drawing/2014/main" id="{7DF2D302-89C0-4DFD-9751-9AE95072F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4210050"/>
            <a:ext cx="75057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21217"/>
                </a:solidFill>
                <a:latin typeface="Inter"/>
                <a:ea typeface="Inter"/>
                <a:cs typeface="Inter"/>
              </a:defRPr>
            </a:pPr>
            <a:r>
              <a:rPr sz="3300" b="1">
                <a:solidFill>
                  <a:srgbClr val="121217"/>
                </a:solidFill>
                <a:latin typeface="Inter"/>
                <a:ea typeface="Inter"/>
                <a:cs typeface="Inter"/>
              </a:rPr>
              <a:t>Trazabilidad</a:t>
            </a:r>
          </a:p>
        </p:txBody>
      </p:sp>
      <p:sp>
        <p:nvSpPr>
          <p:cNvPr id="24" name="s5-t1-badge">
            <a:extLst xmlns:a="http://schemas.openxmlformats.org/drawingml/2006/main">
              <a:ext uri="{FF2B5EF4-FFF2-40B4-BE49-F238E27FC236}">
                <a16:creationId xmlns:a16="http://schemas.microsoft.com/office/drawing/2014/main" id="{649F6B89-DA6E-410C-9E47-3D6FDEFD7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1716" y="4979060"/>
            <a:ext cx="4191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D500"/>
          </a:solidFill>
        </p:spPr>
      </p:sp>
      <p:sp>
        <p:nvSpPr>
          <p:cNvPr id="25" name="s5-t1-badge-text">
            <a:extLst xmlns:a="http://schemas.openxmlformats.org/drawingml/2006/main">
              <a:ext uri="{FF2B5EF4-FFF2-40B4-BE49-F238E27FC236}">
                <a16:creationId xmlns:a16="http://schemas.microsoft.com/office/drawing/2014/main" id="{F192064B-CF54-4E2B-A929-8955068A9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5086350"/>
            <a:ext cx="4191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21217"/>
                </a:solidFill>
                <a:latin typeface="Inter"/>
                <a:ea typeface="Inter"/>
                <a:cs typeface="Inter"/>
              </a:defRPr>
            </a:pPr>
            <a:r>
              <a:rPr sz="1350" b="1">
                <a:solidFill>
                  <a:srgbClr val="121217"/>
                </a:solidFill>
                <a:latin typeface="Inter"/>
                <a:ea typeface="Inter"/>
                <a:cs typeface="Inter"/>
              </a:rPr>
              <a:t>1</a:t>
            </a:r>
          </a:p>
        </p:txBody>
      </p:sp>
      <p:sp>
        <p:nvSpPr>
          <p:cNvPr id="26" name="s5-t1-label">
            <a:extLst xmlns:a="http://schemas.openxmlformats.org/drawingml/2006/main">
              <a:ext uri="{FF2B5EF4-FFF2-40B4-BE49-F238E27FC236}">
                <a16:creationId xmlns:a16="http://schemas.microsoft.com/office/drawing/2014/main" id="{38DD5C1B-6B39-4906-A35A-F9D90A946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4972050"/>
            <a:ext cx="69151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21217"/>
                </a:solidFill>
                <a:latin typeface="Inter"/>
                <a:ea typeface="Inter"/>
                <a:cs typeface="Inter"/>
              </a:defRPr>
            </a:pPr>
            <a:r>
              <a:rPr sz="1875" b="1">
                <a:solidFill>
                  <a:srgbClr val="121217"/>
                </a:solidFill>
                <a:latin typeface="Inter"/>
                <a:ea typeface="Inter"/>
                <a:cs typeface="Inter"/>
              </a:rPr>
              <a:t>Dato original</a:t>
            </a:r>
          </a:p>
        </p:txBody>
      </p:sp>
      <p:sp>
        <p:nvSpPr>
          <p:cNvPr id="27" name="s5-t1-detail">
            <a:extLst xmlns:a="http://schemas.openxmlformats.org/drawingml/2006/main">
              <a:ext uri="{FF2B5EF4-FFF2-40B4-BE49-F238E27FC236}">
                <a16:creationId xmlns:a16="http://schemas.microsoft.com/office/drawing/2014/main" id="{316449E1-9F8F-495B-8F4B-2ABE92ED7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5295900"/>
            <a:ext cx="69151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C6C89"/>
                </a:solidFill>
                <a:latin typeface="Inter"/>
                <a:ea typeface="Inter"/>
                <a:cs typeface="Inter"/>
              </a:defRPr>
            </a:pPr>
            <a:r>
              <a:rPr sz="1200">
                <a:solidFill>
                  <a:srgbClr val="6C6C89"/>
                </a:solidFill>
                <a:latin typeface="Inter"/>
                <a:ea typeface="Inter"/>
                <a:cs typeface="Inter"/>
              </a:rPr>
              <a:t>metadata del ERP</a:t>
            </a:r>
          </a:p>
        </p:txBody>
      </p:sp>
      <p:sp>
        <p:nvSpPr>
          <p:cNvPr id="28" name="s5-t2-badge">
            <a:extLst xmlns:a="http://schemas.openxmlformats.org/drawingml/2006/main">
              <a:ext uri="{FF2B5EF4-FFF2-40B4-BE49-F238E27FC236}">
                <a16:creationId xmlns:a16="http://schemas.microsoft.com/office/drawing/2014/main" id="{02EFB15E-7316-43DE-97BE-8182400B7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1716" y="5752490"/>
            <a:ext cx="4191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AEF"/>
          </a:solidFill>
        </p:spPr>
      </p:sp>
      <p:sp>
        <p:nvSpPr>
          <p:cNvPr id="29" name="s5-t2-badge-text">
            <a:extLst xmlns:a="http://schemas.openxmlformats.org/drawingml/2006/main">
              <a:ext uri="{FF2B5EF4-FFF2-40B4-BE49-F238E27FC236}">
                <a16:creationId xmlns:a16="http://schemas.microsoft.com/office/drawing/2014/main" id="{E8565CF6-30FC-43B9-A64B-6FCC091FC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5867400"/>
            <a:ext cx="4191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21217"/>
                </a:solidFill>
                <a:latin typeface="Inter"/>
                <a:ea typeface="Inter"/>
                <a:cs typeface="Inter"/>
              </a:defRPr>
            </a:pPr>
            <a:r>
              <a:rPr sz="1350" b="1">
                <a:solidFill>
                  <a:srgbClr val="121217"/>
                </a:solidFill>
                <a:latin typeface="Inter"/>
                <a:ea typeface="Inter"/>
                <a:cs typeface="Inter"/>
              </a:rPr>
              <a:t>2</a:t>
            </a:r>
          </a:p>
        </p:txBody>
      </p:sp>
      <p:sp>
        <p:nvSpPr>
          <p:cNvPr id="30" name="s5-t2-label">
            <a:extLst xmlns:a="http://schemas.openxmlformats.org/drawingml/2006/main">
              <a:ext uri="{FF2B5EF4-FFF2-40B4-BE49-F238E27FC236}">
                <a16:creationId xmlns:a16="http://schemas.microsoft.com/office/drawing/2014/main" id="{48BFDEB7-E200-41D4-855D-1EA350845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5753100"/>
            <a:ext cx="69151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21217"/>
                </a:solidFill>
                <a:latin typeface="Inter"/>
                <a:ea typeface="Inter"/>
                <a:cs typeface="Inter"/>
              </a:defRPr>
            </a:pPr>
            <a:r>
              <a:rPr sz="1875" b="1">
                <a:solidFill>
                  <a:srgbClr val="121217"/>
                </a:solidFill>
                <a:latin typeface="Inter"/>
                <a:ea typeface="Inter"/>
                <a:cs typeface="Inter"/>
              </a:rPr>
              <a:t>Decisión de Producto</a:t>
            </a:r>
          </a:p>
        </p:txBody>
      </p:sp>
      <p:sp>
        <p:nvSpPr>
          <p:cNvPr id="31" name="s5-t2-detail">
            <a:extLst xmlns:a="http://schemas.openxmlformats.org/drawingml/2006/main">
              <a:ext uri="{FF2B5EF4-FFF2-40B4-BE49-F238E27FC236}">
                <a16:creationId xmlns:a16="http://schemas.microsoft.com/office/drawing/2014/main" id="{78F72B5E-3276-4AFD-90ED-F93A71938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076950"/>
            <a:ext cx="69151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C6C89"/>
                </a:solidFill>
                <a:latin typeface="Inter"/>
                <a:ea typeface="Inter"/>
                <a:cs typeface="Inter"/>
              </a:defRPr>
            </a:pPr>
            <a:r>
              <a:rPr sz="1200">
                <a:solidFill>
                  <a:srgbClr val="6C6C89"/>
                </a:solidFill>
                <a:latin typeface="Inter"/>
                <a:ea typeface="Inter"/>
                <a:cs typeface="Inter"/>
              </a:rPr>
              <a:t>curación y simplificación</a:t>
            </a:r>
          </a:p>
        </p:txBody>
      </p:sp>
      <p:sp>
        <p:nvSpPr>
          <p:cNvPr id="32" name="s5-t3-badge">
            <a:extLst xmlns:a="http://schemas.openxmlformats.org/drawingml/2006/main">
              <a:ext uri="{FF2B5EF4-FFF2-40B4-BE49-F238E27FC236}">
                <a16:creationId xmlns:a16="http://schemas.microsoft.com/office/drawing/2014/main" id="{45F29FE2-C8CF-4D2A-A844-513829D37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1716" y="6525920"/>
            <a:ext cx="4191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D500"/>
          </a:solidFill>
        </p:spPr>
      </p:sp>
      <p:sp>
        <p:nvSpPr>
          <p:cNvPr id="33" name="s5-t3-badge-text">
            <a:extLst xmlns:a="http://schemas.openxmlformats.org/drawingml/2006/main">
              <a:ext uri="{FF2B5EF4-FFF2-40B4-BE49-F238E27FC236}">
                <a16:creationId xmlns:a16="http://schemas.microsoft.com/office/drawing/2014/main" id="{CF90E5F7-A2EE-430E-8B38-3011F18A5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6648450"/>
            <a:ext cx="4191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21217"/>
                </a:solidFill>
                <a:latin typeface="Inter"/>
                <a:ea typeface="Inter"/>
                <a:cs typeface="Inter"/>
              </a:defRPr>
            </a:pPr>
            <a:r>
              <a:rPr sz="1350" b="1">
                <a:solidFill>
                  <a:srgbClr val="121217"/>
                </a:solidFill>
                <a:latin typeface="Inter"/>
                <a:ea typeface="Inter"/>
                <a:cs typeface="Inter"/>
              </a:rPr>
              <a:t>3</a:t>
            </a:r>
          </a:p>
        </p:txBody>
      </p:sp>
      <p:sp>
        <p:nvSpPr>
          <p:cNvPr id="34" name="s5-t3-label">
            <a:extLst xmlns:a="http://schemas.openxmlformats.org/drawingml/2006/main">
              <a:ext uri="{FF2B5EF4-FFF2-40B4-BE49-F238E27FC236}">
                <a16:creationId xmlns:a16="http://schemas.microsoft.com/office/drawing/2014/main" id="{E9D628E0-C365-4BF8-AC08-5D93D60AB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534150"/>
            <a:ext cx="69151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21217"/>
                </a:solidFill>
                <a:latin typeface="Inter"/>
                <a:ea typeface="Inter"/>
                <a:cs typeface="Inter"/>
              </a:defRPr>
            </a:pPr>
            <a:r>
              <a:rPr sz="1875" b="1">
                <a:solidFill>
                  <a:srgbClr val="121217"/>
                </a:solidFill>
                <a:latin typeface="Inter"/>
                <a:ea typeface="Inter"/>
                <a:cs typeface="Inter"/>
              </a:rPr>
              <a:t>Contrato y runtime</a:t>
            </a:r>
          </a:p>
        </p:txBody>
      </p:sp>
      <p:sp>
        <p:nvSpPr>
          <p:cNvPr id="35" name="s5-t3-detail">
            <a:extLst xmlns:a="http://schemas.openxmlformats.org/drawingml/2006/main">
              <a:ext uri="{FF2B5EF4-FFF2-40B4-BE49-F238E27FC236}">
                <a16:creationId xmlns:a16="http://schemas.microsoft.com/office/drawing/2014/main" id="{61C3F570-A7A5-4766-BC90-3067FAFD7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858000"/>
            <a:ext cx="69151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C6C89"/>
                </a:solidFill>
                <a:latin typeface="Inter"/>
                <a:ea typeface="Inter"/>
                <a:cs typeface="Inter"/>
              </a:defRPr>
            </a:pPr>
            <a:r>
              <a:rPr sz="1200">
                <a:solidFill>
                  <a:srgbClr val="6C6C89"/>
                </a:solidFill>
                <a:latin typeface="Inter"/>
                <a:ea typeface="Inter"/>
                <a:cs typeface="Inter"/>
              </a:rPr>
              <a:t>NEO + UI + tools</a:t>
            </a:r>
          </a:p>
        </p:txBody>
      </p:sp>
      <p:sp>
        <p:nvSpPr>
          <p:cNvPr id="36" name="s5-t4-badge">
            <a:extLst xmlns:a="http://schemas.openxmlformats.org/drawingml/2006/main">
              <a:ext uri="{FF2B5EF4-FFF2-40B4-BE49-F238E27FC236}">
                <a16:creationId xmlns:a16="http://schemas.microsoft.com/office/drawing/2014/main" id="{BFAE507A-EA8A-4E73-8E8B-70CBDFA21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1716" y="7299350"/>
            <a:ext cx="4191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AEF"/>
          </a:solidFill>
        </p:spPr>
      </p:sp>
      <p:sp>
        <p:nvSpPr>
          <p:cNvPr id="37" name="s5-t4-badge-text">
            <a:extLst xmlns:a="http://schemas.openxmlformats.org/drawingml/2006/main">
              <a:ext uri="{FF2B5EF4-FFF2-40B4-BE49-F238E27FC236}">
                <a16:creationId xmlns:a16="http://schemas.microsoft.com/office/drawing/2014/main" id="{ABD1B413-8388-460C-A471-16A84E2B6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7410450"/>
            <a:ext cx="4191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21217"/>
                </a:solidFill>
                <a:latin typeface="Inter"/>
                <a:ea typeface="Inter"/>
                <a:cs typeface="Inter"/>
              </a:defRPr>
            </a:pPr>
            <a:r>
              <a:rPr sz="1350" b="1">
                <a:solidFill>
                  <a:srgbClr val="121217"/>
                </a:solidFill>
                <a:latin typeface="Inter"/>
                <a:ea typeface="Inter"/>
                <a:cs typeface="Inter"/>
              </a:rPr>
              <a:t>4</a:t>
            </a:r>
          </a:p>
        </p:txBody>
      </p:sp>
      <p:sp>
        <p:nvSpPr>
          <p:cNvPr id="38" name="s5-t4-label">
            <a:extLst xmlns:a="http://schemas.openxmlformats.org/drawingml/2006/main">
              <a:ext uri="{FF2B5EF4-FFF2-40B4-BE49-F238E27FC236}">
                <a16:creationId xmlns:a16="http://schemas.microsoft.com/office/drawing/2014/main" id="{E3612A94-7A31-4AF8-9A14-5A2B3DC31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7296150"/>
            <a:ext cx="69151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21217"/>
                </a:solidFill>
                <a:latin typeface="Inter"/>
                <a:ea typeface="Inter"/>
                <a:cs typeface="Inter"/>
              </a:defRPr>
            </a:pPr>
            <a:r>
              <a:rPr sz="1875" b="1">
                <a:solidFill>
                  <a:srgbClr val="121217"/>
                </a:solidFill>
                <a:latin typeface="Inter"/>
                <a:ea typeface="Inter"/>
                <a:cs typeface="Inter"/>
              </a:rPr>
              <a:t>Evidencia funcional</a:t>
            </a:r>
          </a:p>
        </p:txBody>
      </p:sp>
      <p:sp>
        <p:nvSpPr>
          <p:cNvPr id="39" name="s5-t4-detail">
            <a:extLst xmlns:a="http://schemas.openxmlformats.org/drawingml/2006/main">
              <a:ext uri="{FF2B5EF4-FFF2-40B4-BE49-F238E27FC236}">
                <a16:creationId xmlns:a16="http://schemas.microsoft.com/office/drawing/2014/main" id="{1AEFA08E-7BA0-4860-9A10-677D2D15D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7620000"/>
            <a:ext cx="69151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C6C89"/>
                </a:solidFill>
                <a:latin typeface="Inter"/>
                <a:ea typeface="Inter"/>
                <a:cs typeface="Inter"/>
              </a:defRPr>
            </a:pPr>
            <a:r>
              <a:rPr sz="1200">
                <a:solidFill>
                  <a:srgbClr val="6C6C89"/>
                </a:solidFill>
                <a:latin typeface="Inter"/>
                <a:ea typeface="Inter"/>
                <a:cs typeface="Inter"/>
              </a:rPr>
              <a:t>tests + documentación</a:t>
            </a:r>
          </a:p>
        </p:txBody>
      </p:sp>
      <p:sp>
        <p:nvSpPr>
          <p:cNvPr id="40" name="footer-left-5">
            <a:extLst xmlns:a="http://schemas.openxmlformats.org/drawingml/2006/main">
              <a:ext uri="{FF2B5EF4-FFF2-40B4-BE49-F238E27FC236}">
                <a16:creationId xmlns:a16="http://schemas.microsoft.com/office/drawing/2014/main" id="{4E84A56C-3D31-4EF1-9FE4-BDFE52836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9734550"/>
            <a:ext cx="59055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828FA3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828FA3"/>
                </a:solidFill>
                <a:latin typeface="Inter"/>
                <a:ea typeface="Inter"/>
                <a:cs typeface="Inter"/>
              </a:rPr>
              <a:t>Etendo GO · Producto · 2026-04-30</a:t>
            </a:r>
          </a:p>
        </p:txBody>
      </p:sp>
      <p:sp>
        <p:nvSpPr>
          <p:cNvPr id="41" name="footer-right-5">
            <a:extLst xmlns:a="http://schemas.openxmlformats.org/drawingml/2006/main">
              <a:ext uri="{FF2B5EF4-FFF2-40B4-BE49-F238E27FC236}">
                <a16:creationId xmlns:a16="http://schemas.microsoft.com/office/drawing/2014/main" id="{879517C4-B111-4EB3-A44A-4E469E5EC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0" y="9734550"/>
            <a:ext cx="24765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828FA3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828FA3"/>
                </a:solidFill>
                <a:latin typeface="Inter"/>
                <a:ea typeface="Inter"/>
                <a:cs typeface="Inter"/>
              </a:rPr>
              <a:t>Schema Forge snapshot</a:t>
            </a:r>
          </a:p>
        </p:txBody>
      </p:sp>
    </p:spTree>
    <p:extLst>
      <p:ext uri="{BB962C8B-B14F-4D97-AF65-F5344CB8AC3E}">
        <p14:creationId xmlns:p14="http://schemas.microsoft.com/office/powerpoint/2010/main" val="130598473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left-rail-6">
            <a:extLst xmlns:a="http://schemas.openxmlformats.org/drawingml/2006/main">
              <a:ext uri="{FF2B5EF4-FFF2-40B4-BE49-F238E27FC236}">
                <a16:creationId xmlns:a16="http://schemas.microsoft.com/office/drawing/2014/main" id="{96439007-EC55-4A15-9A08-41B89FD74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00050"/>
            <a:ext cx="819150" cy="948690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AEF"/>
            </a:solidFill>
            <a:prstDash val="solid"/>
          </a:ln>
        </p:spPr>
      </p:sp>
      <p:pic>
        <p:nvPicPr>
          <p:cNvPr id="2" name="favicon-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d3241b31324778"/>
          <a:stretch xmlns:a="http://schemas.openxmlformats.org/drawingml/2006/main"/>
        </p:blipFill>
        <p:spPr>
          <a:xfrm xmlns:a="http://schemas.openxmlformats.org/drawingml/2006/main">
            <a:off x="723900" y="571500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3" name="rail-accent-6">
            <a:extLst xmlns:a="http://schemas.openxmlformats.org/drawingml/2006/main">
              <a:ext uri="{FF2B5EF4-FFF2-40B4-BE49-F238E27FC236}">
                <a16:creationId xmlns:a16="http://schemas.microsoft.com/office/drawing/2014/main" id="{66233567-5ABF-4D31-97A5-B3580A9BE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19600"/>
            <a:ext cx="76200" cy="1143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D500"/>
          </a:solidFill>
          <a:ln xmlns:a="http://schemas.openxmlformats.org/drawingml/2006/main" w="0">
            <a:solidFill>
              <a:srgbClr val="FFD500"/>
            </a:solidFill>
            <a:prstDash val="solid"/>
          </a:ln>
        </p:spPr>
      </p:sp>
      <p:sp>
        <p:nvSpPr>
          <p:cNvPr id="4" name="rail-section-6">
            <a:extLst xmlns:a="http://schemas.openxmlformats.org/drawingml/2006/main">
              <a:ext uri="{FF2B5EF4-FFF2-40B4-BE49-F238E27FC236}">
                <a16:creationId xmlns:a16="http://schemas.microsoft.com/office/drawing/2014/main" id="{0036387A-2393-42DB-AA93-CE85F5A6B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15000"/>
            <a:ext cx="6286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C6C89"/>
                </a:solidFill>
                <a:latin typeface="Inter"/>
                <a:ea typeface="Inter"/>
                <a:cs typeface="Inter"/>
              </a:defRPr>
            </a:pPr>
            <a:r>
              <a:rPr sz="975" b="1">
                <a:solidFill>
                  <a:srgbClr val="6C6C89"/>
                </a:solidFill>
                <a:latin typeface="Inter"/>
                <a:ea typeface="Inter"/>
                <a:cs typeface="Inter"/>
              </a:rPr>
              <a:t>Autocrítica</a:t>
            </a:r>
          </a:p>
        </p:txBody>
      </p:sp>
      <p:sp>
        <p:nvSpPr>
          <p:cNvPr id="5" name="rail-number-6">
            <a:extLst xmlns:a="http://schemas.openxmlformats.org/drawingml/2006/main">
              <a:ext uri="{FF2B5EF4-FFF2-40B4-BE49-F238E27FC236}">
                <a16:creationId xmlns:a16="http://schemas.microsoft.com/office/drawing/2014/main" id="{D1E2E099-9070-4D61-A56B-0CAC9FB84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0"/>
            <a:ext cx="571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828FA3"/>
                </a:solidFill>
                <a:latin typeface="Inter"/>
                <a:ea typeface="Inter"/>
                <a:cs typeface="Inter"/>
              </a:defRPr>
            </a:pPr>
            <a:r>
              <a:rPr sz="1200" b="1">
                <a:solidFill>
                  <a:srgbClr val="828FA3"/>
                </a:solidFill>
                <a:latin typeface="Inter"/>
                <a:ea typeface="Inter"/>
                <a:cs typeface="Inter"/>
              </a:rPr>
              <a:t>06</a:t>
            </a:r>
          </a:p>
        </p:txBody>
      </p:sp>
      <p:sp>
        <p:nvSpPr>
          <p:cNvPr id="6" name="section-pill-6">
            <a:extLst xmlns:a="http://schemas.openxmlformats.org/drawingml/2006/main">
              <a:ext uri="{FF2B5EF4-FFF2-40B4-BE49-F238E27FC236}">
                <a16:creationId xmlns:a16="http://schemas.microsoft.com/office/drawing/2014/main" id="{7BB62A4B-AF53-4545-9244-78E027C2E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19100"/>
            <a:ext cx="1138428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D500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section-pill-6-text">
            <a:extLst xmlns:a="http://schemas.openxmlformats.org/drawingml/2006/main">
              <a:ext uri="{FF2B5EF4-FFF2-40B4-BE49-F238E27FC236}">
                <a16:creationId xmlns:a16="http://schemas.microsoft.com/office/drawing/2014/main" id="{B498A0FE-B166-4A71-9B08-5BE1AA79B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95300"/>
            <a:ext cx="8001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21217"/>
                </a:solidFill>
                <a:latin typeface="Inter"/>
                <a:ea typeface="Inter"/>
                <a:cs typeface="Inter"/>
              </a:defRPr>
            </a:pPr>
            <a:r>
              <a:rPr sz="1200" b="1">
                <a:solidFill>
                  <a:srgbClr val="121217"/>
                </a:solidFill>
                <a:latin typeface="Inter"/>
                <a:ea typeface="Inter"/>
                <a:cs typeface="Inter"/>
              </a:rPr>
              <a:t>Autocrítica</a:t>
            </a:r>
          </a:p>
        </p:txBody>
      </p:sp>
      <p:sp>
        <p:nvSpPr>
          <p:cNvPr id="8" name="search-pill-6">
            <a:extLst xmlns:a="http://schemas.openxmlformats.org/drawingml/2006/main">
              <a:ext uri="{FF2B5EF4-FFF2-40B4-BE49-F238E27FC236}">
                <a16:creationId xmlns:a16="http://schemas.microsoft.com/office/drawing/2014/main" id="{18D5A06B-C163-4C15-B5AE-A2448872E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400050"/>
            <a:ext cx="495300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AEF"/>
          </a:solidFill>
        </p:spPr>
      </p:sp>
      <p:sp>
        <p:nvSpPr>
          <p:cNvPr id="9" name="search-text-6">
            <a:extLst xmlns:a="http://schemas.openxmlformats.org/drawingml/2006/main">
              <a:ext uri="{FF2B5EF4-FFF2-40B4-BE49-F238E27FC236}">
                <a16:creationId xmlns:a16="http://schemas.microsoft.com/office/drawing/2014/main" id="{3F6BFEDA-44CD-47EB-AB2F-06597B766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68300" y="495300"/>
            <a:ext cx="45339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55B6D"/>
                </a:solidFill>
                <a:latin typeface="Inter"/>
                <a:ea typeface="Inter"/>
                <a:cs typeface="Inter"/>
              </a:defRPr>
            </a:pPr>
            <a:r>
              <a:rPr sz="1125">
                <a:solidFill>
                  <a:srgbClr val="555B6D"/>
                </a:solidFill>
                <a:latin typeface="Inter"/>
                <a:ea typeface="Inter"/>
                <a:cs typeface="Inter"/>
              </a:rPr>
              <a:t>Buscar en Etendo GO / preguntar al agente</a:t>
            </a:r>
          </a:p>
        </p:txBody>
      </p:sp>
      <p:sp>
        <p:nvSpPr>
          <p:cNvPr id="10" name="slide-title-6">
            <a:extLst xmlns:a="http://schemas.openxmlformats.org/drawingml/2006/main">
              <a:ext uri="{FF2B5EF4-FFF2-40B4-BE49-F238E27FC236}">
                <a16:creationId xmlns:a16="http://schemas.microsoft.com/office/drawing/2014/main" id="{45C701DC-7A26-4362-898B-ED2401E95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876300"/>
            <a:ext cx="161925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21217"/>
                </a:solidFill>
                <a:latin typeface="Inter"/>
                <a:ea typeface="Inter"/>
                <a:cs typeface="Inter"/>
              </a:defRPr>
            </a:pPr>
            <a:r>
              <a:rPr sz="3900" b="1">
                <a:solidFill>
                  <a:srgbClr val="121217"/>
                </a:solidFill>
                <a:latin typeface="Inter"/>
                <a:ea typeface="Inter"/>
                <a:cs typeface="Inter"/>
              </a:rPr>
              <a:t>Schema Forge nos trajo hasta acá, pero sigue en refinamiento</a:t>
            </a:r>
          </a:p>
        </p:txBody>
      </p:sp>
      <p:sp>
        <p:nvSpPr>
          <p:cNvPr id="11" name="slide-subtitle-6">
            <a:extLst xmlns:a="http://schemas.openxmlformats.org/drawingml/2006/main">
              <a:ext uri="{FF2B5EF4-FFF2-40B4-BE49-F238E27FC236}">
                <a16:creationId xmlns:a16="http://schemas.microsoft.com/office/drawing/2014/main" id="{A12F92E1-6D1B-485E-97BE-163C398AA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581150"/>
            <a:ext cx="1104900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2025">
                <a:solidFill>
                  <a:srgbClr val="6C6C89"/>
                </a:solidFill>
                <a:latin typeface="Inter"/>
                <a:ea typeface="Inter"/>
                <a:cs typeface="Inter"/>
              </a:defRPr>
            </a:pPr>
            <a:r>
              <a:rPr sz="2025">
                <a:solidFill>
                  <a:srgbClr val="6C6C89"/>
                </a:solidFill>
                <a:latin typeface="Inter"/>
                <a:ea typeface="Inter"/>
                <a:cs typeface="Inter"/>
              </a:rPr>
              <a:t>No estamos mostrando una herramienta cerrada: estamos mostrando una metodología viva que mejora con cada contrato, ventana, prueba y validación agéntica.</a:t>
            </a:r>
          </a:p>
        </p:txBody>
      </p:sp>
      <p:sp>
        <p:nvSpPr>
          <p:cNvPr id="12" name="s6-step-1-badge">
            <a:extLst xmlns:a="http://schemas.openxmlformats.org/drawingml/2006/main">
              <a:ext uri="{FF2B5EF4-FFF2-40B4-BE49-F238E27FC236}">
                <a16:creationId xmlns:a16="http://schemas.microsoft.com/office/drawing/2014/main" id="{7C1AD25F-7BEB-45B4-9ED9-9F2144342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679975"/>
            <a:ext cx="4191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D500"/>
          </a:solidFill>
        </p:spPr>
      </p:sp>
      <p:sp>
        <p:nvSpPr>
          <p:cNvPr id="13" name="s6-step-1-badge-text">
            <a:extLst xmlns:a="http://schemas.openxmlformats.org/drawingml/2006/main">
              <a:ext uri="{FF2B5EF4-FFF2-40B4-BE49-F238E27FC236}">
                <a16:creationId xmlns:a16="http://schemas.microsoft.com/office/drawing/2014/main" id="{3045A29D-CE78-4E94-84E4-2D4D88CC5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800600"/>
            <a:ext cx="4191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21217"/>
                </a:solidFill>
                <a:latin typeface="Inter"/>
                <a:ea typeface="Inter"/>
                <a:cs typeface="Inter"/>
              </a:defRPr>
            </a:pPr>
            <a:r>
              <a:rPr sz="1350" b="1">
                <a:solidFill>
                  <a:srgbClr val="121217"/>
                </a:solidFill>
                <a:latin typeface="Inter"/>
                <a:ea typeface="Inter"/>
                <a:cs typeface="Inter"/>
              </a:rPr>
              <a:t>1</a:t>
            </a:r>
          </a:p>
        </p:txBody>
      </p:sp>
      <p:sp>
        <p:nvSpPr>
          <p:cNvPr id="14" name="s6-step-1-label">
            <a:extLst xmlns:a="http://schemas.openxmlformats.org/drawingml/2006/main">
              <a:ext uri="{FF2B5EF4-FFF2-40B4-BE49-F238E27FC236}">
                <a16:creationId xmlns:a16="http://schemas.microsoft.com/office/drawing/2014/main" id="{8C915500-27C3-46E9-8BC9-F24142245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686300"/>
            <a:ext cx="64960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21217"/>
                </a:solidFill>
                <a:latin typeface="Inter"/>
                <a:ea typeface="Inter"/>
                <a:cs typeface="Inter"/>
              </a:defRPr>
            </a:pPr>
            <a:r>
              <a:rPr sz="1875" b="1">
                <a:solidFill>
                  <a:srgbClr val="121217"/>
                </a:solidFill>
                <a:latin typeface="Inter"/>
                <a:ea typeface="Inter"/>
                <a:cs typeface="Inter"/>
              </a:rPr>
              <a:t>Modelar</a:t>
            </a:r>
          </a:p>
        </p:txBody>
      </p:sp>
      <p:sp>
        <p:nvSpPr>
          <p:cNvPr id="15" name="s6-step-1-detail">
            <a:extLst xmlns:a="http://schemas.openxmlformats.org/drawingml/2006/main">
              <a:ext uri="{FF2B5EF4-FFF2-40B4-BE49-F238E27FC236}">
                <a16:creationId xmlns:a16="http://schemas.microsoft.com/office/drawing/2014/main" id="{2F0197CD-E04E-4CE4-B06E-CFB056548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010150"/>
            <a:ext cx="6496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C6C89"/>
                </a:solidFill>
                <a:latin typeface="Inter"/>
                <a:ea typeface="Inter"/>
                <a:cs typeface="Inter"/>
              </a:defRPr>
            </a:pPr>
            <a:r>
              <a:rPr sz="1200">
                <a:solidFill>
                  <a:srgbClr val="6C6C89"/>
                </a:solidFill>
                <a:latin typeface="Inter"/>
                <a:ea typeface="Inter"/>
                <a:cs typeface="Inter"/>
              </a:rPr>
              <a:t>capturar metadata y decisiones</a:t>
            </a:r>
          </a:p>
        </p:txBody>
      </p:sp>
      <p:sp>
        <p:nvSpPr>
          <p:cNvPr id="16" name="s6-step-2-badge">
            <a:extLst xmlns:a="http://schemas.openxmlformats.org/drawingml/2006/main">
              <a:ext uri="{FF2B5EF4-FFF2-40B4-BE49-F238E27FC236}">
                <a16:creationId xmlns:a16="http://schemas.microsoft.com/office/drawing/2014/main" id="{3BFCED9B-4BAA-4B56-8D61-ECA8090DC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96255"/>
            <a:ext cx="4191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AEF"/>
          </a:solidFill>
        </p:spPr>
      </p:sp>
      <p:sp>
        <p:nvSpPr>
          <p:cNvPr id="17" name="s6-step-2-badge-text">
            <a:extLst xmlns:a="http://schemas.openxmlformats.org/drawingml/2006/main">
              <a:ext uri="{FF2B5EF4-FFF2-40B4-BE49-F238E27FC236}">
                <a16:creationId xmlns:a16="http://schemas.microsoft.com/office/drawing/2014/main" id="{CFF92027-3795-4C3B-8AF4-9C0BF7970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505450"/>
            <a:ext cx="4191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21217"/>
                </a:solidFill>
                <a:latin typeface="Inter"/>
                <a:ea typeface="Inter"/>
                <a:cs typeface="Inter"/>
              </a:defRPr>
            </a:pPr>
            <a:r>
              <a:rPr sz="1350" b="1">
                <a:solidFill>
                  <a:srgbClr val="121217"/>
                </a:solidFill>
                <a:latin typeface="Inter"/>
                <a:ea typeface="Inter"/>
                <a:cs typeface="Inter"/>
              </a:rPr>
              <a:t>2</a:t>
            </a:r>
          </a:p>
        </p:txBody>
      </p:sp>
      <p:sp>
        <p:nvSpPr>
          <p:cNvPr id="18" name="s6-step-2-label">
            <a:extLst xmlns:a="http://schemas.openxmlformats.org/drawingml/2006/main">
              <a:ext uri="{FF2B5EF4-FFF2-40B4-BE49-F238E27FC236}">
                <a16:creationId xmlns:a16="http://schemas.microsoft.com/office/drawing/2014/main" id="{B7FBC86A-B84F-4DC6-911A-F5C838B07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391150"/>
            <a:ext cx="64960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21217"/>
                </a:solidFill>
                <a:latin typeface="Inter"/>
                <a:ea typeface="Inter"/>
                <a:cs typeface="Inter"/>
              </a:defRPr>
            </a:pPr>
            <a:r>
              <a:rPr sz="1875" b="1">
                <a:solidFill>
                  <a:srgbClr val="121217"/>
                </a:solidFill>
                <a:latin typeface="Inter"/>
                <a:ea typeface="Inter"/>
                <a:cs typeface="Inter"/>
              </a:rPr>
              <a:t>Generar</a:t>
            </a:r>
          </a:p>
        </p:txBody>
      </p:sp>
      <p:sp>
        <p:nvSpPr>
          <p:cNvPr id="19" name="s6-step-2-detail">
            <a:extLst xmlns:a="http://schemas.openxmlformats.org/drawingml/2006/main">
              <a:ext uri="{FF2B5EF4-FFF2-40B4-BE49-F238E27FC236}">
                <a16:creationId xmlns:a16="http://schemas.microsoft.com/office/drawing/2014/main" id="{75FC11E3-D969-43F4-99EF-D5159CF11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715000"/>
            <a:ext cx="6496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C6C89"/>
                </a:solidFill>
                <a:latin typeface="Inter"/>
                <a:ea typeface="Inter"/>
                <a:cs typeface="Inter"/>
              </a:defRPr>
            </a:pPr>
            <a:r>
              <a:rPr sz="1200">
                <a:solidFill>
                  <a:srgbClr val="6C6C89"/>
                </a:solidFill>
                <a:latin typeface="Inter"/>
                <a:ea typeface="Inter"/>
                <a:cs typeface="Inter"/>
              </a:rPr>
              <a:t>contratos, UI, configuración NEO</a:t>
            </a:r>
          </a:p>
        </p:txBody>
      </p:sp>
      <p:sp>
        <p:nvSpPr>
          <p:cNvPr id="20" name="s6-step-3-badge">
            <a:extLst xmlns:a="http://schemas.openxmlformats.org/drawingml/2006/main">
              <a:ext uri="{FF2B5EF4-FFF2-40B4-BE49-F238E27FC236}">
                <a16:creationId xmlns:a16="http://schemas.microsoft.com/office/drawing/2014/main" id="{BD228C72-7966-4088-88CD-52D154CFE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6112535"/>
            <a:ext cx="4191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D500"/>
          </a:solidFill>
        </p:spPr>
      </p:sp>
      <p:sp>
        <p:nvSpPr>
          <p:cNvPr id="21" name="s6-step-3-badge-text">
            <a:extLst xmlns:a="http://schemas.openxmlformats.org/drawingml/2006/main">
              <a:ext uri="{FF2B5EF4-FFF2-40B4-BE49-F238E27FC236}">
                <a16:creationId xmlns:a16="http://schemas.microsoft.com/office/drawing/2014/main" id="{AD59D9B0-22D5-469A-A7FC-AC89B7152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6229350"/>
            <a:ext cx="4191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21217"/>
                </a:solidFill>
                <a:latin typeface="Inter"/>
                <a:ea typeface="Inter"/>
                <a:cs typeface="Inter"/>
              </a:defRPr>
            </a:pPr>
            <a:r>
              <a:rPr sz="1350" b="1">
                <a:solidFill>
                  <a:srgbClr val="121217"/>
                </a:solidFill>
                <a:latin typeface="Inter"/>
                <a:ea typeface="Inter"/>
                <a:cs typeface="Inter"/>
              </a:rPr>
              <a:t>3</a:t>
            </a:r>
          </a:p>
        </p:txBody>
      </p:sp>
      <p:sp>
        <p:nvSpPr>
          <p:cNvPr id="22" name="s6-step-3-label">
            <a:extLst xmlns:a="http://schemas.openxmlformats.org/drawingml/2006/main">
              <a:ext uri="{FF2B5EF4-FFF2-40B4-BE49-F238E27FC236}">
                <a16:creationId xmlns:a16="http://schemas.microsoft.com/office/drawing/2014/main" id="{BFA632AE-85B9-42FA-9E52-CEE953BAE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6115050"/>
            <a:ext cx="64960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21217"/>
                </a:solidFill>
                <a:latin typeface="Inter"/>
                <a:ea typeface="Inter"/>
                <a:cs typeface="Inter"/>
              </a:defRPr>
            </a:pPr>
            <a:r>
              <a:rPr sz="1875" b="1">
                <a:solidFill>
                  <a:srgbClr val="121217"/>
                </a:solidFill>
                <a:latin typeface="Inter"/>
                <a:ea typeface="Inter"/>
                <a:cs typeface="Inter"/>
              </a:rPr>
              <a:t>Validar</a:t>
            </a:r>
          </a:p>
        </p:txBody>
      </p:sp>
      <p:sp>
        <p:nvSpPr>
          <p:cNvPr id="23" name="s6-step-3-detail">
            <a:extLst xmlns:a="http://schemas.openxmlformats.org/drawingml/2006/main">
              <a:ext uri="{FF2B5EF4-FFF2-40B4-BE49-F238E27FC236}">
                <a16:creationId xmlns:a16="http://schemas.microsoft.com/office/drawing/2014/main" id="{C7728A5F-BC1B-4C94-B408-C7872A878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6438900"/>
            <a:ext cx="6496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C6C89"/>
                </a:solidFill>
                <a:latin typeface="Inter"/>
                <a:ea typeface="Inter"/>
                <a:cs typeface="Inter"/>
              </a:defRPr>
            </a:pPr>
            <a:r>
              <a:rPr sz="1200">
                <a:solidFill>
                  <a:srgbClr val="6C6C89"/>
                </a:solidFill>
                <a:latin typeface="Inter"/>
                <a:ea typeface="Inter"/>
                <a:cs typeface="Inter"/>
              </a:rPr>
              <a:t>pruebas, docs, comportamiento real</a:t>
            </a:r>
          </a:p>
        </p:txBody>
      </p:sp>
      <p:sp>
        <p:nvSpPr>
          <p:cNvPr id="24" name="s6-step-4-badge">
            <a:extLst xmlns:a="http://schemas.openxmlformats.org/drawingml/2006/main">
              <a:ext uri="{FF2B5EF4-FFF2-40B4-BE49-F238E27FC236}">
                <a16:creationId xmlns:a16="http://schemas.microsoft.com/office/drawing/2014/main" id="{555287CB-24E3-4617-B4D1-E37FB76BA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6828815"/>
            <a:ext cx="4191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AEF"/>
          </a:solidFill>
        </p:spPr>
      </p:sp>
      <p:sp>
        <p:nvSpPr>
          <p:cNvPr id="25" name="s6-step-4-badge-text">
            <a:extLst xmlns:a="http://schemas.openxmlformats.org/drawingml/2006/main">
              <a:ext uri="{FF2B5EF4-FFF2-40B4-BE49-F238E27FC236}">
                <a16:creationId xmlns:a16="http://schemas.microsoft.com/office/drawing/2014/main" id="{FF381C5A-26BA-4863-BDBC-53FAC0FDC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6934200"/>
            <a:ext cx="4191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21217"/>
                </a:solidFill>
                <a:latin typeface="Inter"/>
                <a:ea typeface="Inter"/>
                <a:cs typeface="Inter"/>
              </a:defRPr>
            </a:pPr>
            <a:r>
              <a:rPr sz="1350" b="1">
                <a:solidFill>
                  <a:srgbClr val="121217"/>
                </a:solidFill>
                <a:latin typeface="Inter"/>
                <a:ea typeface="Inter"/>
                <a:cs typeface="Inter"/>
              </a:rPr>
              <a:t>4</a:t>
            </a:r>
          </a:p>
        </p:txBody>
      </p:sp>
      <p:sp>
        <p:nvSpPr>
          <p:cNvPr id="26" name="s6-step-4-label">
            <a:extLst xmlns:a="http://schemas.openxmlformats.org/drawingml/2006/main">
              <a:ext uri="{FF2B5EF4-FFF2-40B4-BE49-F238E27FC236}">
                <a16:creationId xmlns:a16="http://schemas.microsoft.com/office/drawing/2014/main" id="{430CD07F-74C7-4EAF-9DBE-6299763EE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6819900"/>
            <a:ext cx="64960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21217"/>
                </a:solidFill>
                <a:latin typeface="Inter"/>
                <a:ea typeface="Inter"/>
                <a:cs typeface="Inter"/>
              </a:defRPr>
            </a:pPr>
            <a:r>
              <a:rPr sz="1875" b="1">
                <a:solidFill>
                  <a:srgbClr val="121217"/>
                </a:solidFill>
                <a:latin typeface="Inter"/>
                <a:ea typeface="Inter"/>
                <a:cs typeface="Inter"/>
              </a:rPr>
              <a:t>Refinar</a:t>
            </a:r>
          </a:p>
        </p:txBody>
      </p:sp>
      <p:sp>
        <p:nvSpPr>
          <p:cNvPr id="27" name="s6-step-4-detail">
            <a:extLst xmlns:a="http://schemas.openxmlformats.org/drawingml/2006/main">
              <a:ext uri="{FF2B5EF4-FFF2-40B4-BE49-F238E27FC236}">
                <a16:creationId xmlns:a16="http://schemas.microsoft.com/office/drawing/2014/main" id="{5C1614B1-0993-4D48-A21F-A22C71B39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7143750"/>
            <a:ext cx="6496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C6C89"/>
                </a:solidFill>
                <a:latin typeface="Inter"/>
                <a:ea typeface="Inter"/>
                <a:cs typeface="Inter"/>
              </a:defRPr>
            </a:pPr>
            <a:r>
              <a:rPr sz="1200">
                <a:solidFill>
                  <a:srgbClr val="6C6C89"/>
                </a:solidFill>
                <a:latin typeface="Inter"/>
                <a:ea typeface="Inter"/>
                <a:cs typeface="Inter"/>
              </a:rPr>
              <a:t>mejorar precisión, cobertura y criterios</a:t>
            </a:r>
          </a:p>
        </p:txBody>
      </p:sp>
      <p:sp>
        <p:nvSpPr>
          <p:cNvPr id="28" name="s6-refinement-panel">
            <a:extLst xmlns:a="http://schemas.openxmlformats.org/drawingml/2006/main">
              <a:ext uri="{FF2B5EF4-FFF2-40B4-BE49-F238E27FC236}">
                <a16:creationId xmlns:a16="http://schemas.microsoft.com/office/drawing/2014/main" id="{69563991-7F03-428E-8630-469D2B6EB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7335" y="2555291"/>
            <a:ext cx="8654415" cy="6904939"/>
          </a:xfrm>
          <a:prstGeom xmlns:a="http://schemas.openxmlformats.org/drawingml/2006/main" prst="roundRect">
            <a:avLst>
              <a:gd name="adj" fmla="val 1655"/>
            </a:avLst>
          </a:prstGeom>
          <a:solidFill xmlns:a="http://schemas.openxmlformats.org/drawingml/2006/main">
            <a:srgbClr val="FFF9EB"/>
          </a:solidFill>
          <a:ln xmlns:a="http://schemas.openxmlformats.org/drawingml/2006/main" w="9525">
            <a:solidFill>
              <a:srgbClr val="F5DFAD"/>
            </a:solidFill>
            <a:prstDash val="solid"/>
          </a:ln>
        </p:spPr>
      </p:sp>
      <p:sp>
        <p:nvSpPr>
          <p:cNvPr id="29" name="s6-ref-title">
            <a:extLst xmlns:a="http://schemas.openxmlformats.org/drawingml/2006/main">
              <a:ext uri="{FF2B5EF4-FFF2-40B4-BE49-F238E27FC236}">
                <a16:creationId xmlns:a16="http://schemas.microsoft.com/office/drawing/2014/main" id="{9F787A74-D3B6-4A9D-9290-DED17A325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4552950"/>
            <a:ext cx="78486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21217"/>
                </a:solidFill>
                <a:latin typeface="Inter"/>
                <a:ea typeface="Inter"/>
                <a:cs typeface="Inter"/>
              </a:defRPr>
            </a:pPr>
            <a:r>
              <a:rPr sz="3150" b="1">
                <a:solidFill>
                  <a:srgbClr val="121217"/>
                </a:solidFill>
                <a:latin typeface="Inter"/>
                <a:ea typeface="Inter"/>
                <a:cs typeface="Inter"/>
              </a:rPr>
              <a:t>Qué estamos mejorando</a:t>
            </a:r>
          </a:p>
        </p:txBody>
      </p:sp>
      <p:sp>
        <p:nvSpPr>
          <p:cNvPr id="30" name="s6-b1-dot">
            <a:extLst xmlns:a="http://schemas.openxmlformats.org/drawingml/2006/main">
              <a:ext uri="{FF2B5EF4-FFF2-40B4-BE49-F238E27FC236}">
                <a16:creationId xmlns:a16="http://schemas.microsoft.com/office/drawing/2014/main" id="{13F091D3-C46B-4467-881A-2CD9879E1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52006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A6100"/>
          </a:solidFill>
          <a:ln xmlns:a="http://schemas.openxmlformats.org/drawingml/2006/main" w="0">
            <a:solidFill>
              <a:srgbClr val="8A6100"/>
            </a:solidFill>
            <a:prstDash val="solid"/>
          </a:ln>
        </p:spPr>
      </p:sp>
      <p:sp>
        <p:nvSpPr>
          <p:cNvPr id="31" name="s6-b1-text">
            <a:extLst xmlns:a="http://schemas.openxmlformats.org/drawingml/2006/main">
              <a:ext uri="{FF2B5EF4-FFF2-40B4-BE49-F238E27FC236}">
                <a16:creationId xmlns:a16="http://schemas.microsoft.com/office/drawing/2014/main" id="{B036A3F6-FBB8-495D-8721-7C888D481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200650"/>
            <a:ext cx="76009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6000"/>
              </a:lnSpc>
              <a:buNone/>
              <a:defRPr sz="1800">
                <a:solidFill>
                  <a:srgbClr val="6C6C89"/>
                </a:solidFill>
                <a:latin typeface="Inter"/>
                <a:ea typeface="Inter"/>
                <a:cs typeface="Inter"/>
              </a:defRPr>
            </a:pPr>
            <a:r>
              <a:rPr sz="1800">
                <a:solidFill>
                  <a:srgbClr val="6C6C89"/>
                </a:solidFill>
                <a:latin typeface="Inter"/>
                <a:ea typeface="Inter"/>
                <a:cs typeface="Inter"/>
              </a:rPr>
              <a:t>Calidad de decisiones generadas y curadas.</a:t>
            </a:r>
          </a:p>
        </p:txBody>
      </p:sp>
      <p:sp>
        <p:nvSpPr>
          <p:cNvPr id="32" name="s6-b2-dot">
            <a:extLst xmlns:a="http://schemas.openxmlformats.org/drawingml/2006/main">
              <a:ext uri="{FF2B5EF4-FFF2-40B4-BE49-F238E27FC236}">
                <a16:creationId xmlns:a16="http://schemas.microsoft.com/office/drawing/2014/main" id="{FB09C37D-8F17-430B-A77D-990BA9951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56769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A6100"/>
          </a:solidFill>
          <a:ln xmlns:a="http://schemas.openxmlformats.org/drawingml/2006/main" w="0">
            <a:solidFill>
              <a:srgbClr val="8A6100"/>
            </a:solidFill>
            <a:prstDash val="solid"/>
          </a:ln>
        </p:spPr>
      </p:sp>
      <p:sp>
        <p:nvSpPr>
          <p:cNvPr id="33" name="s6-b2-text">
            <a:extLst xmlns:a="http://schemas.openxmlformats.org/drawingml/2006/main">
              <a:ext uri="{FF2B5EF4-FFF2-40B4-BE49-F238E27FC236}">
                <a16:creationId xmlns:a16="http://schemas.microsoft.com/office/drawing/2014/main" id="{DB799C8B-749B-4CCD-AE12-29D11757D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676900"/>
            <a:ext cx="76009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6000"/>
              </a:lnSpc>
              <a:buNone/>
              <a:defRPr sz="1800">
                <a:solidFill>
                  <a:srgbClr val="6C6C89"/>
                </a:solidFill>
                <a:latin typeface="Inter"/>
                <a:ea typeface="Inter"/>
                <a:cs typeface="Inter"/>
              </a:defRPr>
            </a:pPr>
            <a:r>
              <a:rPr sz="1800">
                <a:solidFill>
                  <a:srgbClr val="6C6C89"/>
                </a:solidFill>
                <a:latin typeface="Inter"/>
                <a:ea typeface="Inter"/>
                <a:cs typeface="Inter"/>
              </a:rPr>
              <a:t>Consistencia entre contratos, UI, NEO y docs.</a:t>
            </a:r>
          </a:p>
        </p:txBody>
      </p:sp>
      <p:sp>
        <p:nvSpPr>
          <p:cNvPr id="34" name="s6-b3-dot">
            <a:extLst xmlns:a="http://schemas.openxmlformats.org/drawingml/2006/main">
              <a:ext uri="{FF2B5EF4-FFF2-40B4-BE49-F238E27FC236}">
                <a16:creationId xmlns:a16="http://schemas.microsoft.com/office/drawing/2014/main" id="{404134EF-5537-4E79-970D-C25A536F3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61722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A6100"/>
          </a:solidFill>
          <a:ln xmlns:a="http://schemas.openxmlformats.org/drawingml/2006/main" w="0">
            <a:solidFill>
              <a:srgbClr val="8A6100"/>
            </a:solidFill>
            <a:prstDash val="solid"/>
          </a:ln>
        </p:spPr>
      </p:sp>
      <p:sp>
        <p:nvSpPr>
          <p:cNvPr id="35" name="s6-b3-text">
            <a:extLst xmlns:a="http://schemas.openxmlformats.org/drawingml/2006/main">
              <a:ext uri="{FF2B5EF4-FFF2-40B4-BE49-F238E27FC236}">
                <a16:creationId xmlns:a16="http://schemas.microsoft.com/office/drawing/2014/main" id="{9346C90F-52CD-4C23-9D77-A2AAA9589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172200"/>
            <a:ext cx="76009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6000"/>
              </a:lnSpc>
              <a:buNone/>
              <a:defRPr sz="1800">
                <a:solidFill>
                  <a:srgbClr val="6C6C89"/>
                </a:solidFill>
                <a:latin typeface="Inter"/>
                <a:ea typeface="Inter"/>
                <a:cs typeface="Inter"/>
              </a:defRPr>
            </a:pPr>
            <a:r>
              <a:rPr sz="1800">
                <a:solidFill>
                  <a:srgbClr val="6C6C89"/>
                </a:solidFill>
                <a:latin typeface="Inter"/>
                <a:ea typeface="Inter"/>
                <a:cs typeface="Inter"/>
              </a:rPr>
              <a:t>Cobertura de reglas de negocio y edge cases.</a:t>
            </a:r>
          </a:p>
        </p:txBody>
      </p:sp>
      <p:sp>
        <p:nvSpPr>
          <p:cNvPr id="36" name="s6-b4-dot">
            <a:extLst xmlns:a="http://schemas.openxmlformats.org/drawingml/2006/main">
              <a:ext uri="{FF2B5EF4-FFF2-40B4-BE49-F238E27FC236}">
                <a16:creationId xmlns:a16="http://schemas.microsoft.com/office/drawing/2014/main" id="{93A9E739-B78A-4E36-B04E-0AA6F86D6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66675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A6100"/>
          </a:solidFill>
          <a:ln xmlns:a="http://schemas.openxmlformats.org/drawingml/2006/main" w="0">
            <a:solidFill>
              <a:srgbClr val="8A6100"/>
            </a:solidFill>
            <a:prstDash val="solid"/>
          </a:ln>
        </p:spPr>
      </p:sp>
      <p:sp>
        <p:nvSpPr>
          <p:cNvPr id="37" name="s6-b4-text">
            <a:extLst xmlns:a="http://schemas.openxmlformats.org/drawingml/2006/main">
              <a:ext uri="{FF2B5EF4-FFF2-40B4-BE49-F238E27FC236}">
                <a16:creationId xmlns:a16="http://schemas.microsoft.com/office/drawing/2014/main" id="{AF749321-19F0-46C8-AC0F-802816822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667500"/>
            <a:ext cx="76009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6000"/>
              </a:lnSpc>
              <a:buNone/>
              <a:defRPr sz="1800">
                <a:solidFill>
                  <a:srgbClr val="6C6C89"/>
                </a:solidFill>
                <a:latin typeface="Inter"/>
                <a:ea typeface="Inter"/>
                <a:cs typeface="Inter"/>
              </a:defRPr>
            </a:pPr>
            <a:r>
              <a:rPr sz="1800">
                <a:solidFill>
                  <a:srgbClr val="6C6C89"/>
                </a:solidFill>
                <a:latin typeface="Inter"/>
                <a:ea typeface="Inter"/>
                <a:cs typeface="Inter"/>
              </a:rPr>
              <a:t>Soporte para ventanas, reportes, dashboards y tools.</a:t>
            </a:r>
          </a:p>
        </p:txBody>
      </p:sp>
      <p:sp>
        <p:nvSpPr>
          <p:cNvPr id="38" name="s6-b5-dot">
            <a:extLst xmlns:a="http://schemas.openxmlformats.org/drawingml/2006/main">
              <a:ext uri="{FF2B5EF4-FFF2-40B4-BE49-F238E27FC236}">
                <a16:creationId xmlns:a16="http://schemas.microsoft.com/office/drawing/2014/main" id="{0285A320-22BE-4D8F-900A-FAEB7F614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71628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A6100"/>
          </a:solidFill>
          <a:ln xmlns:a="http://schemas.openxmlformats.org/drawingml/2006/main" w="0">
            <a:solidFill>
              <a:srgbClr val="8A6100"/>
            </a:solidFill>
            <a:prstDash val="solid"/>
          </a:ln>
        </p:spPr>
      </p:sp>
      <p:sp>
        <p:nvSpPr>
          <p:cNvPr id="39" name="s6-b5-text">
            <a:extLst xmlns:a="http://schemas.openxmlformats.org/drawingml/2006/main">
              <a:ext uri="{FF2B5EF4-FFF2-40B4-BE49-F238E27FC236}">
                <a16:creationId xmlns:a16="http://schemas.microsoft.com/office/drawing/2014/main" id="{F94ADEFE-A7C9-41FB-A344-EF78C2EF0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7162800"/>
            <a:ext cx="76009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6000"/>
              </a:lnSpc>
              <a:buNone/>
              <a:defRPr sz="1800">
                <a:solidFill>
                  <a:srgbClr val="6C6C89"/>
                </a:solidFill>
                <a:latin typeface="Inter"/>
                <a:ea typeface="Inter"/>
                <a:cs typeface="Inter"/>
              </a:defRPr>
            </a:pPr>
            <a:r>
              <a:rPr sz="1800">
                <a:solidFill>
                  <a:srgbClr val="6C6C89"/>
                </a:solidFill>
                <a:latin typeface="Inter"/>
                <a:ea typeface="Inter"/>
                <a:cs typeface="Inter"/>
              </a:rPr>
              <a:t>Validación automática y pruebas E2E.</a:t>
            </a:r>
          </a:p>
        </p:txBody>
      </p:sp>
      <p:sp>
        <p:nvSpPr>
          <p:cNvPr id="40" name="footer-left-6">
            <a:extLst xmlns:a="http://schemas.openxmlformats.org/drawingml/2006/main">
              <a:ext uri="{FF2B5EF4-FFF2-40B4-BE49-F238E27FC236}">
                <a16:creationId xmlns:a16="http://schemas.microsoft.com/office/drawing/2014/main" id="{F743DE57-4CFD-4039-8960-3802CB3DE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9734550"/>
            <a:ext cx="59055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828FA3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828FA3"/>
                </a:solidFill>
                <a:latin typeface="Inter"/>
                <a:ea typeface="Inter"/>
                <a:cs typeface="Inter"/>
              </a:rPr>
              <a:t>Etendo GO · Producto · 2026-04-30</a:t>
            </a:r>
          </a:p>
        </p:txBody>
      </p:sp>
      <p:sp>
        <p:nvSpPr>
          <p:cNvPr id="41" name="footer-right-6">
            <a:extLst xmlns:a="http://schemas.openxmlformats.org/drawingml/2006/main">
              <a:ext uri="{FF2B5EF4-FFF2-40B4-BE49-F238E27FC236}">
                <a16:creationId xmlns:a16="http://schemas.microsoft.com/office/drawing/2014/main" id="{96F63B8B-89BE-435A-A8C0-EC2107606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0" y="9734550"/>
            <a:ext cx="24765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828FA3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828FA3"/>
                </a:solidFill>
                <a:latin typeface="Inter"/>
                <a:ea typeface="Inter"/>
                <a:cs typeface="Inter"/>
              </a:rPr>
              <a:t>Schema Forge snapshot</a:t>
            </a:r>
          </a:p>
        </p:txBody>
      </p:sp>
    </p:spTree>
    <p:extLst>
      <p:ext uri="{BB962C8B-B14F-4D97-AF65-F5344CB8AC3E}">
        <p14:creationId xmlns:p14="http://schemas.microsoft.com/office/powerpoint/2010/main" val="39803599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left-rail-7">
            <a:extLst xmlns:a="http://schemas.openxmlformats.org/drawingml/2006/main">
              <a:ext uri="{FF2B5EF4-FFF2-40B4-BE49-F238E27FC236}">
                <a16:creationId xmlns:a16="http://schemas.microsoft.com/office/drawing/2014/main" id="{91EA6742-A299-492B-B96C-B89567E4E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00050"/>
            <a:ext cx="819150" cy="948690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AEF"/>
            </a:solidFill>
            <a:prstDash val="solid"/>
          </a:ln>
        </p:spPr>
      </p:sp>
      <p:pic>
        <p:nvPicPr>
          <p:cNvPr id="2" name="favicon-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5e4baf9dbb4334"/>
          <a:stretch xmlns:a="http://schemas.openxmlformats.org/drawingml/2006/main"/>
        </p:blipFill>
        <p:spPr>
          <a:xfrm xmlns:a="http://schemas.openxmlformats.org/drawingml/2006/main">
            <a:off x="723900" y="571500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3" name="rail-accent-7">
            <a:extLst xmlns:a="http://schemas.openxmlformats.org/drawingml/2006/main">
              <a:ext uri="{FF2B5EF4-FFF2-40B4-BE49-F238E27FC236}">
                <a16:creationId xmlns:a16="http://schemas.microsoft.com/office/drawing/2014/main" id="{95DED502-623F-450F-9136-BFB18ADFC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95800"/>
            <a:ext cx="76200" cy="1143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D500"/>
          </a:solidFill>
          <a:ln xmlns:a="http://schemas.openxmlformats.org/drawingml/2006/main" w="0">
            <a:solidFill>
              <a:srgbClr val="FFD500"/>
            </a:solidFill>
            <a:prstDash val="solid"/>
          </a:ln>
        </p:spPr>
      </p:sp>
      <p:sp>
        <p:nvSpPr>
          <p:cNvPr id="4" name="rail-section-7">
            <a:extLst xmlns:a="http://schemas.openxmlformats.org/drawingml/2006/main">
              <a:ext uri="{FF2B5EF4-FFF2-40B4-BE49-F238E27FC236}">
                <a16:creationId xmlns:a16="http://schemas.microsoft.com/office/drawing/2014/main" id="{DB2B29C5-79D9-456C-A3DA-B7AE55273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91200"/>
            <a:ext cx="6286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C6C89"/>
                </a:solidFill>
                <a:latin typeface="Inter"/>
                <a:ea typeface="Inter"/>
                <a:cs typeface="Inter"/>
              </a:defRPr>
            </a:pPr>
            <a:r>
              <a:rPr sz="975" b="1">
                <a:solidFill>
                  <a:srgbClr val="6C6C89"/>
                </a:solidFill>
                <a:latin typeface="Inter"/>
                <a:ea typeface="Inter"/>
                <a:cs typeface="Inter"/>
              </a:rPr>
              <a:t>Evidencia</a:t>
            </a:r>
          </a:p>
        </p:txBody>
      </p:sp>
      <p:sp>
        <p:nvSpPr>
          <p:cNvPr id="5" name="rail-number-7">
            <a:extLst xmlns:a="http://schemas.openxmlformats.org/drawingml/2006/main">
              <a:ext uri="{FF2B5EF4-FFF2-40B4-BE49-F238E27FC236}">
                <a16:creationId xmlns:a16="http://schemas.microsoft.com/office/drawing/2014/main" id="{550457EE-F4B0-4C3F-81B1-F71ABB7C8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0"/>
            <a:ext cx="571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828FA3"/>
                </a:solidFill>
                <a:latin typeface="Inter"/>
                <a:ea typeface="Inter"/>
                <a:cs typeface="Inter"/>
              </a:defRPr>
            </a:pPr>
            <a:r>
              <a:rPr sz="1200" b="1">
                <a:solidFill>
                  <a:srgbClr val="828FA3"/>
                </a:solidFill>
                <a:latin typeface="Inter"/>
                <a:ea typeface="Inter"/>
                <a:cs typeface="Inter"/>
              </a:rPr>
              <a:t>07</a:t>
            </a:r>
          </a:p>
        </p:txBody>
      </p:sp>
      <p:sp>
        <p:nvSpPr>
          <p:cNvPr id="6" name="section-pill-7">
            <a:extLst xmlns:a="http://schemas.openxmlformats.org/drawingml/2006/main">
              <a:ext uri="{FF2B5EF4-FFF2-40B4-BE49-F238E27FC236}">
                <a16:creationId xmlns:a16="http://schemas.microsoft.com/office/drawing/2014/main" id="{183E82C2-7AEF-47C1-9682-BBD87F554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19100"/>
            <a:ext cx="1045369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D500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section-pill-7-text">
            <a:extLst xmlns:a="http://schemas.openxmlformats.org/drawingml/2006/main">
              <a:ext uri="{FF2B5EF4-FFF2-40B4-BE49-F238E27FC236}">
                <a16:creationId xmlns:a16="http://schemas.microsoft.com/office/drawing/2014/main" id="{1625FF08-A7BD-46AE-BF4D-6EE768A33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95300"/>
            <a:ext cx="6858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21217"/>
                </a:solidFill>
                <a:latin typeface="Inter"/>
                <a:ea typeface="Inter"/>
                <a:cs typeface="Inter"/>
              </a:defRPr>
            </a:pPr>
            <a:r>
              <a:rPr sz="1200" b="1">
                <a:solidFill>
                  <a:srgbClr val="121217"/>
                </a:solidFill>
                <a:latin typeface="Inter"/>
                <a:ea typeface="Inter"/>
                <a:cs typeface="Inter"/>
              </a:rPr>
              <a:t>Evidencia</a:t>
            </a:r>
          </a:p>
        </p:txBody>
      </p:sp>
      <p:sp>
        <p:nvSpPr>
          <p:cNvPr id="8" name="search-pill-7">
            <a:extLst xmlns:a="http://schemas.openxmlformats.org/drawingml/2006/main">
              <a:ext uri="{FF2B5EF4-FFF2-40B4-BE49-F238E27FC236}">
                <a16:creationId xmlns:a16="http://schemas.microsoft.com/office/drawing/2014/main" id="{B7794CB0-2A44-4FFE-A876-90B23C12C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400050"/>
            <a:ext cx="495300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AEF"/>
          </a:solidFill>
        </p:spPr>
      </p:sp>
      <p:sp>
        <p:nvSpPr>
          <p:cNvPr id="9" name="search-text-7">
            <a:extLst xmlns:a="http://schemas.openxmlformats.org/drawingml/2006/main">
              <a:ext uri="{FF2B5EF4-FFF2-40B4-BE49-F238E27FC236}">
                <a16:creationId xmlns:a16="http://schemas.microsoft.com/office/drawing/2014/main" id="{1ABAC8C9-5C17-433D-86D4-DE5782516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68300" y="495300"/>
            <a:ext cx="45339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55B6D"/>
                </a:solidFill>
                <a:latin typeface="Inter"/>
                <a:ea typeface="Inter"/>
                <a:cs typeface="Inter"/>
              </a:defRPr>
            </a:pPr>
            <a:r>
              <a:rPr sz="1125">
                <a:solidFill>
                  <a:srgbClr val="555B6D"/>
                </a:solidFill>
                <a:latin typeface="Inter"/>
                <a:ea typeface="Inter"/>
                <a:cs typeface="Inter"/>
              </a:rPr>
              <a:t>Buscar en Etendo GO / preguntar al agente</a:t>
            </a:r>
          </a:p>
        </p:txBody>
      </p:sp>
      <p:sp>
        <p:nvSpPr>
          <p:cNvPr id="10" name="slide-title-7">
            <a:extLst xmlns:a="http://schemas.openxmlformats.org/drawingml/2006/main">
              <a:ext uri="{FF2B5EF4-FFF2-40B4-BE49-F238E27FC236}">
                <a16:creationId xmlns:a16="http://schemas.microsoft.com/office/drawing/2014/main" id="{C8F6CC92-723C-492B-A9E6-39A08BF63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876300"/>
            <a:ext cx="161925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21217"/>
                </a:solidFill>
                <a:latin typeface="Inter"/>
                <a:ea typeface="Inter"/>
                <a:cs typeface="Inter"/>
              </a:defRPr>
            </a:pPr>
            <a:r>
              <a:rPr sz="3900" b="1">
                <a:solidFill>
                  <a:srgbClr val="121217"/>
                </a:solidFill>
                <a:latin typeface="Inter"/>
                <a:ea typeface="Inter"/>
                <a:cs typeface="Inter"/>
              </a:rPr>
              <a:t>Ya hay una base amplia, no una prueba aislada</a:t>
            </a:r>
          </a:p>
        </p:txBody>
      </p:sp>
      <p:sp>
        <p:nvSpPr>
          <p:cNvPr id="11" name="slide-subtitle-7">
            <a:extLst xmlns:a="http://schemas.openxmlformats.org/drawingml/2006/main">
              <a:ext uri="{FF2B5EF4-FFF2-40B4-BE49-F238E27FC236}">
                <a16:creationId xmlns:a16="http://schemas.microsoft.com/office/drawing/2014/main" id="{39628317-D8AA-4C1C-91A5-489AD5C1A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581150"/>
            <a:ext cx="1059180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2025">
                <a:solidFill>
                  <a:srgbClr val="6C6C89"/>
                </a:solidFill>
                <a:latin typeface="Inter"/>
                <a:ea typeface="Inter"/>
                <a:cs typeface="Inter"/>
              </a:defRPr>
            </a:pPr>
            <a:r>
              <a:rPr sz="2025">
                <a:solidFill>
                  <a:srgbClr val="6C6C89"/>
                </a:solidFill>
                <a:latin typeface="Inter"/>
                <a:ea typeface="Inter"/>
                <a:cs typeface="Inter"/>
              </a:rPr>
              <a:t>Etendo GO ya tiene superficie modelada, generada y documentada con datos concretos del repositorio.</a:t>
            </a:r>
          </a:p>
        </p:txBody>
      </p:sp>
      <p:sp>
        <p:nvSpPr>
          <p:cNvPr id="12" name="s7-m1-value">
            <a:extLst xmlns:a="http://schemas.openxmlformats.org/drawingml/2006/main">
              <a:ext uri="{FF2B5EF4-FFF2-40B4-BE49-F238E27FC236}">
                <a16:creationId xmlns:a16="http://schemas.microsoft.com/office/drawing/2014/main" id="{829F33D6-18EE-413D-BAFE-CB1FF3AD3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743450"/>
            <a:ext cx="37719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21217"/>
                </a:solidFill>
                <a:latin typeface="Inter"/>
                <a:ea typeface="Inter"/>
                <a:cs typeface="Inter"/>
              </a:defRPr>
            </a:pPr>
            <a:r>
              <a:rPr sz="4050" b="1">
                <a:solidFill>
                  <a:srgbClr val="121217"/>
                </a:solidFill>
                <a:latin typeface="Inter"/>
                <a:ea typeface="Inter"/>
                <a:cs typeface="Inter"/>
              </a:rPr>
              <a:t>80</a:t>
            </a:r>
          </a:p>
        </p:txBody>
      </p:sp>
      <p:sp>
        <p:nvSpPr>
          <p:cNvPr id="13" name="s7-m1-label">
            <a:extLst xmlns:a="http://schemas.openxmlformats.org/drawingml/2006/main">
              <a:ext uri="{FF2B5EF4-FFF2-40B4-BE49-F238E27FC236}">
                <a16:creationId xmlns:a16="http://schemas.microsoft.com/office/drawing/2014/main" id="{44CFEEB0-8449-4E26-9BBD-272295DC7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429250"/>
            <a:ext cx="37719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C6C89"/>
                </a:solidFill>
                <a:latin typeface="Inter"/>
                <a:ea typeface="Inter"/>
                <a:cs typeface="Inter"/>
              </a:defRPr>
            </a:pPr>
            <a:r>
              <a:rPr sz="1200">
                <a:solidFill>
                  <a:srgbClr val="6C6C89"/>
                </a:solidFill>
                <a:latin typeface="Inter"/>
                <a:ea typeface="Inter"/>
                <a:cs typeface="Inter"/>
              </a:rPr>
              <a:t>artefactos</a:t>
            </a:r>
          </a:p>
        </p:txBody>
      </p:sp>
      <p:sp>
        <p:nvSpPr>
          <p:cNvPr id="14" name="s7-m2-value">
            <a:extLst xmlns:a="http://schemas.openxmlformats.org/drawingml/2006/main">
              <a:ext uri="{FF2B5EF4-FFF2-40B4-BE49-F238E27FC236}">
                <a16:creationId xmlns:a16="http://schemas.microsoft.com/office/drawing/2014/main" id="{BA426F2D-07BA-45D8-95DD-4681DCA9C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4743450"/>
            <a:ext cx="37719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21217"/>
                </a:solidFill>
                <a:latin typeface="Inter"/>
                <a:ea typeface="Inter"/>
                <a:cs typeface="Inter"/>
              </a:defRPr>
            </a:pPr>
            <a:r>
              <a:rPr sz="4050" b="1">
                <a:solidFill>
                  <a:srgbClr val="121217"/>
                </a:solidFill>
                <a:latin typeface="Inter"/>
                <a:ea typeface="Inter"/>
                <a:cs typeface="Inter"/>
              </a:rPr>
              <a:t>53</a:t>
            </a:r>
          </a:p>
        </p:txBody>
      </p:sp>
      <p:sp>
        <p:nvSpPr>
          <p:cNvPr id="15" name="s7-m2-label">
            <a:extLst xmlns:a="http://schemas.openxmlformats.org/drawingml/2006/main">
              <a:ext uri="{FF2B5EF4-FFF2-40B4-BE49-F238E27FC236}">
                <a16:creationId xmlns:a16="http://schemas.microsoft.com/office/drawing/2014/main" id="{9CA82142-0B64-4EF6-A6EE-1B4C7586C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5429250"/>
            <a:ext cx="37719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C6C89"/>
                </a:solidFill>
                <a:latin typeface="Inter"/>
                <a:ea typeface="Inter"/>
                <a:cs typeface="Inter"/>
              </a:defRPr>
            </a:pPr>
            <a:r>
              <a:rPr sz="1200">
                <a:solidFill>
                  <a:srgbClr val="6C6C89"/>
                </a:solidFill>
                <a:latin typeface="Inter"/>
                <a:ea typeface="Inter"/>
                <a:cs typeface="Inter"/>
              </a:rPr>
              <a:t>contratos de ventanas</a:t>
            </a:r>
          </a:p>
        </p:txBody>
      </p:sp>
      <p:sp>
        <p:nvSpPr>
          <p:cNvPr id="16" name="s7-m3-value">
            <a:extLst xmlns:a="http://schemas.openxmlformats.org/drawingml/2006/main">
              <a:ext uri="{FF2B5EF4-FFF2-40B4-BE49-F238E27FC236}">
                <a16:creationId xmlns:a16="http://schemas.microsoft.com/office/drawing/2014/main" id="{B78ADBD5-7FCF-4348-BA83-793FE06F7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743450"/>
            <a:ext cx="37719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21217"/>
                </a:solidFill>
                <a:latin typeface="Inter"/>
                <a:ea typeface="Inter"/>
                <a:cs typeface="Inter"/>
              </a:defRPr>
            </a:pPr>
            <a:r>
              <a:rPr sz="4050" b="1">
                <a:solidFill>
                  <a:srgbClr val="121217"/>
                </a:solidFill>
                <a:latin typeface="Inter"/>
                <a:ea typeface="Inter"/>
                <a:cs typeface="Inter"/>
              </a:rPr>
              <a:t>17</a:t>
            </a:r>
          </a:p>
        </p:txBody>
      </p:sp>
      <p:sp>
        <p:nvSpPr>
          <p:cNvPr id="17" name="s7-m3-label">
            <a:extLst xmlns:a="http://schemas.openxmlformats.org/drawingml/2006/main">
              <a:ext uri="{FF2B5EF4-FFF2-40B4-BE49-F238E27FC236}">
                <a16:creationId xmlns:a16="http://schemas.microsoft.com/office/drawing/2014/main" id="{0765E252-861B-4647-9154-89345ED83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429250"/>
            <a:ext cx="37719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C6C89"/>
                </a:solidFill>
                <a:latin typeface="Inter"/>
                <a:ea typeface="Inter"/>
                <a:cs typeface="Inter"/>
              </a:defRPr>
            </a:pPr>
            <a:r>
              <a:rPr sz="1200">
                <a:solidFill>
                  <a:srgbClr val="6C6C89"/>
                </a:solidFill>
                <a:latin typeface="Inter"/>
                <a:ea typeface="Inter"/>
                <a:cs typeface="Inter"/>
              </a:rPr>
              <a:t>contratos de reportes</a:t>
            </a:r>
          </a:p>
        </p:txBody>
      </p:sp>
      <p:sp>
        <p:nvSpPr>
          <p:cNvPr id="18" name="s7-m4-value">
            <a:extLst xmlns:a="http://schemas.openxmlformats.org/drawingml/2006/main">
              <a:ext uri="{FF2B5EF4-FFF2-40B4-BE49-F238E27FC236}">
                <a16:creationId xmlns:a16="http://schemas.microsoft.com/office/drawing/2014/main" id="{C3DE3932-88C3-4344-A951-FC662158F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39850" y="4743450"/>
            <a:ext cx="37719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21217"/>
                </a:solidFill>
                <a:latin typeface="Inter"/>
                <a:ea typeface="Inter"/>
                <a:cs typeface="Inter"/>
              </a:defRPr>
            </a:pPr>
            <a:r>
              <a:rPr sz="4050" b="1">
                <a:solidFill>
                  <a:srgbClr val="121217"/>
                </a:solidFill>
                <a:latin typeface="Inter"/>
                <a:ea typeface="Inter"/>
                <a:cs typeface="Inter"/>
              </a:rPr>
              <a:t>11</a:t>
            </a:r>
          </a:p>
        </p:txBody>
      </p:sp>
      <p:sp>
        <p:nvSpPr>
          <p:cNvPr id="19" name="s7-m4-label">
            <a:extLst xmlns:a="http://schemas.openxmlformats.org/drawingml/2006/main">
              <a:ext uri="{FF2B5EF4-FFF2-40B4-BE49-F238E27FC236}">
                <a16:creationId xmlns:a16="http://schemas.microsoft.com/office/drawing/2014/main" id="{7743E5DD-1220-4557-86A7-5C5D845BD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39850" y="5429250"/>
            <a:ext cx="37719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C6C89"/>
                </a:solidFill>
                <a:latin typeface="Inter"/>
                <a:ea typeface="Inter"/>
                <a:cs typeface="Inter"/>
              </a:defRPr>
            </a:pPr>
            <a:r>
              <a:rPr sz="1200">
                <a:solidFill>
                  <a:srgbClr val="6C6C89"/>
                </a:solidFill>
                <a:latin typeface="Inter"/>
                <a:ea typeface="Inter"/>
                <a:cs typeface="Inter"/>
              </a:rPr>
              <a:t>dashboards / agregados</a:t>
            </a:r>
          </a:p>
        </p:txBody>
      </p:sp>
      <p:sp>
        <p:nvSpPr>
          <p:cNvPr id="20" name="s7-rule">
            <a:extLst xmlns:a="http://schemas.openxmlformats.org/drawingml/2006/main">
              <a:ext uri="{FF2B5EF4-FFF2-40B4-BE49-F238E27FC236}">
                <a16:creationId xmlns:a16="http://schemas.microsoft.com/office/drawing/2014/main" id="{E08122AE-2510-40CA-8B34-6B8F9F861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6000750"/>
            <a:ext cx="1619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AEF"/>
          </a:solidFill>
          <a:ln xmlns:a="http://schemas.openxmlformats.org/drawingml/2006/main" w="0">
            <a:solidFill>
              <a:srgbClr val="E8EAEF"/>
            </a:solidFill>
            <a:prstDash val="solid"/>
          </a:ln>
        </p:spPr>
      </p:sp>
      <p:sp>
        <p:nvSpPr>
          <p:cNvPr id="21" name="s7-m5-value">
            <a:extLst xmlns:a="http://schemas.openxmlformats.org/drawingml/2006/main">
              <a:ext uri="{FF2B5EF4-FFF2-40B4-BE49-F238E27FC236}">
                <a16:creationId xmlns:a16="http://schemas.microsoft.com/office/drawing/2014/main" id="{97CCAB91-9746-4ACA-AC9D-D8AABE1EC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6400800"/>
            <a:ext cx="51054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2563EB"/>
                </a:solidFill>
                <a:latin typeface="Inter"/>
                <a:ea typeface="Inter"/>
                <a:cs typeface="Inter"/>
              </a:defRPr>
            </a:pPr>
            <a:r>
              <a:rPr sz="4050" b="1">
                <a:solidFill>
                  <a:srgbClr val="2563EB"/>
                </a:solidFill>
                <a:latin typeface="Inter"/>
                <a:ea typeface="Inter"/>
                <a:cs typeface="Inter"/>
              </a:rPr>
              <a:t>142</a:t>
            </a:r>
          </a:p>
        </p:txBody>
      </p:sp>
      <p:sp>
        <p:nvSpPr>
          <p:cNvPr id="22" name="s7-m5-label">
            <a:extLst xmlns:a="http://schemas.openxmlformats.org/drawingml/2006/main">
              <a:ext uri="{FF2B5EF4-FFF2-40B4-BE49-F238E27FC236}">
                <a16:creationId xmlns:a16="http://schemas.microsoft.com/office/drawing/2014/main" id="{6C9D1D51-EBF3-41C2-9AC6-904EB3B84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7086600"/>
            <a:ext cx="51054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C6C89"/>
                </a:solidFill>
                <a:latin typeface="Inter"/>
                <a:ea typeface="Inter"/>
                <a:cs typeface="Inter"/>
              </a:defRPr>
            </a:pPr>
            <a:r>
              <a:rPr sz="1200">
                <a:solidFill>
                  <a:srgbClr val="6C6C89"/>
                </a:solidFill>
                <a:latin typeface="Inter"/>
                <a:ea typeface="Inter"/>
                <a:cs typeface="Inter"/>
              </a:rPr>
              <a:t>entidades modeladas</a:t>
            </a:r>
          </a:p>
        </p:txBody>
      </p:sp>
      <p:sp>
        <p:nvSpPr>
          <p:cNvPr id="23" name="s7-m6-value">
            <a:extLst xmlns:a="http://schemas.openxmlformats.org/drawingml/2006/main">
              <a:ext uri="{FF2B5EF4-FFF2-40B4-BE49-F238E27FC236}">
                <a16:creationId xmlns:a16="http://schemas.microsoft.com/office/drawing/2014/main" id="{028277D2-F6F2-41C7-9D68-E045732C9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6400800"/>
            <a:ext cx="51054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2563EB"/>
                </a:solidFill>
                <a:latin typeface="Inter"/>
                <a:ea typeface="Inter"/>
                <a:cs typeface="Inter"/>
              </a:defRPr>
            </a:pPr>
            <a:r>
              <a:rPr sz="4050" b="1">
                <a:solidFill>
                  <a:srgbClr val="2563EB"/>
                </a:solidFill>
                <a:latin typeface="Inter"/>
                <a:ea typeface="Inter"/>
                <a:cs typeface="Inter"/>
              </a:rPr>
              <a:t>1.321</a:t>
            </a:r>
          </a:p>
        </p:txBody>
      </p:sp>
      <p:sp>
        <p:nvSpPr>
          <p:cNvPr id="24" name="s7-m6-label">
            <a:extLst xmlns:a="http://schemas.openxmlformats.org/drawingml/2006/main">
              <a:ext uri="{FF2B5EF4-FFF2-40B4-BE49-F238E27FC236}">
                <a16:creationId xmlns:a16="http://schemas.microsoft.com/office/drawing/2014/main" id="{C8EFB614-67E2-4DC7-80AF-DE5FFCF44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7086600"/>
            <a:ext cx="51054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C6C89"/>
                </a:solidFill>
                <a:latin typeface="Inter"/>
                <a:ea typeface="Inter"/>
                <a:cs typeface="Inter"/>
              </a:defRPr>
            </a:pPr>
            <a:r>
              <a:rPr sz="1200">
                <a:solidFill>
                  <a:srgbClr val="6C6C89"/>
                </a:solidFill>
                <a:latin typeface="Inter"/>
                <a:ea typeface="Inter"/>
                <a:cs typeface="Inter"/>
              </a:rPr>
              <a:t>campos expuestos</a:t>
            </a:r>
          </a:p>
        </p:txBody>
      </p:sp>
      <p:sp>
        <p:nvSpPr>
          <p:cNvPr id="25" name="s7-m7-value">
            <a:extLst xmlns:a="http://schemas.openxmlformats.org/drawingml/2006/main">
              <a:ext uri="{FF2B5EF4-FFF2-40B4-BE49-F238E27FC236}">
                <a16:creationId xmlns:a16="http://schemas.microsoft.com/office/drawing/2014/main" id="{F1DBC514-8372-4180-B0B9-1F46580AD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06350" y="6400800"/>
            <a:ext cx="51054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2563EB"/>
                </a:solidFill>
                <a:latin typeface="Inter"/>
                <a:ea typeface="Inter"/>
                <a:cs typeface="Inter"/>
              </a:defRPr>
            </a:pPr>
            <a:r>
              <a:rPr sz="4050" b="1">
                <a:solidFill>
                  <a:srgbClr val="2563EB"/>
                </a:solidFill>
                <a:latin typeface="Inter"/>
                <a:ea typeface="Inter"/>
                <a:cs typeface="Inter"/>
              </a:rPr>
              <a:t>40</a:t>
            </a:r>
          </a:p>
        </p:txBody>
      </p:sp>
      <p:sp>
        <p:nvSpPr>
          <p:cNvPr id="26" name="s7-m7-label">
            <a:extLst xmlns:a="http://schemas.openxmlformats.org/drawingml/2006/main">
              <a:ext uri="{FF2B5EF4-FFF2-40B4-BE49-F238E27FC236}">
                <a16:creationId xmlns:a16="http://schemas.microsoft.com/office/drawing/2014/main" id="{0B3B427F-0E40-4DEB-AD7C-31B3D68BB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06350" y="7086600"/>
            <a:ext cx="51054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C6C89"/>
                </a:solidFill>
                <a:latin typeface="Inter"/>
                <a:ea typeface="Inter"/>
                <a:cs typeface="Inter"/>
              </a:defRPr>
            </a:pPr>
            <a:r>
              <a:rPr sz="1200">
                <a:solidFill>
                  <a:srgbClr val="6C6C89"/>
                </a:solidFill>
                <a:latin typeface="Inter"/>
                <a:ea typeface="Inter"/>
                <a:cs typeface="Inter"/>
              </a:rPr>
              <a:t>guías funcionales</a:t>
            </a:r>
          </a:p>
        </p:txBody>
      </p:sp>
      <p:sp>
        <p:nvSpPr>
          <p:cNvPr id="27" name="footer-left-7">
            <a:extLst xmlns:a="http://schemas.openxmlformats.org/drawingml/2006/main">
              <a:ext uri="{FF2B5EF4-FFF2-40B4-BE49-F238E27FC236}">
                <a16:creationId xmlns:a16="http://schemas.microsoft.com/office/drawing/2014/main" id="{AD5858C8-5A35-4A64-B157-4F95152B6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9734550"/>
            <a:ext cx="59055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828FA3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828FA3"/>
                </a:solidFill>
                <a:latin typeface="Inter"/>
                <a:ea typeface="Inter"/>
                <a:cs typeface="Inter"/>
              </a:rPr>
              <a:t>Etendo GO · Producto · 2026-04-30</a:t>
            </a:r>
          </a:p>
        </p:txBody>
      </p:sp>
      <p:sp>
        <p:nvSpPr>
          <p:cNvPr id="28" name="footer-right-7">
            <a:extLst xmlns:a="http://schemas.openxmlformats.org/drawingml/2006/main">
              <a:ext uri="{FF2B5EF4-FFF2-40B4-BE49-F238E27FC236}">
                <a16:creationId xmlns:a16="http://schemas.microsoft.com/office/drawing/2014/main" id="{42DCA7AE-C33A-4B33-BDB6-6ABE9D76E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0" y="9734550"/>
            <a:ext cx="24765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828FA3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828FA3"/>
                </a:solidFill>
                <a:latin typeface="Inter"/>
                <a:ea typeface="Inter"/>
                <a:cs typeface="Inter"/>
              </a:rPr>
              <a:t>Schema Forge snapshot</a:t>
            </a:r>
          </a:p>
        </p:txBody>
      </p:sp>
    </p:spTree>
    <p:extLst>
      <p:ext uri="{BB962C8B-B14F-4D97-AF65-F5344CB8AC3E}">
        <p14:creationId xmlns:p14="http://schemas.microsoft.com/office/powerpoint/2010/main" val="133768785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left-rail-8">
            <a:extLst xmlns:a="http://schemas.openxmlformats.org/drawingml/2006/main">
              <a:ext uri="{FF2B5EF4-FFF2-40B4-BE49-F238E27FC236}">
                <a16:creationId xmlns:a16="http://schemas.microsoft.com/office/drawing/2014/main" id="{75968846-CC46-4F9C-B051-80396E420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00050"/>
            <a:ext cx="819150" cy="948690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AEF"/>
            </a:solidFill>
            <a:prstDash val="solid"/>
          </a:ln>
        </p:spPr>
      </p:sp>
      <p:pic>
        <p:nvPicPr>
          <p:cNvPr id="2" name="favicon-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9f3e9d62ea48c5"/>
          <a:stretch xmlns:a="http://schemas.openxmlformats.org/drawingml/2006/main"/>
        </p:blipFill>
        <p:spPr>
          <a:xfrm xmlns:a="http://schemas.openxmlformats.org/drawingml/2006/main">
            <a:off x="723900" y="571500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3" name="rail-accent-8">
            <a:extLst xmlns:a="http://schemas.openxmlformats.org/drawingml/2006/main">
              <a:ext uri="{FF2B5EF4-FFF2-40B4-BE49-F238E27FC236}">
                <a16:creationId xmlns:a16="http://schemas.microsoft.com/office/drawing/2014/main" id="{A3B2C926-EA9F-421F-BBDC-D355FBAF3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19600"/>
            <a:ext cx="76200" cy="1143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D500"/>
          </a:solidFill>
          <a:ln xmlns:a="http://schemas.openxmlformats.org/drawingml/2006/main" w="0">
            <a:solidFill>
              <a:srgbClr val="FFD500"/>
            </a:solidFill>
            <a:prstDash val="solid"/>
          </a:ln>
        </p:spPr>
      </p:sp>
      <p:sp>
        <p:nvSpPr>
          <p:cNvPr id="4" name="rail-section-8">
            <a:extLst xmlns:a="http://schemas.openxmlformats.org/drawingml/2006/main">
              <a:ext uri="{FF2B5EF4-FFF2-40B4-BE49-F238E27FC236}">
                <a16:creationId xmlns:a16="http://schemas.microsoft.com/office/drawing/2014/main" id="{5CE40213-9946-4F84-BBA5-10A204ADA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15000"/>
            <a:ext cx="6286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C6C89"/>
                </a:solidFill>
                <a:latin typeface="Inter"/>
                <a:ea typeface="Inter"/>
                <a:cs typeface="Inter"/>
              </a:defRPr>
            </a:pPr>
            <a:r>
              <a:rPr sz="975" b="1">
                <a:solidFill>
                  <a:srgbClr val="6C6C89"/>
                </a:solidFill>
                <a:latin typeface="Inter"/>
                <a:ea typeface="Inter"/>
                <a:cs typeface="Inter"/>
              </a:rPr>
              <a:t>Calidad e IA</a:t>
            </a:r>
          </a:p>
        </p:txBody>
      </p:sp>
      <p:sp>
        <p:nvSpPr>
          <p:cNvPr id="5" name="rail-number-8">
            <a:extLst xmlns:a="http://schemas.openxmlformats.org/drawingml/2006/main">
              <a:ext uri="{FF2B5EF4-FFF2-40B4-BE49-F238E27FC236}">
                <a16:creationId xmlns:a16="http://schemas.microsoft.com/office/drawing/2014/main" id="{72326265-5EF0-4DAD-BE9E-433004C9B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0"/>
            <a:ext cx="571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828FA3"/>
                </a:solidFill>
                <a:latin typeface="Inter"/>
                <a:ea typeface="Inter"/>
                <a:cs typeface="Inter"/>
              </a:defRPr>
            </a:pPr>
            <a:r>
              <a:rPr sz="1200" b="1">
                <a:solidFill>
                  <a:srgbClr val="828FA3"/>
                </a:solidFill>
                <a:latin typeface="Inter"/>
                <a:ea typeface="Inter"/>
                <a:cs typeface="Inter"/>
              </a:rPr>
              <a:t>08</a:t>
            </a:r>
          </a:p>
        </p:txBody>
      </p:sp>
      <p:sp>
        <p:nvSpPr>
          <p:cNvPr id="6" name="section-pill-8">
            <a:extLst xmlns:a="http://schemas.openxmlformats.org/drawingml/2006/main">
              <a:ext uri="{FF2B5EF4-FFF2-40B4-BE49-F238E27FC236}">
                <a16:creationId xmlns:a16="http://schemas.microsoft.com/office/drawing/2014/main" id="{C76DAEA9-B7B2-40CB-833B-765D4D974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19100"/>
            <a:ext cx="121720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D500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section-pill-8-text">
            <a:extLst xmlns:a="http://schemas.openxmlformats.org/drawingml/2006/main">
              <a:ext uri="{FF2B5EF4-FFF2-40B4-BE49-F238E27FC236}">
                <a16:creationId xmlns:a16="http://schemas.microsoft.com/office/drawing/2014/main" id="{B41B0EFA-B7C3-4790-973F-DC8D15B4C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95300"/>
            <a:ext cx="8763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21217"/>
                </a:solidFill>
                <a:latin typeface="Inter"/>
                <a:ea typeface="Inter"/>
                <a:cs typeface="Inter"/>
              </a:defRPr>
            </a:pPr>
            <a:r>
              <a:rPr sz="1200" b="1">
                <a:solidFill>
                  <a:srgbClr val="121217"/>
                </a:solidFill>
                <a:latin typeface="Inter"/>
                <a:ea typeface="Inter"/>
                <a:cs typeface="Inter"/>
              </a:rPr>
              <a:t>Calidad e IA</a:t>
            </a:r>
          </a:p>
        </p:txBody>
      </p:sp>
      <p:sp>
        <p:nvSpPr>
          <p:cNvPr id="8" name="search-pill-8">
            <a:extLst xmlns:a="http://schemas.openxmlformats.org/drawingml/2006/main">
              <a:ext uri="{FF2B5EF4-FFF2-40B4-BE49-F238E27FC236}">
                <a16:creationId xmlns:a16="http://schemas.microsoft.com/office/drawing/2014/main" id="{60E14DBC-03AF-4760-A958-C36F4C5A6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400050"/>
            <a:ext cx="495300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AEF"/>
          </a:solidFill>
        </p:spPr>
      </p:sp>
      <p:sp>
        <p:nvSpPr>
          <p:cNvPr id="9" name="search-text-8">
            <a:extLst xmlns:a="http://schemas.openxmlformats.org/drawingml/2006/main">
              <a:ext uri="{FF2B5EF4-FFF2-40B4-BE49-F238E27FC236}">
                <a16:creationId xmlns:a16="http://schemas.microsoft.com/office/drawing/2014/main" id="{993F27AE-FB1F-480B-8E9B-6B9EB40C1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68300" y="495300"/>
            <a:ext cx="45339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55B6D"/>
                </a:solidFill>
                <a:latin typeface="Inter"/>
                <a:ea typeface="Inter"/>
                <a:cs typeface="Inter"/>
              </a:defRPr>
            </a:pPr>
            <a:r>
              <a:rPr sz="1125">
                <a:solidFill>
                  <a:srgbClr val="555B6D"/>
                </a:solidFill>
                <a:latin typeface="Inter"/>
                <a:ea typeface="Inter"/>
                <a:cs typeface="Inter"/>
              </a:rPr>
              <a:t>Buscar en Etendo GO / preguntar al agente</a:t>
            </a:r>
          </a:p>
        </p:txBody>
      </p:sp>
      <p:sp>
        <p:nvSpPr>
          <p:cNvPr id="10" name="slide-title-8">
            <a:extLst xmlns:a="http://schemas.openxmlformats.org/drawingml/2006/main">
              <a:ext uri="{FF2B5EF4-FFF2-40B4-BE49-F238E27FC236}">
                <a16:creationId xmlns:a16="http://schemas.microsoft.com/office/drawing/2014/main" id="{DAA0995C-C805-4ACD-AAE8-5532BDE4E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876300"/>
            <a:ext cx="161925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21217"/>
                </a:solidFill>
                <a:latin typeface="Inter"/>
                <a:ea typeface="Inter"/>
                <a:cs typeface="Inter"/>
              </a:defRPr>
            </a:pPr>
            <a:r>
              <a:rPr sz="3900" b="1">
                <a:solidFill>
                  <a:srgbClr val="121217"/>
                </a:solidFill>
                <a:latin typeface="Inter"/>
                <a:ea typeface="Inter"/>
                <a:cs typeface="Inter"/>
              </a:rPr>
              <a:t>La IA acelera, pero exige reglas más explícitas</a:t>
            </a:r>
          </a:p>
        </p:txBody>
      </p:sp>
      <p:sp>
        <p:nvSpPr>
          <p:cNvPr id="11" name="slide-subtitle-8">
            <a:extLst xmlns:a="http://schemas.openxmlformats.org/drawingml/2006/main">
              <a:ext uri="{FF2B5EF4-FFF2-40B4-BE49-F238E27FC236}">
                <a16:creationId xmlns:a16="http://schemas.microsoft.com/office/drawing/2014/main" id="{5331FCAE-5474-4E02-A11B-F411F3E29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581150"/>
            <a:ext cx="110680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2025">
                <a:solidFill>
                  <a:srgbClr val="6C6C89"/>
                </a:solidFill>
                <a:latin typeface="Inter"/>
                <a:ea typeface="Inter"/>
                <a:cs typeface="Inter"/>
              </a:defRPr>
            </a:pPr>
            <a:r>
              <a:rPr sz="2025">
                <a:solidFill>
                  <a:srgbClr val="6C6C89"/>
                </a:solidFill>
                <a:latin typeface="Inter"/>
                <a:ea typeface="Inter"/>
                <a:cs typeface="Inter"/>
              </a:rPr>
              <a:t>Velocidad sin precisión funcional produce inconsistencia. Las reglas de negocio tienen que estar escritas con más rigor.</a:t>
            </a:r>
          </a:p>
        </p:txBody>
      </p:sp>
      <p:sp>
        <p:nvSpPr>
          <p:cNvPr id="12" name="s8-formula-panel">
            <a:extLst xmlns:a="http://schemas.openxmlformats.org/drawingml/2006/main">
              <a:ext uri="{FF2B5EF4-FFF2-40B4-BE49-F238E27FC236}">
                <a16:creationId xmlns:a16="http://schemas.microsoft.com/office/drawing/2014/main" id="{F598B3C4-5163-449E-A228-6F3CF29F7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555291"/>
            <a:ext cx="7867650" cy="6904939"/>
          </a:xfrm>
          <a:prstGeom xmlns:a="http://schemas.openxmlformats.org/drawingml/2006/main" prst="roundRect">
            <a:avLst>
              <a:gd name="adj" fmla="val 1655"/>
            </a:avLst>
          </a:prstGeom>
          <a:solidFill xmlns:a="http://schemas.openxmlformats.org/drawingml/2006/main">
            <a:srgbClr val="121217"/>
          </a:solidFill>
          <a:ln xmlns:a="http://schemas.openxmlformats.org/drawingml/2006/main" w="0">
            <a:solidFill>
              <a:srgbClr val="121217"/>
            </a:solidFill>
            <a:prstDash val="solid"/>
          </a:ln>
        </p:spPr>
      </p:sp>
      <p:sp>
        <p:nvSpPr>
          <p:cNvPr id="13" name="s8-pill">
            <a:extLst xmlns:a="http://schemas.openxmlformats.org/drawingml/2006/main">
              <a:ext uri="{FF2B5EF4-FFF2-40B4-BE49-F238E27FC236}">
                <a16:creationId xmlns:a16="http://schemas.microsoft.com/office/drawing/2014/main" id="{5D47DFF7-CF79-4B6C-BD04-DAC3B131F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5259248"/>
            <a:ext cx="1784890" cy="35433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D500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s8-pill-text">
            <a:extLst xmlns:a="http://schemas.openxmlformats.org/drawingml/2006/main">
              <a:ext uri="{FF2B5EF4-FFF2-40B4-BE49-F238E27FC236}">
                <a16:creationId xmlns:a16="http://schemas.microsoft.com/office/drawing/2014/main" id="{AB6ADCBF-9244-4413-BB4E-BC893746A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334000"/>
            <a:ext cx="14478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21217"/>
                </a:solidFill>
                <a:latin typeface="Inter"/>
                <a:ea typeface="Inter"/>
                <a:cs typeface="Inter"/>
              </a:defRPr>
            </a:pPr>
            <a:r>
              <a:rPr sz="1200" b="1">
                <a:solidFill>
                  <a:srgbClr val="121217"/>
                </a:solidFill>
                <a:latin typeface="Inter"/>
                <a:ea typeface="Inter"/>
                <a:cs typeface="Inter"/>
              </a:rPr>
              <a:t>Ejemplo: descuento</a:t>
            </a:r>
          </a:p>
        </p:txBody>
      </p:sp>
      <p:sp>
        <p:nvSpPr>
          <p:cNvPr id="15" name="s8-code-1">
            <a:extLst xmlns:a="http://schemas.openxmlformats.org/drawingml/2006/main">
              <a:ext uri="{FF2B5EF4-FFF2-40B4-BE49-F238E27FC236}">
                <a16:creationId xmlns:a16="http://schemas.microsoft.com/office/drawing/2014/main" id="{7EBC11E8-E335-4364-AB47-77583A367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5867400"/>
            <a:ext cx="70675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800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1800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descuento = base imponible * porcentaje</a:t>
            </a:r>
          </a:p>
        </p:txBody>
      </p:sp>
      <p:sp>
        <p:nvSpPr>
          <p:cNvPr id="16" name="s8-code-2">
            <a:extLst xmlns:a="http://schemas.openxmlformats.org/drawingml/2006/main">
              <a:ext uri="{FF2B5EF4-FFF2-40B4-BE49-F238E27FC236}">
                <a16:creationId xmlns:a16="http://schemas.microsoft.com/office/drawing/2014/main" id="{1517A77A-61EA-4E1E-893B-629323CAE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6438900"/>
            <a:ext cx="70675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800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1800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total línea = base - descuento + impuestos</a:t>
            </a:r>
          </a:p>
        </p:txBody>
      </p:sp>
      <p:sp>
        <p:nvSpPr>
          <p:cNvPr id="17" name="s8-b1-dot">
            <a:extLst xmlns:a="http://schemas.openxmlformats.org/drawingml/2006/main">
              <a:ext uri="{FF2B5EF4-FFF2-40B4-BE49-F238E27FC236}">
                <a16:creationId xmlns:a16="http://schemas.microsoft.com/office/drawing/2014/main" id="{68784113-C541-4299-BC77-306C94BCA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4838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500"/>
          </a:solidFill>
          <a:ln xmlns:a="http://schemas.openxmlformats.org/drawingml/2006/main" w="0">
            <a:solidFill>
              <a:srgbClr val="FFD500"/>
            </a:solidFill>
            <a:prstDash val="solid"/>
          </a:ln>
        </p:spPr>
      </p:sp>
      <p:sp>
        <p:nvSpPr>
          <p:cNvPr id="18" name="s8-b1-text">
            <a:extLst xmlns:a="http://schemas.openxmlformats.org/drawingml/2006/main">
              <a:ext uri="{FF2B5EF4-FFF2-40B4-BE49-F238E27FC236}">
                <a16:creationId xmlns:a16="http://schemas.microsoft.com/office/drawing/2014/main" id="{F6CE22E0-C00B-4DC3-8B5A-D6AA42BAA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4838700"/>
            <a:ext cx="7620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6000"/>
              </a:lnSpc>
              <a:buNone/>
              <a:defRPr sz="1800">
                <a:solidFill>
                  <a:srgbClr val="6C6C89"/>
                </a:solidFill>
                <a:latin typeface="Inter"/>
                <a:ea typeface="Inter"/>
                <a:cs typeface="Inter"/>
              </a:defRPr>
            </a:pPr>
            <a:r>
              <a:rPr sz="1800">
                <a:solidFill>
                  <a:srgbClr val="6C6C89"/>
                </a:solidFill>
                <a:latin typeface="Inter"/>
                <a:ea typeface="Inter"/>
                <a:cs typeface="Inter"/>
              </a:rPr>
              <a:t>Sobre qué monto se calcula.</a:t>
            </a:r>
          </a:p>
        </p:txBody>
      </p:sp>
      <p:sp>
        <p:nvSpPr>
          <p:cNvPr id="19" name="s8-b2-dot">
            <a:extLst xmlns:a="http://schemas.openxmlformats.org/drawingml/2006/main">
              <a:ext uri="{FF2B5EF4-FFF2-40B4-BE49-F238E27FC236}">
                <a16:creationId xmlns:a16="http://schemas.microsoft.com/office/drawing/2014/main" id="{D98F0961-F913-4FBD-AD59-83F82B9CC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53340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500"/>
          </a:solidFill>
          <a:ln xmlns:a="http://schemas.openxmlformats.org/drawingml/2006/main" w="0">
            <a:solidFill>
              <a:srgbClr val="FFD500"/>
            </a:solidFill>
            <a:prstDash val="solid"/>
          </a:ln>
        </p:spPr>
      </p:sp>
      <p:sp>
        <p:nvSpPr>
          <p:cNvPr id="20" name="s8-b2-text">
            <a:extLst xmlns:a="http://schemas.openxmlformats.org/drawingml/2006/main">
              <a:ext uri="{FF2B5EF4-FFF2-40B4-BE49-F238E27FC236}">
                <a16:creationId xmlns:a16="http://schemas.microsoft.com/office/drawing/2014/main" id="{BADE44CF-B8D1-430E-88C1-B5D12EE18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5334000"/>
            <a:ext cx="7620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6000"/>
              </a:lnSpc>
              <a:buNone/>
              <a:defRPr sz="1800">
                <a:solidFill>
                  <a:srgbClr val="6C6C89"/>
                </a:solidFill>
                <a:latin typeface="Inter"/>
                <a:ea typeface="Inter"/>
                <a:cs typeface="Inter"/>
              </a:defRPr>
            </a:pPr>
            <a:r>
              <a:rPr sz="1800">
                <a:solidFill>
                  <a:srgbClr val="6C6C89"/>
                </a:solidFill>
                <a:latin typeface="Inter"/>
                <a:ea typeface="Inter"/>
                <a:cs typeface="Inter"/>
              </a:rPr>
              <a:t>En qué momento del flujo se aplica.</a:t>
            </a:r>
          </a:p>
        </p:txBody>
      </p:sp>
      <p:sp>
        <p:nvSpPr>
          <p:cNvPr id="21" name="s8-b3-dot">
            <a:extLst xmlns:a="http://schemas.openxmlformats.org/drawingml/2006/main">
              <a:ext uri="{FF2B5EF4-FFF2-40B4-BE49-F238E27FC236}">
                <a16:creationId xmlns:a16="http://schemas.microsoft.com/office/drawing/2014/main" id="{8D494EB1-20C9-457C-A33D-B9C36FA62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58483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500"/>
          </a:solidFill>
          <a:ln xmlns:a="http://schemas.openxmlformats.org/drawingml/2006/main" w="0">
            <a:solidFill>
              <a:srgbClr val="FFD500"/>
            </a:solidFill>
            <a:prstDash val="solid"/>
          </a:ln>
        </p:spPr>
      </p:sp>
      <p:sp>
        <p:nvSpPr>
          <p:cNvPr id="22" name="s8-b3-text">
            <a:extLst xmlns:a="http://schemas.openxmlformats.org/drawingml/2006/main">
              <a:ext uri="{FF2B5EF4-FFF2-40B4-BE49-F238E27FC236}">
                <a16:creationId xmlns:a16="http://schemas.microsoft.com/office/drawing/2014/main" id="{E1093677-647E-4E10-9B76-BF9B4F079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5848350"/>
            <a:ext cx="7620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6000"/>
              </a:lnSpc>
              <a:buNone/>
              <a:defRPr sz="1800">
                <a:solidFill>
                  <a:srgbClr val="6C6C89"/>
                </a:solidFill>
                <a:latin typeface="Inter"/>
                <a:ea typeface="Inter"/>
                <a:cs typeface="Inter"/>
              </a:defRPr>
            </a:pPr>
            <a:r>
              <a:rPr sz="1800">
                <a:solidFill>
                  <a:srgbClr val="6C6C89"/>
                </a:solidFill>
                <a:latin typeface="Inter"/>
                <a:ea typeface="Inter"/>
                <a:cs typeface="Inter"/>
              </a:rPr>
              <a:t>Qué redondeo usamos.</a:t>
            </a:r>
          </a:p>
        </p:txBody>
      </p:sp>
      <p:sp>
        <p:nvSpPr>
          <p:cNvPr id="23" name="s8-b4-dot">
            <a:extLst xmlns:a="http://schemas.openxmlformats.org/drawingml/2006/main">
              <a:ext uri="{FF2B5EF4-FFF2-40B4-BE49-F238E27FC236}">
                <a16:creationId xmlns:a16="http://schemas.microsoft.com/office/drawing/2014/main" id="{EE963BD1-CA9F-4922-8955-31810E9BD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6362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500"/>
          </a:solidFill>
          <a:ln xmlns:a="http://schemas.openxmlformats.org/drawingml/2006/main" w="0">
            <a:solidFill>
              <a:srgbClr val="FFD500"/>
            </a:solidFill>
            <a:prstDash val="solid"/>
          </a:ln>
        </p:spPr>
      </p:sp>
      <p:sp>
        <p:nvSpPr>
          <p:cNvPr id="24" name="s8-b4-text">
            <a:extLst xmlns:a="http://schemas.openxmlformats.org/drawingml/2006/main">
              <a:ext uri="{FF2B5EF4-FFF2-40B4-BE49-F238E27FC236}">
                <a16:creationId xmlns:a16="http://schemas.microsoft.com/office/drawing/2014/main" id="{85ABFDD5-1BB7-46B2-9B97-5D7F4B756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362700"/>
            <a:ext cx="7620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6000"/>
              </a:lnSpc>
              <a:buNone/>
              <a:defRPr sz="1800">
                <a:solidFill>
                  <a:srgbClr val="6C6C89"/>
                </a:solidFill>
                <a:latin typeface="Inter"/>
                <a:ea typeface="Inter"/>
                <a:cs typeface="Inter"/>
              </a:defRPr>
            </a:pPr>
            <a:r>
              <a:rPr sz="1800">
                <a:solidFill>
                  <a:srgbClr val="6C6C89"/>
                </a:solidFill>
                <a:latin typeface="Inter"/>
                <a:ea typeface="Inter"/>
                <a:cs typeface="Inter"/>
              </a:rPr>
              <a:t>Qué valida backend.</a:t>
            </a:r>
          </a:p>
        </p:txBody>
      </p:sp>
      <p:sp>
        <p:nvSpPr>
          <p:cNvPr id="25" name="s8-b5-dot">
            <a:extLst xmlns:a="http://schemas.openxmlformats.org/drawingml/2006/main">
              <a:ext uri="{FF2B5EF4-FFF2-40B4-BE49-F238E27FC236}">
                <a16:creationId xmlns:a16="http://schemas.microsoft.com/office/drawing/2014/main" id="{B84D1C64-7B64-49A0-8E4D-777D0D305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68580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500"/>
          </a:solidFill>
          <a:ln xmlns:a="http://schemas.openxmlformats.org/drawingml/2006/main" w="0">
            <a:solidFill>
              <a:srgbClr val="FFD500"/>
            </a:solidFill>
            <a:prstDash val="solid"/>
          </a:ln>
        </p:spPr>
      </p:sp>
      <p:sp>
        <p:nvSpPr>
          <p:cNvPr id="26" name="s8-b5-text">
            <a:extLst xmlns:a="http://schemas.openxmlformats.org/drawingml/2006/main">
              <a:ext uri="{FF2B5EF4-FFF2-40B4-BE49-F238E27FC236}">
                <a16:creationId xmlns:a16="http://schemas.microsoft.com/office/drawing/2014/main" id="{6F62BF6D-3EC8-4EEA-8F63-DE650F40B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858000"/>
            <a:ext cx="7620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6000"/>
              </a:lnSpc>
              <a:buNone/>
              <a:defRPr sz="1800">
                <a:solidFill>
                  <a:srgbClr val="6C6C89"/>
                </a:solidFill>
                <a:latin typeface="Inter"/>
                <a:ea typeface="Inter"/>
                <a:cs typeface="Inter"/>
              </a:defRPr>
            </a:pPr>
            <a:r>
              <a:rPr sz="1800">
                <a:solidFill>
                  <a:srgbClr val="6C6C89"/>
                </a:solidFill>
                <a:latin typeface="Inter"/>
                <a:ea typeface="Inter"/>
                <a:cs typeface="Inter"/>
              </a:rPr>
              <a:t>Qué muestra frontend.</a:t>
            </a:r>
          </a:p>
        </p:txBody>
      </p:sp>
      <p:sp>
        <p:nvSpPr>
          <p:cNvPr id="27" name="footer-left-8">
            <a:extLst xmlns:a="http://schemas.openxmlformats.org/drawingml/2006/main">
              <a:ext uri="{FF2B5EF4-FFF2-40B4-BE49-F238E27FC236}">
                <a16:creationId xmlns:a16="http://schemas.microsoft.com/office/drawing/2014/main" id="{07DA535C-643E-43E7-A5BB-21CBBB02F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9734550"/>
            <a:ext cx="59055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828FA3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828FA3"/>
                </a:solidFill>
                <a:latin typeface="Inter"/>
                <a:ea typeface="Inter"/>
                <a:cs typeface="Inter"/>
              </a:rPr>
              <a:t>Etendo GO · Producto · 2026-04-30</a:t>
            </a:r>
          </a:p>
        </p:txBody>
      </p:sp>
      <p:sp>
        <p:nvSpPr>
          <p:cNvPr id="28" name="footer-right-8">
            <a:extLst xmlns:a="http://schemas.openxmlformats.org/drawingml/2006/main">
              <a:ext uri="{FF2B5EF4-FFF2-40B4-BE49-F238E27FC236}">
                <a16:creationId xmlns:a16="http://schemas.microsoft.com/office/drawing/2014/main" id="{42007528-E9CA-46F4-86D9-4341B503F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0" y="9734550"/>
            <a:ext cx="24765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828FA3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828FA3"/>
                </a:solidFill>
                <a:latin typeface="Inter"/>
                <a:ea typeface="Inter"/>
                <a:cs typeface="Inter"/>
              </a:rPr>
              <a:t>Schema Forge snapshot</a:t>
            </a:r>
          </a:p>
        </p:txBody>
      </p:sp>
    </p:spTree>
    <p:extLst>
      <p:ext uri="{BB962C8B-B14F-4D97-AF65-F5344CB8AC3E}">
        <p14:creationId xmlns:p14="http://schemas.microsoft.com/office/powerpoint/2010/main" val="207186285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left-rail-9">
            <a:extLst xmlns:a="http://schemas.openxmlformats.org/drawingml/2006/main">
              <a:ext uri="{FF2B5EF4-FFF2-40B4-BE49-F238E27FC236}">
                <a16:creationId xmlns:a16="http://schemas.microsoft.com/office/drawing/2014/main" id="{36D8532A-4183-43CB-BA17-495EBAAEC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00050"/>
            <a:ext cx="819150" cy="948690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AEF"/>
            </a:solidFill>
            <a:prstDash val="solid"/>
          </a:ln>
        </p:spPr>
      </p:sp>
      <p:pic>
        <p:nvPicPr>
          <p:cNvPr id="2" name="favicon-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7d740161204b13"/>
          <a:stretch xmlns:a="http://schemas.openxmlformats.org/drawingml/2006/main"/>
        </p:blipFill>
        <p:spPr>
          <a:xfrm xmlns:a="http://schemas.openxmlformats.org/drawingml/2006/main">
            <a:off x="723900" y="571500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3" name="rail-accent-9">
            <a:extLst xmlns:a="http://schemas.openxmlformats.org/drawingml/2006/main">
              <a:ext uri="{FF2B5EF4-FFF2-40B4-BE49-F238E27FC236}">
                <a16:creationId xmlns:a16="http://schemas.microsoft.com/office/drawing/2014/main" id="{398CABE5-011A-4148-8533-E27AFC3D8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19600"/>
            <a:ext cx="76200" cy="1143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D500"/>
          </a:solidFill>
          <a:ln xmlns:a="http://schemas.openxmlformats.org/drawingml/2006/main" w="0">
            <a:solidFill>
              <a:srgbClr val="FFD500"/>
            </a:solidFill>
            <a:prstDash val="solid"/>
          </a:ln>
        </p:spPr>
      </p:sp>
      <p:sp>
        <p:nvSpPr>
          <p:cNvPr id="4" name="rail-section-9">
            <a:extLst xmlns:a="http://schemas.openxmlformats.org/drawingml/2006/main">
              <a:ext uri="{FF2B5EF4-FFF2-40B4-BE49-F238E27FC236}">
                <a16:creationId xmlns:a16="http://schemas.microsoft.com/office/drawing/2014/main" id="{7404343C-A67F-4B68-89AA-40368D914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15000"/>
            <a:ext cx="6286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C6C89"/>
                </a:solidFill>
                <a:latin typeface="Inter"/>
                <a:ea typeface="Inter"/>
                <a:cs typeface="Inter"/>
              </a:defRPr>
            </a:pPr>
            <a:r>
              <a:rPr sz="975" b="1">
                <a:solidFill>
                  <a:srgbClr val="6C6C89"/>
                </a:solidFill>
                <a:latin typeface="Inter"/>
                <a:ea typeface="Inter"/>
                <a:cs typeface="Inter"/>
              </a:rPr>
              <a:t>Dimensión agéntica</a:t>
            </a:r>
          </a:p>
        </p:txBody>
      </p:sp>
      <p:sp>
        <p:nvSpPr>
          <p:cNvPr id="5" name="rail-number-9">
            <a:extLst xmlns:a="http://schemas.openxmlformats.org/drawingml/2006/main">
              <a:ext uri="{FF2B5EF4-FFF2-40B4-BE49-F238E27FC236}">
                <a16:creationId xmlns:a16="http://schemas.microsoft.com/office/drawing/2014/main" id="{45968439-B8FE-4E1D-82BA-22D467C39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0"/>
            <a:ext cx="571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828FA3"/>
                </a:solidFill>
                <a:latin typeface="Inter"/>
                <a:ea typeface="Inter"/>
                <a:cs typeface="Inter"/>
              </a:defRPr>
            </a:pPr>
            <a:r>
              <a:rPr sz="1200" b="1">
                <a:solidFill>
                  <a:srgbClr val="828FA3"/>
                </a:solidFill>
                <a:latin typeface="Inter"/>
                <a:ea typeface="Inter"/>
                <a:cs typeface="Inter"/>
              </a:rPr>
              <a:t>09</a:t>
            </a:r>
          </a:p>
        </p:txBody>
      </p:sp>
      <p:sp>
        <p:nvSpPr>
          <p:cNvPr id="6" name="section-pill-9">
            <a:extLst xmlns:a="http://schemas.openxmlformats.org/drawingml/2006/main">
              <a:ext uri="{FF2B5EF4-FFF2-40B4-BE49-F238E27FC236}">
                <a16:creationId xmlns:a16="http://schemas.microsoft.com/office/drawing/2014/main" id="{A28BF0BF-9401-4DC8-92D7-F6DE8B84E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19100"/>
            <a:ext cx="1784413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D500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section-pill-9-text">
            <a:extLst xmlns:a="http://schemas.openxmlformats.org/drawingml/2006/main">
              <a:ext uri="{FF2B5EF4-FFF2-40B4-BE49-F238E27FC236}">
                <a16:creationId xmlns:a16="http://schemas.microsoft.com/office/drawing/2014/main" id="{43E9E7D7-9B98-4DB0-9ED6-01D2CB9F8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95300"/>
            <a:ext cx="14478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21217"/>
                </a:solidFill>
                <a:latin typeface="Inter"/>
                <a:ea typeface="Inter"/>
                <a:cs typeface="Inter"/>
              </a:defRPr>
            </a:pPr>
            <a:r>
              <a:rPr sz="1200" b="1">
                <a:solidFill>
                  <a:srgbClr val="121217"/>
                </a:solidFill>
                <a:latin typeface="Inter"/>
                <a:ea typeface="Inter"/>
                <a:cs typeface="Inter"/>
              </a:rPr>
              <a:t>Dimensión agéntica</a:t>
            </a:r>
          </a:p>
        </p:txBody>
      </p:sp>
      <p:sp>
        <p:nvSpPr>
          <p:cNvPr id="8" name="search-pill-9">
            <a:extLst xmlns:a="http://schemas.openxmlformats.org/drawingml/2006/main">
              <a:ext uri="{FF2B5EF4-FFF2-40B4-BE49-F238E27FC236}">
                <a16:creationId xmlns:a16="http://schemas.microsoft.com/office/drawing/2014/main" id="{E9ED9393-B582-42FD-AAA5-9735A9C94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400050"/>
            <a:ext cx="495300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AEF"/>
          </a:solidFill>
        </p:spPr>
      </p:sp>
      <p:sp>
        <p:nvSpPr>
          <p:cNvPr id="9" name="search-text-9">
            <a:extLst xmlns:a="http://schemas.openxmlformats.org/drawingml/2006/main">
              <a:ext uri="{FF2B5EF4-FFF2-40B4-BE49-F238E27FC236}">
                <a16:creationId xmlns:a16="http://schemas.microsoft.com/office/drawing/2014/main" id="{AAC1CE90-6C5C-450F-A238-39A8B624E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68300" y="495300"/>
            <a:ext cx="45339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55B6D"/>
                </a:solidFill>
                <a:latin typeface="Inter"/>
                <a:ea typeface="Inter"/>
                <a:cs typeface="Inter"/>
              </a:defRPr>
            </a:pPr>
            <a:r>
              <a:rPr sz="1125">
                <a:solidFill>
                  <a:srgbClr val="555B6D"/>
                </a:solidFill>
                <a:latin typeface="Inter"/>
                <a:ea typeface="Inter"/>
                <a:cs typeface="Inter"/>
              </a:rPr>
              <a:t>Buscar en Etendo GO / preguntar al agente</a:t>
            </a:r>
          </a:p>
        </p:txBody>
      </p:sp>
      <p:sp>
        <p:nvSpPr>
          <p:cNvPr id="10" name="slide-title-9">
            <a:extLst xmlns:a="http://schemas.openxmlformats.org/drawingml/2006/main">
              <a:ext uri="{FF2B5EF4-FFF2-40B4-BE49-F238E27FC236}">
                <a16:creationId xmlns:a16="http://schemas.microsoft.com/office/drawing/2014/main" id="{67D695FA-D6C8-4144-AC73-59D79E1EE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876300"/>
            <a:ext cx="161925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21217"/>
                </a:solidFill>
                <a:latin typeface="Inter"/>
                <a:ea typeface="Inter"/>
                <a:cs typeface="Inter"/>
              </a:defRPr>
            </a:pPr>
            <a:r>
              <a:rPr sz="3900" b="1">
                <a:solidFill>
                  <a:srgbClr val="121217"/>
                </a:solidFill>
                <a:latin typeface="Inter"/>
                <a:ea typeface="Inter"/>
                <a:cs typeface="Inter"/>
              </a:rPr>
              <a:t>El humano usa UI; el agente usa tools</a:t>
            </a:r>
          </a:p>
        </p:txBody>
      </p:sp>
      <p:sp>
        <p:nvSpPr>
          <p:cNvPr id="11" name="slide-subtitle-9">
            <a:extLst xmlns:a="http://schemas.openxmlformats.org/drawingml/2006/main">
              <a:ext uri="{FF2B5EF4-FFF2-40B4-BE49-F238E27FC236}">
                <a16:creationId xmlns:a16="http://schemas.microsoft.com/office/drawing/2014/main" id="{0957FAA0-255A-4A7D-9934-8A1542812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581150"/>
            <a:ext cx="1009650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2025">
                <a:solidFill>
                  <a:srgbClr val="6C6C89"/>
                </a:solidFill>
                <a:latin typeface="Inter"/>
                <a:ea typeface="Inter"/>
                <a:cs typeface="Inter"/>
              </a:defRPr>
            </a:pPr>
            <a:r>
              <a:rPr sz="2025">
                <a:solidFill>
                  <a:srgbClr val="6C6C89"/>
                </a:solidFill>
                <a:latin typeface="Inter"/>
                <a:ea typeface="Inter"/>
                <a:cs typeface="Inter"/>
              </a:rPr>
              <a:t>Agent-first no significa una pantalla para robots. Significa capacidades expuestas como herramientas con contratos claros.</a:t>
            </a:r>
          </a:p>
        </p:txBody>
      </p:sp>
      <p:sp>
        <p:nvSpPr>
          <p:cNvPr id="12" name="s9-human">
            <a:extLst xmlns:a="http://schemas.openxmlformats.org/drawingml/2006/main">
              <a:ext uri="{FF2B5EF4-FFF2-40B4-BE49-F238E27FC236}">
                <a16:creationId xmlns:a16="http://schemas.microsoft.com/office/drawing/2014/main" id="{E9C604BE-F134-4A07-A61C-760AA0E2B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555291"/>
            <a:ext cx="7867650" cy="6904939"/>
          </a:xfrm>
          <a:prstGeom xmlns:a="http://schemas.openxmlformats.org/drawingml/2006/main" prst="roundRect">
            <a:avLst>
              <a:gd name="adj" fmla="val 16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AEF"/>
            </a:solidFill>
            <a:prstDash val="solid"/>
          </a:ln>
        </p:spPr>
      </p:sp>
      <p:sp>
        <p:nvSpPr>
          <p:cNvPr id="13" name="s9-human-pill">
            <a:extLst xmlns:a="http://schemas.openxmlformats.org/drawingml/2006/main">
              <a:ext uri="{FF2B5EF4-FFF2-40B4-BE49-F238E27FC236}">
                <a16:creationId xmlns:a16="http://schemas.microsoft.com/office/drawing/2014/main" id="{7D4FE5E7-E9E3-4402-92DF-84C273092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4811344"/>
            <a:ext cx="955262" cy="35433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AEF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s9-human-pill-text">
            <a:extLst xmlns:a="http://schemas.openxmlformats.org/drawingml/2006/main">
              <a:ext uri="{FF2B5EF4-FFF2-40B4-BE49-F238E27FC236}">
                <a16:creationId xmlns:a16="http://schemas.microsoft.com/office/drawing/2014/main" id="{37607420-4AE0-4AAA-8805-1CB274B34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895850"/>
            <a:ext cx="6096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55B6D"/>
                </a:solidFill>
                <a:latin typeface="Inter"/>
                <a:ea typeface="Inter"/>
                <a:cs typeface="Inter"/>
              </a:defRPr>
            </a:pPr>
            <a:r>
              <a:rPr sz="1200" b="1">
                <a:solidFill>
                  <a:srgbClr val="555B6D"/>
                </a:solidFill>
                <a:latin typeface="Inter"/>
                <a:ea typeface="Inter"/>
                <a:cs typeface="Inter"/>
              </a:rPr>
              <a:t>Humano</a:t>
            </a:r>
          </a:p>
        </p:txBody>
      </p:sp>
      <p:sp>
        <p:nvSpPr>
          <p:cNvPr id="15" name="s9-human-title">
            <a:extLst xmlns:a="http://schemas.openxmlformats.org/drawingml/2006/main">
              <a:ext uri="{FF2B5EF4-FFF2-40B4-BE49-F238E27FC236}">
                <a16:creationId xmlns:a16="http://schemas.microsoft.com/office/drawing/2014/main" id="{C0F98253-3059-45E1-B7C6-9102856D9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5372100"/>
            <a:ext cx="7067550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6450" b="1">
                <a:solidFill>
                  <a:srgbClr val="121217"/>
                </a:solidFill>
                <a:latin typeface="Inter"/>
                <a:ea typeface="Inter"/>
                <a:cs typeface="Inter"/>
              </a:defRPr>
            </a:pPr>
            <a:r>
              <a:rPr sz="6450" b="1">
                <a:solidFill>
                  <a:srgbClr val="121217"/>
                </a:solidFill>
                <a:latin typeface="Inter"/>
                <a:ea typeface="Inter"/>
                <a:cs typeface="Inter"/>
              </a:rPr>
              <a:t>UI</a:t>
            </a:r>
          </a:p>
        </p:txBody>
      </p:sp>
      <p:sp>
        <p:nvSpPr>
          <p:cNvPr id="16" name="s9-human-text">
            <a:extLst xmlns:a="http://schemas.openxmlformats.org/drawingml/2006/main">
              <a:ext uri="{FF2B5EF4-FFF2-40B4-BE49-F238E27FC236}">
                <a16:creationId xmlns:a16="http://schemas.microsoft.com/office/drawing/2014/main" id="{F6A402B4-4F3B-4D8E-BD7E-89D70C52B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6572250"/>
            <a:ext cx="706755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6000"/>
              </a:lnSpc>
              <a:buNone/>
              <a:defRPr sz="1800">
                <a:solidFill>
                  <a:srgbClr val="6C6C89"/>
                </a:solidFill>
                <a:latin typeface="Inter"/>
                <a:ea typeface="Inter"/>
                <a:cs typeface="Inter"/>
              </a:defRPr>
            </a:pPr>
            <a:r>
              <a:rPr sz="1800">
                <a:solidFill>
                  <a:srgbClr val="6C6C89"/>
                </a:solidFill>
                <a:latin typeface="Inter"/>
                <a:ea typeface="Inter"/>
                <a:cs typeface="Inter"/>
              </a:rPr>
              <a:t>Experiencia guiada: ventanas, formularios, botones, campos y feedback visual.</a:t>
            </a:r>
          </a:p>
        </p:txBody>
      </p:sp>
      <p:sp>
        <p:nvSpPr>
          <p:cNvPr id="17" name="s9-agent">
            <a:extLst xmlns:a="http://schemas.openxmlformats.org/drawingml/2006/main">
              <a:ext uri="{FF2B5EF4-FFF2-40B4-BE49-F238E27FC236}">
                <a16:creationId xmlns:a16="http://schemas.microsoft.com/office/drawing/2014/main" id="{B2F42149-FC4A-4C11-B0B3-73F4A7115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555291"/>
            <a:ext cx="7867650" cy="6904939"/>
          </a:xfrm>
          <a:prstGeom xmlns:a="http://schemas.openxmlformats.org/drawingml/2006/main" prst="roundRect">
            <a:avLst>
              <a:gd name="adj" fmla="val 1655"/>
            </a:avLst>
          </a:prstGeom>
          <a:solidFill xmlns:a="http://schemas.openxmlformats.org/drawingml/2006/main">
            <a:srgbClr val="FFD500"/>
          </a:solidFill>
          <a:ln xmlns:a="http://schemas.openxmlformats.org/drawingml/2006/main" w="0">
            <a:solidFill>
              <a:srgbClr val="FFD500"/>
            </a:solidFill>
            <a:prstDash val="solid"/>
          </a:ln>
        </p:spPr>
      </p:sp>
      <p:sp>
        <p:nvSpPr>
          <p:cNvPr id="18" name="s9-agent-pill">
            <a:extLst xmlns:a="http://schemas.openxmlformats.org/drawingml/2006/main">
              <a:ext uri="{FF2B5EF4-FFF2-40B4-BE49-F238E27FC236}">
                <a16:creationId xmlns:a16="http://schemas.microsoft.com/office/drawing/2014/main" id="{199C005F-640F-46FD-89B5-8ED91B3F2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4811344"/>
            <a:ext cx="859346" cy="35433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1217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s9-agent-pill-text">
            <a:extLst xmlns:a="http://schemas.openxmlformats.org/drawingml/2006/main">
              <a:ext uri="{FF2B5EF4-FFF2-40B4-BE49-F238E27FC236}">
                <a16:creationId xmlns:a16="http://schemas.microsoft.com/office/drawing/2014/main" id="{810CFC4A-80E2-4301-8FFA-9E884352A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4895850"/>
            <a:ext cx="5334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20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Agente</a:t>
            </a:r>
          </a:p>
        </p:txBody>
      </p:sp>
      <p:sp>
        <p:nvSpPr>
          <p:cNvPr id="20" name="s9-agent-title">
            <a:extLst xmlns:a="http://schemas.openxmlformats.org/drawingml/2006/main">
              <a:ext uri="{FF2B5EF4-FFF2-40B4-BE49-F238E27FC236}">
                <a16:creationId xmlns:a16="http://schemas.microsoft.com/office/drawing/2014/main" id="{1AE55DE5-7F8A-4B44-92BF-F4F22C195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5372100"/>
            <a:ext cx="7067550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6450" b="1">
                <a:solidFill>
                  <a:srgbClr val="121217"/>
                </a:solidFill>
                <a:latin typeface="Inter"/>
                <a:ea typeface="Inter"/>
                <a:cs typeface="Inter"/>
              </a:defRPr>
            </a:pPr>
            <a:r>
              <a:rPr sz="6450" b="1">
                <a:solidFill>
                  <a:srgbClr val="121217"/>
                </a:solidFill>
                <a:latin typeface="Inter"/>
                <a:ea typeface="Inter"/>
                <a:cs typeface="Inter"/>
              </a:rPr>
              <a:t>Tools</a:t>
            </a:r>
          </a:p>
        </p:txBody>
      </p:sp>
      <p:sp>
        <p:nvSpPr>
          <p:cNvPr id="21" name="s9-agent-text">
            <a:extLst xmlns:a="http://schemas.openxmlformats.org/drawingml/2006/main">
              <a:ext uri="{FF2B5EF4-FFF2-40B4-BE49-F238E27FC236}">
                <a16:creationId xmlns:a16="http://schemas.microsoft.com/office/drawing/2014/main" id="{6DDB24F3-3FB6-4910-B615-704E0435B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6572250"/>
            <a:ext cx="706755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6000"/>
              </a:lnSpc>
              <a:buNone/>
              <a:defRPr sz="1800">
                <a:solidFill>
                  <a:srgbClr val="121217"/>
                </a:solidFill>
                <a:latin typeface="Inter"/>
                <a:ea typeface="Inter"/>
                <a:cs typeface="Inter"/>
              </a:defRPr>
            </a:pPr>
            <a:r>
              <a:rPr sz="1800">
                <a:solidFill>
                  <a:srgbClr val="121217"/>
                </a:solidFill>
                <a:latin typeface="Inter"/>
                <a:ea typeface="Inter"/>
                <a:cs typeface="Inter"/>
              </a:rPr>
              <a:t>Acciones con contexto: discovery, schema, defaults, IDs reales, ejecución mínima y verificación.</a:t>
            </a:r>
          </a:p>
        </p:txBody>
      </p:sp>
      <p:sp>
        <p:nvSpPr>
          <p:cNvPr id="22" name="footer-left-9">
            <a:extLst xmlns:a="http://schemas.openxmlformats.org/drawingml/2006/main">
              <a:ext uri="{FF2B5EF4-FFF2-40B4-BE49-F238E27FC236}">
                <a16:creationId xmlns:a16="http://schemas.microsoft.com/office/drawing/2014/main" id="{88E00CD8-DEFE-425D-B2E0-5E2083686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9734550"/>
            <a:ext cx="59055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828FA3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828FA3"/>
                </a:solidFill>
                <a:latin typeface="Inter"/>
                <a:ea typeface="Inter"/>
                <a:cs typeface="Inter"/>
              </a:rPr>
              <a:t>Etendo GO · Producto · 2026-04-30</a:t>
            </a:r>
          </a:p>
        </p:txBody>
      </p:sp>
      <p:sp>
        <p:nvSpPr>
          <p:cNvPr id="23" name="footer-right-9">
            <a:extLst xmlns:a="http://schemas.openxmlformats.org/drawingml/2006/main">
              <a:ext uri="{FF2B5EF4-FFF2-40B4-BE49-F238E27FC236}">
                <a16:creationId xmlns:a16="http://schemas.microsoft.com/office/drawing/2014/main" id="{7DCA4A24-A226-42A4-BDE2-2E02C51E7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0" y="9734550"/>
            <a:ext cx="24765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828FA3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828FA3"/>
                </a:solidFill>
                <a:latin typeface="Inter"/>
                <a:ea typeface="Inter"/>
                <a:cs typeface="Inter"/>
              </a:rPr>
              <a:t>Schema Forge snapshot</a:t>
            </a:r>
          </a:p>
        </p:txBody>
      </p:sp>
    </p:spTree>
    <p:extLst>
      <p:ext uri="{BB962C8B-B14F-4D97-AF65-F5344CB8AC3E}">
        <p14:creationId xmlns:p14="http://schemas.microsoft.com/office/powerpoint/2010/main" val="53734532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left-rail-10">
            <a:extLst xmlns:a="http://schemas.openxmlformats.org/drawingml/2006/main">
              <a:ext uri="{FF2B5EF4-FFF2-40B4-BE49-F238E27FC236}">
                <a16:creationId xmlns:a16="http://schemas.microsoft.com/office/drawing/2014/main" id="{A6271748-546F-428A-B297-585B46662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00050"/>
            <a:ext cx="819150" cy="948690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AEF"/>
            </a:solidFill>
            <a:prstDash val="solid"/>
          </a:ln>
        </p:spPr>
      </p:sp>
      <p:pic>
        <p:nvPicPr>
          <p:cNvPr id="2" name="favicon-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9ddc6d3faa477e"/>
          <a:stretch xmlns:a="http://schemas.openxmlformats.org/drawingml/2006/main"/>
        </p:blipFill>
        <p:spPr>
          <a:xfrm xmlns:a="http://schemas.openxmlformats.org/drawingml/2006/main">
            <a:off x="723900" y="571500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3" name="rail-accent-10">
            <a:extLst xmlns:a="http://schemas.openxmlformats.org/drawingml/2006/main">
              <a:ext uri="{FF2B5EF4-FFF2-40B4-BE49-F238E27FC236}">
                <a16:creationId xmlns:a16="http://schemas.microsoft.com/office/drawing/2014/main" id="{A86C5B74-18E8-4518-82F9-3BDC394C2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19600"/>
            <a:ext cx="76200" cy="1143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D500"/>
          </a:solidFill>
          <a:ln xmlns:a="http://schemas.openxmlformats.org/drawingml/2006/main" w="0">
            <a:solidFill>
              <a:srgbClr val="FFD500"/>
            </a:solidFill>
            <a:prstDash val="solid"/>
          </a:ln>
        </p:spPr>
      </p:sp>
      <p:sp>
        <p:nvSpPr>
          <p:cNvPr id="4" name="rail-section-10">
            <a:extLst xmlns:a="http://schemas.openxmlformats.org/drawingml/2006/main">
              <a:ext uri="{FF2B5EF4-FFF2-40B4-BE49-F238E27FC236}">
                <a16:creationId xmlns:a16="http://schemas.microsoft.com/office/drawing/2014/main" id="{9B1CFC4F-8602-4437-A562-E58AD4546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15000"/>
            <a:ext cx="6286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C6C89"/>
                </a:solidFill>
                <a:latin typeface="Inter"/>
                <a:ea typeface="Inter"/>
                <a:cs typeface="Inter"/>
              </a:defRPr>
            </a:pPr>
            <a:r>
              <a:rPr sz="975" b="1">
                <a:solidFill>
                  <a:srgbClr val="6C6C89"/>
                </a:solidFill>
                <a:latin typeface="Inter"/>
                <a:ea typeface="Inter"/>
                <a:cs typeface="Inter"/>
              </a:rPr>
              <a:t>Validación agéntica</a:t>
            </a:r>
          </a:p>
        </p:txBody>
      </p:sp>
      <p:sp>
        <p:nvSpPr>
          <p:cNvPr id="5" name="rail-number-10">
            <a:extLst xmlns:a="http://schemas.openxmlformats.org/drawingml/2006/main">
              <a:ext uri="{FF2B5EF4-FFF2-40B4-BE49-F238E27FC236}">
                <a16:creationId xmlns:a16="http://schemas.microsoft.com/office/drawing/2014/main" id="{E2CA398A-46E7-431C-B01D-994C845A4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0"/>
            <a:ext cx="571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828FA3"/>
                </a:solidFill>
                <a:latin typeface="Inter"/>
                <a:ea typeface="Inter"/>
                <a:cs typeface="Inter"/>
              </a:defRPr>
            </a:pPr>
            <a:r>
              <a:rPr sz="1200" b="1">
                <a:solidFill>
                  <a:srgbClr val="828FA3"/>
                </a:solidFill>
                <a:latin typeface="Inter"/>
                <a:ea typeface="Inter"/>
                <a:cs typeface="Inter"/>
              </a:rPr>
              <a:t>10</a:t>
            </a:r>
          </a:p>
        </p:txBody>
      </p:sp>
      <p:sp>
        <p:nvSpPr>
          <p:cNvPr id="6" name="section-pill-10">
            <a:extLst xmlns:a="http://schemas.openxmlformats.org/drawingml/2006/main">
              <a:ext uri="{FF2B5EF4-FFF2-40B4-BE49-F238E27FC236}">
                <a16:creationId xmlns:a16="http://schemas.microsoft.com/office/drawing/2014/main" id="{D6918E0A-0BF0-4836-8AC2-055595330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19100"/>
            <a:ext cx="175622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D500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section-pill-10-text">
            <a:extLst xmlns:a="http://schemas.openxmlformats.org/drawingml/2006/main">
              <a:ext uri="{FF2B5EF4-FFF2-40B4-BE49-F238E27FC236}">
                <a16:creationId xmlns:a16="http://schemas.microsoft.com/office/drawing/2014/main" id="{6A410180-07C9-41B7-896E-C7BD320C5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95300"/>
            <a:ext cx="14097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21217"/>
                </a:solidFill>
                <a:latin typeface="Inter"/>
                <a:ea typeface="Inter"/>
                <a:cs typeface="Inter"/>
              </a:defRPr>
            </a:pPr>
            <a:r>
              <a:rPr sz="1200" b="1">
                <a:solidFill>
                  <a:srgbClr val="121217"/>
                </a:solidFill>
                <a:latin typeface="Inter"/>
                <a:ea typeface="Inter"/>
                <a:cs typeface="Inter"/>
              </a:rPr>
              <a:t>Validación agéntica</a:t>
            </a:r>
          </a:p>
        </p:txBody>
      </p:sp>
      <p:sp>
        <p:nvSpPr>
          <p:cNvPr id="8" name="search-pill-10">
            <a:extLst xmlns:a="http://schemas.openxmlformats.org/drawingml/2006/main">
              <a:ext uri="{FF2B5EF4-FFF2-40B4-BE49-F238E27FC236}">
                <a16:creationId xmlns:a16="http://schemas.microsoft.com/office/drawing/2014/main" id="{7BBD9CC8-EF5C-470C-B26E-55D708422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400050"/>
            <a:ext cx="495300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AEF"/>
          </a:solidFill>
        </p:spPr>
      </p:sp>
      <p:sp>
        <p:nvSpPr>
          <p:cNvPr id="9" name="search-text-10">
            <a:extLst xmlns:a="http://schemas.openxmlformats.org/drawingml/2006/main">
              <a:ext uri="{FF2B5EF4-FFF2-40B4-BE49-F238E27FC236}">
                <a16:creationId xmlns:a16="http://schemas.microsoft.com/office/drawing/2014/main" id="{6E6D9E51-A9C6-4080-B1D6-7361FEDB8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68300" y="495300"/>
            <a:ext cx="45339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55B6D"/>
                </a:solidFill>
                <a:latin typeface="Inter"/>
                <a:ea typeface="Inter"/>
                <a:cs typeface="Inter"/>
              </a:defRPr>
            </a:pPr>
            <a:r>
              <a:rPr sz="1125">
                <a:solidFill>
                  <a:srgbClr val="555B6D"/>
                </a:solidFill>
                <a:latin typeface="Inter"/>
                <a:ea typeface="Inter"/>
                <a:cs typeface="Inter"/>
              </a:rPr>
              <a:t>Buscar en Etendo GO / preguntar al agente</a:t>
            </a:r>
          </a:p>
        </p:txBody>
      </p:sp>
      <p:sp>
        <p:nvSpPr>
          <p:cNvPr id="10" name="slide-title-10">
            <a:extLst xmlns:a="http://schemas.openxmlformats.org/drawingml/2006/main">
              <a:ext uri="{FF2B5EF4-FFF2-40B4-BE49-F238E27FC236}">
                <a16:creationId xmlns:a16="http://schemas.microsoft.com/office/drawing/2014/main" id="{8E44D4F1-93EF-443B-8C46-B5062FF43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876300"/>
            <a:ext cx="161925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21217"/>
                </a:solidFill>
                <a:latin typeface="Inter"/>
                <a:ea typeface="Inter"/>
                <a:cs typeface="Inter"/>
              </a:defRPr>
            </a:pPr>
            <a:r>
              <a:rPr sz="3900" b="1">
                <a:solidFill>
                  <a:srgbClr val="121217"/>
                </a:solidFill>
                <a:latin typeface="Inter"/>
                <a:ea typeface="Inter"/>
                <a:cs typeface="Inter"/>
              </a:rPr>
              <a:t>Ya tenemos una primera versión agéntica en validación</a:t>
            </a:r>
          </a:p>
        </p:txBody>
      </p:sp>
      <p:sp>
        <p:nvSpPr>
          <p:cNvPr id="11" name="slide-subtitle-10">
            <a:extLst xmlns:a="http://schemas.openxmlformats.org/drawingml/2006/main">
              <a:ext uri="{FF2B5EF4-FFF2-40B4-BE49-F238E27FC236}">
                <a16:creationId xmlns:a16="http://schemas.microsoft.com/office/drawing/2014/main" id="{627CFAEC-5C88-43D7-AD14-57840F17E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581150"/>
            <a:ext cx="112585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2025">
                <a:solidFill>
                  <a:srgbClr val="6C6C89"/>
                </a:solidFill>
                <a:latin typeface="Inter"/>
                <a:ea typeface="Inter"/>
                <a:cs typeface="Inter"/>
              </a:defRPr>
            </a:pPr>
            <a:r>
              <a:rPr sz="2025">
                <a:solidFill>
                  <a:srgbClr val="6C6C89"/>
                </a:solidFill>
                <a:latin typeface="Inter"/>
                <a:ea typeface="Inter"/>
                <a:cs typeface="Inter"/>
              </a:rPr>
              <a:t>Estamos probando si el agente completa tareas reales sobre capacidades del ERP, no si conversa bien.</a:t>
            </a:r>
          </a:p>
        </p:txBody>
      </p:sp>
      <p:sp>
        <p:nvSpPr>
          <p:cNvPr id="12" name="s10-step-1-badge">
            <a:extLst xmlns:a="http://schemas.openxmlformats.org/drawingml/2006/main">
              <a:ext uri="{FF2B5EF4-FFF2-40B4-BE49-F238E27FC236}">
                <a16:creationId xmlns:a16="http://schemas.microsoft.com/office/drawing/2014/main" id="{DC6822C7-E27A-4CCE-A710-675BF1682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076215"/>
            <a:ext cx="4191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D500"/>
          </a:solidFill>
        </p:spPr>
      </p:sp>
      <p:sp>
        <p:nvSpPr>
          <p:cNvPr id="13" name="s10-step-1-badge-text">
            <a:extLst xmlns:a="http://schemas.openxmlformats.org/drawingml/2006/main">
              <a:ext uri="{FF2B5EF4-FFF2-40B4-BE49-F238E27FC236}">
                <a16:creationId xmlns:a16="http://schemas.microsoft.com/office/drawing/2014/main" id="{7ABE9EE4-EC29-4EBA-96A4-816A148DF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181600"/>
            <a:ext cx="4191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21217"/>
                </a:solidFill>
                <a:latin typeface="Inter"/>
                <a:ea typeface="Inter"/>
                <a:cs typeface="Inter"/>
              </a:defRPr>
            </a:pPr>
            <a:r>
              <a:rPr sz="1350" b="1">
                <a:solidFill>
                  <a:srgbClr val="121217"/>
                </a:solidFill>
                <a:latin typeface="Inter"/>
                <a:ea typeface="Inter"/>
                <a:cs typeface="Inter"/>
              </a:rPr>
              <a:t>1</a:t>
            </a:r>
          </a:p>
        </p:txBody>
      </p:sp>
      <p:sp>
        <p:nvSpPr>
          <p:cNvPr id="14" name="s10-step-1-label">
            <a:extLst xmlns:a="http://schemas.openxmlformats.org/drawingml/2006/main">
              <a:ext uri="{FF2B5EF4-FFF2-40B4-BE49-F238E27FC236}">
                <a16:creationId xmlns:a16="http://schemas.microsoft.com/office/drawing/2014/main" id="{1A55B164-15B2-4ED0-989E-508F27B98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067300"/>
            <a:ext cx="73152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21217"/>
                </a:solidFill>
                <a:latin typeface="Inter"/>
                <a:ea typeface="Inter"/>
                <a:cs typeface="Inter"/>
              </a:defRPr>
            </a:pPr>
            <a:r>
              <a:rPr sz="1875" b="1">
                <a:solidFill>
                  <a:srgbClr val="121217"/>
                </a:solidFill>
                <a:latin typeface="Inter"/>
                <a:ea typeface="Inter"/>
                <a:cs typeface="Inter"/>
              </a:rPr>
              <a:t>Discovery</a:t>
            </a:r>
          </a:p>
        </p:txBody>
      </p:sp>
      <p:sp>
        <p:nvSpPr>
          <p:cNvPr id="15" name="s10-step-1-detail">
            <a:extLst xmlns:a="http://schemas.openxmlformats.org/drawingml/2006/main">
              <a:ext uri="{FF2B5EF4-FFF2-40B4-BE49-F238E27FC236}">
                <a16:creationId xmlns:a16="http://schemas.microsoft.com/office/drawing/2014/main" id="{65F06FF0-D44B-4D66-BBD8-BB0EAB908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391150"/>
            <a:ext cx="7315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C6C89"/>
                </a:solidFill>
                <a:latin typeface="Inter"/>
                <a:ea typeface="Inter"/>
                <a:cs typeface="Inter"/>
              </a:defRPr>
            </a:pPr>
            <a:r>
              <a:rPr sz="1200">
                <a:solidFill>
                  <a:srgbClr val="6C6C89"/>
                </a:solidFill>
                <a:latin typeface="Inter"/>
                <a:ea typeface="Inter"/>
                <a:cs typeface="Inter"/>
              </a:rPr>
              <a:t>capacidades disponibles del ERP</a:t>
            </a:r>
          </a:p>
        </p:txBody>
      </p:sp>
      <p:sp>
        <p:nvSpPr>
          <p:cNvPr id="16" name="s10-step-2-badge">
            <a:extLst xmlns:a="http://schemas.openxmlformats.org/drawingml/2006/main">
              <a:ext uri="{FF2B5EF4-FFF2-40B4-BE49-F238E27FC236}">
                <a16:creationId xmlns:a16="http://schemas.microsoft.com/office/drawing/2014/main" id="{20B211C3-8EB2-427D-AC7F-883C05560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754395"/>
            <a:ext cx="4191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AEF"/>
          </a:solidFill>
        </p:spPr>
      </p:sp>
      <p:sp>
        <p:nvSpPr>
          <p:cNvPr id="17" name="s10-step-2-badge-text">
            <a:extLst xmlns:a="http://schemas.openxmlformats.org/drawingml/2006/main">
              <a:ext uri="{FF2B5EF4-FFF2-40B4-BE49-F238E27FC236}">
                <a16:creationId xmlns:a16="http://schemas.microsoft.com/office/drawing/2014/main" id="{C80C2B10-DE0D-4CE9-A897-FAEB7AB7B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867400"/>
            <a:ext cx="4191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21217"/>
                </a:solidFill>
                <a:latin typeface="Inter"/>
                <a:ea typeface="Inter"/>
                <a:cs typeface="Inter"/>
              </a:defRPr>
            </a:pPr>
            <a:r>
              <a:rPr sz="1350" b="1">
                <a:solidFill>
                  <a:srgbClr val="121217"/>
                </a:solidFill>
                <a:latin typeface="Inter"/>
                <a:ea typeface="Inter"/>
                <a:cs typeface="Inter"/>
              </a:rPr>
              <a:t>2</a:t>
            </a:r>
          </a:p>
        </p:txBody>
      </p:sp>
      <p:sp>
        <p:nvSpPr>
          <p:cNvPr id="18" name="s10-step-2-label">
            <a:extLst xmlns:a="http://schemas.openxmlformats.org/drawingml/2006/main">
              <a:ext uri="{FF2B5EF4-FFF2-40B4-BE49-F238E27FC236}">
                <a16:creationId xmlns:a16="http://schemas.microsoft.com/office/drawing/2014/main" id="{0E6FFA1E-91B2-4B11-89FB-51E131C0A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753100"/>
            <a:ext cx="73152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21217"/>
                </a:solidFill>
                <a:latin typeface="Inter"/>
                <a:ea typeface="Inter"/>
                <a:cs typeface="Inter"/>
              </a:defRPr>
            </a:pPr>
            <a:r>
              <a:rPr sz="1875" b="1">
                <a:solidFill>
                  <a:srgbClr val="121217"/>
                </a:solidFill>
                <a:latin typeface="Inter"/>
                <a:ea typeface="Inter"/>
                <a:cs typeface="Inter"/>
              </a:rPr>
              <a:t>Schema y defaults</a:t>
            </a:r>
          </a:p>
        </p:txBody>
      </p:sp>
      <p:sp>
        <p:nvSpPr>
          <p:cNvPr id="19" name="s10-step-2-detail">
            <a:extLst xmlns:a="http://schemas.openxmlformats.org/drawingml/2006/main">
              <a:ext uri="{FF2B5EF4-FFF2-40B4-BE49-F238E27FC236}">
                <a16:creationId xmlns:a16="http://schemas.microsoft.com/office/drawing/2014/main" id="{B1A7D987-CDE7-41AC-B2DE-FF629DDF6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6076950"/>
            <a:ext cx="7315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C6C89"/>
                </a:solidFill>
                <a:latin typeface="Inter"/>
                <a:ea typeface="Inter"/>
                <a:cs typeface="Inter"/>
              </a:defRPr>
            </a:pPr>
            <a:r>
              <a:rPr sz="1200">
                <a:solidFill>
                  <a:srgbClr val="6C6C89"/>
                </a:solidFill>
                <a:latin typeface="Inter"/>
                <a:ea typeface="Inter"/>
                <a:cs typeface="Inter"/>
              </a:rPr>
              <a:t>campos requeridos y valores iniciales</a:t>
            </a:r>
          </a:p>
        </p:txBody>
      </p:sp>
      <p:sp>
        <p:nvSpPr>
          <p:cNvPr id="20" name="s10-step-3-badge">
            <a:extLst xmlns:a="http://schemas.openxmlformats.org/drawingml/2006/main">
              <a:ext uri="{FF2B5EF4-FFF2-40B4-BE49-F238E27FC236}">
                <a16:creationId xmlns:a16="http://schemas.microsoft.com/office/drawing/2014/main" id="{02AF5EC2-7598-47CD-AF08-7C3712BE9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6432575"/>
            <a:ext cx="4191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D500"/>
          </a:solidFill>
        </p:spPr>
      </p:sp>
      <p:sp>
        <p:nvSpPr>
          <p:cNvPr id="21" name="s10-step-3-badge-text">
            <a:extLst xmlns:a="http://schemas.openxmlformats.org/drawingml/2006/main">
              <a:ext uri="{FF2B5EF4-FFF2-40B4-BE49-F238E27FC236}">
                <a16:creationId xmlns:a16="http://schemas.microsoft.com/office/drawing/2014/main" id="{7981FCDB-EB61-40D0-8CEB-D462918BD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6553200"/>
            <a:ext cx="4191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21217"/>
                </a:solidFill>
                <a:latin typeface="Inter"/>
                <a:ea typeface="Inter"/>
                <a:cs typeface="Inter"/>
              </a:defRPr>
            </a:pPr>
            <a:r>
              <a:rPr sz="1350" b="1">
                <a:solidFill>
                  <a:srgbClr val="121217"/>
                </a:solidFill>
                <a:latin typeface="Inter"/>
                <a:ea typeface="Inter"/>
                <a:cs typeface="Inter"/>
              </a:rPr>
              <a:t>3</a:t>
            </a:r>
          </a:p>
        </p:txBody>
      </p:sp>
      <p:sp>
        <p:nvSpPr>
          <p:cNvPr id="22" name="s10-step-3-label">
            <a:extLst xmlns:a="http://schemas.openxmlformats.org/drawingml/2006/main">
              <a:ext uri="{FF2B5EF4-FFF2-40B4-BE49-F238E27FC236}">
                <a16:creationId xmlns:a16="http://schemas.microsoft.com/office/drawing/2014/main" id="{6E5D0E18-A95D-45CC-8BFA-F772ED17E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6438900"/>
            <a:ext cx="73152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21217"/>
                </a:solidFill>
                <a:latin typeface="Inter"/>
                <a:ea typeface="Inter"/>
                <a:cs typeface="Inter"/>
              </a:defRPr>
            </a:pPr>
            <a:r>
              <a:rPr sz="1875" b="1">
                <a:solidFill>
                  <a:srgbClr val="121217"/>
                </a:solidFill>
                <a:latin typeface="Inter"/>
                <a:ea typeface="Inter"/>
                <a:cs typeface="Inter"/>
              </a:rPr>
              <a:t>Resolución de datos</a:t>
            </a:r>
          </a:p>
        </p:txBody>
      </p:sp>
      <p:sp>
        <p:nvSpPr>
          <p:cNvPr id="23" name="s10-step-3-detail">
            <a:extLst xmlns:a="http://schemas.openxmlformats.org/drawingml/2006/main">
              <a:ext uri="{FF2B5EF4-FFF2-40B4-BE49-F238E27FC236}">
                <a16:creationId xmlns:a16="http://schemas.microsoft.com/office/drawing/2014/main" id="{9DD8A484-DD33-42F3-B819-45048C951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6762750"/>
            <a:ext cx="7315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C6C89"/>
                </a:solidFill>
                <a:latin typeface="Inter"/>
                <a:ea typeface="Inter"/>
                <a:cs typeface="Inter"/>
              </a:defRPr>
            </a:pPr>
            <a:r>
              <a:rPr sz="1200">
                <a:solidFill>
                  <a:srgbClr val="6C6C89"/>
                </a:solidFill>
                <a:latin typeface="Inter"/>
                <a:ea typeface="Inter"/>
                <a:cs typeface="Inter"/>
              </a:rPr>
              <a:t>nombres humanos a IDs reales</a:t>
            </a:r>
          </a:p>
        </p:txBody>
      </p:sp>
      <p:sp>
        <p:nvSpPr>
          <p:cNvPr id="24" name="s10-step-4-badge">
            <a:extLst xmlns:a="http://schemas.openxmlformats.org/drawingml/2006/main">
              <a:ext uri="{FF2B5EF4-FFF2-40B4-BE49-F238E27FC236}">
                <a16:creationId xmlns:a16="http://schemas.microsoft.com/office/drawing/2014/main" id="{23FEA234-07FB-48AF-9CBF-FF26BF0F7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5076215"/>
            <a:ext cx="4191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AEF"/>
          </a:solidFill>
        </p:spPr>
      </p:sp>
      <p:sp>
        <p:nvSpPr>
          <p:cNvPr id="25" name="s10-step-4-badge-text">
            <a:extLst xmlns:a="http://schemas.openxmlformats.org/drawingml/2006/main">
              <a:ext uri="{FF2B5EF4-FFF2-40B4-BE49-F238E27FC236}">
                <a16:creationId xmlns:a16="http://schemas.microsoft.com/office/drawing/2014/main" id="{1E9E96EA-B11B-42FD-B28F-0EAD94E3E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5181600"/>
            <a:ext cx="4191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21217"/>
                </a:solidFill>
                <a:latin typeface="Inter"/>
                <a:ea typeface="Inter"/>
                <a:cs typeface="Inter"/>
              </a:defRPr>
            </a:pPr>
            <a:r>
              <a:rPr sz="1350" b="1">
                <a:solidFill>
                  <a:srgbClr val="121217"/>
                </a:solidFill>
                <a:latin typeface="Inter"/>
                <a:ea typeface="Inter"/>
                <a:cs typeface="Inter"/>
              </a:rPr>
              <a:t>4</a:t>
            </a:r>
          </a:p>
        </p:txBody>
      </p:sp>
      <p:sp>
        <p:nvSpPr>
          <p:cNvPr id="26" name="s10-step-4-label">
            <a:extLst xmlns:a="http://schemas.openxmlformats.org/drawingml/2006/main">
              <a:ext uri="{FF2B5EF4-FFF2-40B4-BE49-F238E27FC236}">
                <a16:creationId xmlns:a16="http://schemas.microsoft.com/office/drawing/2014/main" id="{52354054-66EB-4DD4-8D8A-147481893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5067300"/>
            <a:ext cx="73152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21217"/>
                </a:solidFill>
                <a:latin typeface="Inter"/>
                <a:ea typeface="Inter"/>
                <a:cs typeface="Inter"/>
              </a:defRPr>
            </a:pPr>
            <a:r>
              <a:rPr sz="1875" b="1">
                <a:solidFill>
                  <a:srgbClr val="121217"/>
                </a:solidFill>
                <a:latin typeface="Inter"/>
                <a:ea typeface="Inter"/>
                <a:cs typeface="Inter"/>
              </a:rPr>
              <a:t>Ejecución mínima</a:t>
            </a:r>
          </a:p>
        </p:txBody>
      </p:sp>
      <p:sp>
        <p:nvSpPr>
          <p:cNvPr id="27" name="s10-step-4-detail">
            <a:extLst xmlns:a="http://schemas.openxmlformats.org/drawingml/2006/main">
              <a:ext uri="{FF2B5EF4-FFF2-40B4-BE49-F238E27FC236}">
                <a16:creationId xmlns:a16="http://schemas.microsoft.com/office/drawing/2014/main" id="{483775C9-6F8C-4EA7-831F-87C76D9FD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5391150"/>
            <a:ext cx="7315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C6C89"/>
                </a:solidFill>
                <a:latin typeface="Inter"/>
                <a:ea typeface="Inter"/>
                <a:cs typeface="Inter"/>
              </a:defRPr>
            </a:pPr>
            <a:r>
              <a:rPr sz="1200">
                <a:solidFill>
                  <a:srgbClr val="6C6C89"/>
                </a:solidFill>
                <a:latin typeface="Inter"/>
                <a:ea typeface="Inter"/>
                <a:cs typeface="Inter"/>
              </a:rPr>
              <a:t>acción controlada mediante tools</a:t>
            </a:r>
          </a:p>
        </p:txBody>
      </p:sp>
      <p:sp>
        <p:nvSpPr>
          <p:cNvPr id="28" name="s10-step-5-badge">
            <a:extLst xmlns:a="http://schemas.openxmlformats.org/drawingml/2006/main">
              <a:ext uri="{FF2B5EF4-FFF2-40B4-BE49-F238E27FC236}">
                <a16:creationId xmlns:a16="http://schemas.microsoft.com/office/drawing/2014/main" id="{3D70C712-20B1-4F05-8449-35AE763FF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5754395"/>
            <a:ext cx="4191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D500"/>
          </a:solidFill>
        </p:spPr>
      </p:sp>
      <p:sp>
        <p:nvSpPr>
          <p:cNvPr id="29" name="s10-step-5-badge-text">
            <a:extLst xmlns:a="http://schemas.openxmlformats.org/drawingml/2006/main">
              <a:ext uri="{FF2B5EF4-FFF2-40B4-BE49-F238E27FC236}">
                <a16:creationId xmlns:a16="http://schemas.microsoft.com/office/drawing/2014/main" id="{3EFE3948-933C-4B18-85AB-AD17E6E9A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5867400"/>
            <a:ext cx="4191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21217"/>
                </a:solidFill>
                <a:latin typeface="Inter"/>
                <a:ea typeface="Inter"/>
                <a:cs typeface="Inter"/>
              </a:defRPr>
            </a:pPr>
            <a:r>
              <a:rPr sz="1350" b="1">
                <a:solidFill>
                  <a:srgbClr val="121217"/>
                </a:solidFill>
                <a:latin typeface="Inter"/>
                <a:ea typeface="Inter"/>
                <a:cs typeface="Inter"/>
              </a:rPr>
              <a:t>5</a:t>
            </a:r>
          </a:p>
        </p:txBody>
      </p:sp>
      <p:sp>
        <p:nvSpPr>
          <p:cNvPr id="30" name="s10-step-5-label">
            <a:extLst xmlns:a="http://schemas.openxmlformats.org/drawingml/2006/main">
              <a:ext uri="{FF2B5EF4-FFF2-40B4-BE49-F238E27FC236}">
                <a16:creationId xmlns:a16="http://schemas.microsoft.com/office/drawing/2014/main" id="{0D7AD372-F5A7-452A-98A7-2A1E9B030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5753100"/>
            <a:ext cx="73152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21217"/>
                </a:solidFill>
                <a:latin typeface="Inter"/>
                <a:ea typeface="Inter"/>
                <a:cs typeface="Inter"/>
              </a:defRPr>
            </a:pPr>
            <a:r>
              <a:rPr sz="1875" b="1">
                <a:solidFill>
                  <a:srgbClr val="121217"/>
                </a:solidFill>
                <a:latin typeface="Inter"/>
                <a:ea typeface="Inter"/>
                <a:cs typeface="Inter"/>
              </a:rPr>
              <a:t>Lectura del ERP</a:t>
            </a:r>
          </a:p>
        </p:txBody>
      </p:sp>
      <p:sp>
        <p:nvSpPr>
          <p:cNvPr id="31" name="s10-step-5-detail">
            <a:extLst xmlns:a="http://schemas.openxmlformats.org/drawingml/2006/main">
              <a:ext uri="{FF2B5EF4-FFF2-40B4-BE49-F238E27FC236}">
                <a16:creationId xmlns:a16="http://schemas.microsoft.com/office/drawing/2014/main" id="{1B8EDD62-00BC-4E81-940E-1F10B6E9F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076950"/>
            <a:ext cx="7315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C6C89"/>
                </a:solidFill>
                <a:latin typeface="Inter"/>
                <a:ea typeface="Inter"/>
                <a:cs typeface="Inter"/>
              </a:defRPr>
            </a:pPr>
            <a:r>
              <a:rPr sz="1200">
                <a:solidFill>
                  <a:srgbClr val="6C6C89"/>
                </a:solidFill>
                <a:latin typeface="Inter"/>
                <a:ea typeface="Inter"/>
                <a:cs typeface="Inter"/>
              </a:rPr>
              <a:t>resultado real, no suposición</a:t>
            </a:r>
          </a:p>
        </p:txBody>
      </p:sp>
      <p:sp>
        <p:nvSpPr>
          <p:cNvPr id="32" name="s10-step-6-badge">
            <a:extLst xmlns:a="http://schemas.openxmlformats.org/drawingml/2006/main">
              <a:ext uri="{FF2B5EF4-FFF2-40B4-BE49-F238E27FC236}">
                <a16:creationId xmlns:a16="http://schemas.microsoft.com/office/drawing/2014/main" id="{BC6B9427-BE93-4118-AC49-69921454B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6432575"/>
            <a:ext cx="4191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AEF"/>
          </a:solidFill>
        </p:spPr>
      </p:sp>
      <p:sp>
        <p:nvSpPr>
          <p:cNvPr id="33" name="s10-step-6-badge-text">
            <a:extLst xmlns:a="http://schemas.openxmlformats.org/drawingml/2006/main">
              <a:ext uri="{FF2B5EF4-FFF2-40B4-BE49-F238E27FC236}">
                <a16:creationId xmlns:a16="http://schemas.microsoft.com/office/drawing/2014/main" id="{0FE4DB2E-795A-4AFA-B55D-5E57F3E3E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6553200"/>
            <a:ext cx="4191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21217"/>
                </a:solidFill>
                <a:latin typeface="Inter"/>
                <a:ea typeface="Inter"/>
                <a:cs typeface="Inter"/>
              </a:defRPr>
            </a:pPr>
            <a:r>
              <a:rPr sz="1350" b="1">
                <a:solidFill>
                  <a:srgbClr val="121217"/>
                </a:solidFill>
                <a:latin typeface="Inter"/>
                <a:ea typeface="Inter"/>
                <a:cs typeface="Inter"/>
              </a:rPr>
              <a:t>6</a:t>
            </a:r>
          </a:p>
        </p:txBody>
      </p:sp>
      <p:sp>
        <p:nvSpPr>
          <p:cNvPr id="34" name="s10-step-6-label">
            <a:extLst xmlns:a="http://schemas.openxmlformats.org/drawingml/2006/main">
              <a:ext uri="{FF2B5EF4-FFF2-40B4-BE49-F238E27FC236}">
                <a16:creationId xmlns:a16="http://schemas.microsoft.com/office/drawing/2014/main" id="{62F74E37-272A-4282-ABEC-1078F3366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438900"/>
            <a:ext cx="73152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21217"/>
                </a:solidFill>
                <a:latin typeface="Inter"/>
                <a:ea typeface="Inter"/>
                <a:cs typeface="Inter"/>
              </a:defRPr>
            </a:pPr>
            <a:r>
              <a:rPr sz="1875" b="1">
                <a:solidFill>
                  <a:srgbClr val="121217"/>
                </a:solidFill>
                <a:latin typeface="Inter"/>
                <a:ea typeface="Inter"/>
                <a:cs typeface="Inter"/>
              </a:rPr>
              <a:t>Comparación</a:t>
            </a:r>
          </a:p>
        </p:txBody>
      </p:sp>
      <p:sp>
        <p:nvSpPr>
          <p:cNvPr id="35" name="s10-step-6-detail">
            <a:extLst xmlns:a="http://schemas.openxmlformats.org/drawingml/2006/main">
              <a:ext uri="{FF2B5EF4-FFF2-40B4-BE49-F238E27FC236}">
                <a16:creationId xmlns:a16="http://schemas.microsoft.com/office/drawing/2014/main" id="{996ACC09-F307-416D-A64B-4BDD74468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762750"/>
            <a:ext cx="7315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C6C89"/>
                </a:solidFill>
                <a:latin typeface="Inter"/>
                <a:ea typeface="Inter"/>
                <a:cs typeface="Inter"/>
              </a:defRPr>
            </a:pPr>
            <a:r>
              <a:rPr sz="1200">
                <a:solidFill>
                  <a:srgbClr val="6C6C89"/>
                </a:solidFill>
                <a:latin typeface="Inter"/>
                <a:ea typeface="Inter"/>
                <a:cs typeface="Inter"/>
              </a:rPr>
              <a:t>resultado contra objetivo original</a:t>
            </a:r>
          </a:p>
        </p:txBody>
      </p:sp>
      <p:sp>
        <p:nvSpPr>
          <p:cNvPr id="36" name="footer-left-10">
            <a:extLst xmlns:a="http://schemas.openxmlformats.org/drawingml/2006/main">
              <a:ext uri="{FF2B5EF4-FFF2-40B4-BE49-F238E27FC236}">
                <a16:creationId xmlns:a16="http://schemas.microsoft.com/office/drawing/2014/main" id="{1F1622CA-3A65-4105-A1CD-9F17CE313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9734550"/>
            <a:ext cx="59055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828FA3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828FA3"/>
                </a:solidFill>
                <a:latin typeface="Inter"/>
                <a:ea typeface="Inter"/>
                <a:cs typeface="Inter"/>
              </a:rPr>
              <a:t>Etendo GO · Producto · 2026-04-30</a:t>
            </a:r>
          </a:p>
        </p:txBody>
      </p:sp>
      <p:sp>
        <p:nvSpPr>
          <p:cNvPr id="37" name="footer-right-10">
            <a:extLst xmlns:a="http://schemas.openxmlformats.org/drawingml/2006/main">
              <a:ext uri="{FF2B5EF4-FFF2-40B4-BE49-F238E27FC236}">
                <a16:creationId xmlns:a16="http://schemas.microsoft.com/office/drawing/2014/main" id="{41E9F933-173A-4E55-95EE-054941BD8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0" y="9734550"/>
            <a:ext cx="24765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828FA3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828FA3"/>
                </a:solidFill>
                <a:latin typeface="Inter"/>
                <a:ea typeface="Inter"/>
                <a:cs typeface="Inter"/>
              </a:rPr>
              <a:t>Schema Forge snapshot</a:t>
            </a:r>
          </a:p>
        </p:txBody>
      </p:sp>
    </p:spTree>
    <p:extLst>
      <p:ext uri="{BB962C8B-B14F-4D97-AF65-F5344CB8AC3E}">
        <p14:creationId xmlns:p14="http://schemas.microsoft.com/office/powerpoint/2010/main" val="93113365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left-rail-11">
            <a:extLst xmlns:a="http://schemas.openxmlformats.org/drawingml/2006/main">
              <a:ext uri="{FF2B5EF4-FFF2-40B4-BE49-F238E27FC236}">
                <a16:creationId xmlns:a16="http://schemas.microsoft.com/office/drawing/2014/main" id="{FF1BB5A2-3A89-46A4-A8AD-69399D623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00050"/>
            <a:ext cx="819150" cy="948690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AEF"/>
            </a:solidFill>
            <a:prstDash val="solid"/>
          </a:ln>
        </p:spPr>
      </p:sp>
      <p:pic>
        <p:nvPicPr>
          <p:cNvPr id="2" name="favicon-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2263c3c7e54d22"/>
          <a:stretch xmlns:a="http://schemas.openxmlformats.org/drawingml/2006/main"/>
        </p:blipFill>
        <p:spPr>
          <a:xfrm xmlns:a="http://schemas.openxmlformats.org/drawingml/2006/main">
            <a:off x="723900" y="571500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3" name="rail-accent-11">
            <a:extLst xmlns:a="http://schemas.openxmlformats.org/drawingml/2006/main">
              <a:ext uri="{FF2B5EF4-FFF2-40B4-BE49-F238E27FC236}">
                <a16:creationId xmlns:a16="http://schemas.microsoft.com/office/drawing/2014/main" id="{41D27B28-27DD-4272-918F-CE0A31E69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43400"/>
            <a:ext cx="76200" cy="1143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D500"/>
          </a:solidFill>
          <a:ln xmlns:a="http://schemas.openxmlformats.org/drawingml/2006/main" w="0">
            <a:solidFill>
              <a:srgbClr val="FFD500"/>
            </a:solidFill>
            <a:prstDash val="solid"/>
          </a:ln>
        </p:spPr>
      </p:sp>
      <p:sp>
        <p:nvSpPr>
          <p:cNvPr id="4" name="rail-section-11">
            <a:extLst xmlns:a="http://schemas.openxmlformats.org/drawingml/2006/main">
              <a:ext uri="{FF2B5EF4-FFF2-40B4-BE49-F238E27FC236}">
                <a16:creationId xmlns:a16="http://schemas.microsoft.com/office/drawing/2014/main" id="{6B96B9A5-485F-4716-A32E-6C98FFB90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638800"/>
            <a:ext cx="6286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C6C89"/>
                </a:solidFill>
                <a:latin typeface="Inter"/>
                <a:ea typeface="Inter"/>
                <a:cs typeface="Inter"/>
              </a:defRPr>
            </a:pPr>
            <a:r>
              <a:rPr sz="975" b="1">
                <a:solidFill>
                  <a:srgbClr val="6C6C89"/>
                </a:solidFill>
                <a:latin typeface="Inter"/>
                <a:ea typeface="Inter"/>
                <a:cs typeface="Inter"/>
              </a:rPr>
              <a:t>Siguiente aprendizaje</a:t>
            </a:r>
          </a:p>
        </p:txBody>
      </p:sp>
      <p:sp>
        <p:nvSpPr>
          <p:cNvPr id="5" name="rail-number-11">
            <a:extLst xmlns:a="http://schemas.openxmlformats.org/drawingml/2006/main">
              <a:ext uri="{FF2B5EF4-FFF2-40B4-BE49-F238E27FC236}">
                <a16:creationId xmlns:a16="http://schemas.microsoft.com/office/drawing/2014/main" id="{D8B68A88-1A86-4BE3-A21F-56BED1FDF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0"/>
            <a:ext cx="571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828FA3"/>
                </a:solidFill>
                <a:latin typeface="Inter"/>
                <a:ea typeface="Inter"/>
                <a:cs typeface="Inter"/>
              </a:defRPr>
            </a:pPr>
            <a:r>
              <a:rPr sz="1200" b="1">
                <a:solidFill>
                  <a:srgbClr val="828FA3"/>
                </a:solidFill>
                <a:latin typeface="Inter"/>
                <a:ea typeface="Inter"/>
                <a:cs typeface="Inter"/>
              </a:rPr>
              <a:t>11</a:t>
            </a:r>
          </a:p>
        </p:txBody>
      </p:sp>
      <p:sp>
        <p:nvSpPr>
          <p:cNvPr id="6" name="section-pill-11">
            <a:extLst xmlns:a="http://schemas.openxmlformats.org/drawingml/2006/main">
              <a:ext uri="{FF2B5EF4-FFF2-40B4-BE49-F238E27FC236}">
                <a16:creationId xmlns:a16="http://schemas.microsoft.com/office/drawing/2014/main" id="{DF6196CF-6FDC-4129-87D4-829726386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19100"/>
            <a:ext cx="1908905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D500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section-pill-11-text">
            <a:extLst xmlns:a="http://schemas.openxmlformats.org/drawingml/2006/main">
              <a:ext uri="{FF2B5EF4-FFF2-40B4-BE49-F238E27FC236}">
                <a16:creationId xmlns:a16="http://schemas.microsoft.com/office/drawing/2014/main" id="{8A15D588-1575-4CDA-ADFD-C3E7D7432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95300"/>
            <a:ext cx="15621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21217"/>
                </a:solidFill>
                <a:latin typeface="Inter"/>
                <a:ea typeface="Inter"/>
                <a:cs typeface="Inter"/>
              </a:defRPr>
            </a:pPr>
            <a:r>
              <a:rPr sz="1200" b="1">
                <a:solidFill>
                  <a:srgbClr val="121217"/>
                </a:solidFill>
                <a:latin typeface="Inter"/>
                <a:ea typeface="Inter"/>
                <a:cs typeface="Inter"/>
              </a:rPr>
              <a:t>Siguiente aprendizaje</a:t>
            </a:r>
          </a:p>
        </p:txBody>
      </p:sp>
      <p:sp>
        <p:nvSpPr>
          <p:cNvPr id="8" name="search-pill-11">
            <a:extLst xmlns:a="http://schemas.openxmlformats.org/drawingml/2006/main">
              <a:ext uri="{FF2B5EF4-FFF2-40B4-BE49-F238E27FC236}">
                <a16:creationId xmlns:a16="http://schemas.microsoft.com/office/drawing/2014/main" id="{5E89B217-9CF2-4A52-A3C5-4635B426C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400050"/>
            <a:ext cx="495300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AEF"/>
          </a:solidFill>
        </p:spPr>
      </p:sp>
      <p:sp>
        <p:nvSpPr>
          <p:cNvPr id="9" name="search-text-11">
            <a:extLst xmlns:a="http://schemas.openxmlformats.org/drawingml/2006/main">
              <a:ext uri="{FF2B5EF4-FFF2-40B4-BE49-F238E27FC236}">
                <a16:creationId xmlns:a16="http://schemas.microsoft.com/office/drawing/2014/main" id="{905479AF-E3FD-48E9-BF85-E59796D3E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68300" y="495300"/>
            <a:ext cx="45339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55B6D"/>
                </a:solidFill>
                <a:latin typeface="Inter"/>
                <a:ea typeface="Inter"/>
                <a:cs typeface="Inter"/>
              </a:defRPr>
            </a:pPr>
            <a:r>
              <a:rPr sz="1125">
                <a:solidFill>
                  <a:srgbClr val="555B6D"/>
                </a:solidFill>
                <a:latin typeface="Inter"/>
                <a:ea typeface="Inter"/>
                <a:cs typeface="Inter"/>
              </a:rPr>
              <a:t>Buscar en Etendo GO / preguntar al agente</a:t>
            </a:r>
          </a:p>
        </p:txBody>
      </p:sp>
      <p:sp>
        <p:nvSpPr>
          <p:cNvPr id="10" name="slide-title-11">
            <a:extLst xmlns:a="http://schemas.openxmlformats.org/drawingml/2006/main">
              <a:ext uri="{FF2B5EF4-FFF2-40B4-BE49-F238E27FC236}">
                <a16:creationId xmlns:a16="http://schemas.microsoft.com/office/drawing/2014/main" id="{35F8A509-31AA-46B8-883C-502F92B62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876300"/>
            <a:ext cx="161925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21217"/>
                </a:solidFill>
                <a:latin typeface="Inter"/>
                <a:ea typeface="Inter"/>
                <a:cs typeface="Inter"/>
              </a:defRPr>
            </a:pPr>
            <a:r>
              <a:rPr sz="3900" b="1">
                <a:solidFill>
                  <a:srgbClr val="121217"/>
                </a:solidFill>
                <a:latin typeface="Inter"/>
                <a:ea typeface="Inter"/>
                <a:cs typeface="Inter"/>
              </a:rPr>
              <a:t>Medir uso real para decidir mejor</a:t>
            </a:r>
          </a:p>
        </p:txBody>
      </p:sp>
      <p:sp>
        <p:nvSpPr>
          <p:cNvPr id="11" name="slide-subtitle-11">
            <a:extLst xmlns:a="http://schemas.openxmlformats.org/drawingml/2006/main">
              <a:ext uri="{FF2B5EF4-FFF2-40B4-BE49-F238E27FC236}">
                <a16:creationId xmlns:a16="http://schemas.microsoft.com/office/drawing/2014/main" id="{9099B078-46CE-468F-BC7A-7AF1F10ED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581150"/>
            <a:ext cx="105727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2025">
                <a:solidFill>
                  <a:srgbClr val="6C6C89"/>
                </a:solidFill>
                <a:latin typeface="Inter"/>
                <a:ea typeface="Inter"/>
                <a:cs typeface="Inter"/>
              </a:defRPr>
            </a:pPr>
            <a:r>
              <a:rPr sz="2025">
                <a:solidFill>
                  <a:srgbClr val="6C6C89"/>
                </a:solidFill>
                <a:latin typeface="Inter"/>
                <a:ea typeface="Inter"/>
                <a:cs typeface="Inter"/>
              </a:rPr>
              <a:t>La próxima etapa es observar humanos y agentes, interpretar esas señales y convertirlas en decisiones de producto.</a:t>
            </a:r>
          </a:p>
        </p:txBody>
      </p:sp>
      <p:sp>
        <p:nvSpPr>
          <p:cNvPr id="12" name="s11-l1-badge">
            <a:extLst xmlns:a="http://schemas.openxmlformats.org/drawingml/2006/main">
              <a:ext uri="{FF2B5EF4-FFF2-40B4-BE49-F238E27FC236}">
                <a16:creationId xmlns:a16="http://schemas.microsoft.com/office/drawing/2014/main" id="{B00D7515-4139-4774-93CE-CF1F1C0CD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279925"/>
            <a:ext cx="4191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D500"/>
          </a:solidFill>
        </p:spPr>
      </p:sp>
      <p:sp>
        <p:nvSpPr>
          <p:cNvPr id="13" name="s11-l1-badge-text">
            <a:extLst xmlns:a="http://schemas.openxmlformats.org/drawingml/2006/main">
              <a:ext uri="{FF2B5EF4-FFF2-40B4-BE49-F238E27FC236}">
                <a16:creationId xmlns:a16="http://schemas.microsoft.com/office/drawing/2014/main" id="{AE16BEA4-7602-499D-8E35-F6E8A0112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400550"/>
            <a:ext cx="4191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21217"/>
                </a:solidFill>
                <a:latin typeface="Inter"/>
                <a:ea typeface="Inter"/>
                <a:cs typeface="Inter"/>
              </a:defRPr>
            </a:pPr>
            <a:r>
              <a:rPr sz="1350" b="1">
                <a:solidFill>
                  <a:srgbClr val="121217"/>
                </a:solidFill>
                <a:latin typeface="Inter"/>
                <a:ea typeface="Inter"/>
                <a:cs typeface="Inter"/>
              </a:rPr>
              <a:t>1</a:t>
            </a:r>
          </a:p>
        </p:txBody>
      </p:sp>
      <p:sp>
        <p:nvSpPr>
          <p:cNvPr id="14" name="s11-l1-label">
            <a:extLst xmlns:a="http://schemas.openxmlformats.org/drawingml/2006/main">
              <a:ext uri="{FF2B5EF4-FFF2-40B4-BE49-F238E27FC236}">
                <a16:creationId xmlns:a16="http://schemas.microsoft.com/office/drawing/2014/main" id="{EC99376C-E085-436C-A9E0-880DAC46C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286250"/>
            <a:ext cx="76771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21217"/>
                </a:solidFill>
                <a:latin typeface="Inter"/>
                <a:ea typeface="Inter"/>
                <a:cs typeface="Inter"/>
              </a:defRPr>
            </a:pPr>
            <a:r>
              <a:rPr sz="1875" b="1">
                <a:solidFill>
                  <a:srgbClr val="121217"/>
                </a:solidFill>
                <a:latin typeface="Inter"/>
                <a:ea typeface="Inter"/>
                <a:cs typeface="Inter"/>
              </a:rPr>
              <a:t>Uso real</a:t>
            </a:r>
          </a:p>
        </p:txBody>
      </p:sp>
      <p:sp>
        <p:nvSpPr>
          <p:cNvPr id="15" name="s11-l1-detail">
            <a:extLst xmlns:a="http://schemas.openxmlformats.org/drawingml/2006/main">
              <a:ext uri="{FF2B5EF4-FFF2-40B4-BE49-F238E27FC236}">
                <a16:creationId xmlns:a16="http://schemas.microsoft.com/office/drawing/2014/main" id="{82E24D6B-847E-4054-9AE0-73FBE9504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610100"/>
            <a:ext cx="76771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C6C89"/>
                </a:solidFill>
                <a:latin typeface="Inter"/>
                <a:ea typeface="Inter"/>
                <a:cs typeface="Inter"/>
              </a:defRPr>
            </a:pPr>
            <a:r>
              <a:rPr sz="1200">
                <a:solidFill>
                  <a:srgbClr val="6C6C89"/>
                </a:solidFill>
                <a:latin typeface="Inter"/>
                <a:ea typeface="Inter"/>
                <a:cs typeface="Inter"/>
              </a:rPr>
              <a:t>humano con UI, agente con tools</a:t>
            </a:r>
          </a:p>
        </p:txBody>
      </p:sp>
      <p:sp>
        <p:nvSpPr>
          <p:cNvPr id="16" name="s11-rule-1">
            <a:extLst xmlns:a="http://schemas.openxmlformats.org/drawingml/2006/main">
              <a:ext uri="{FF2B5EF4-FFF2-40B4-BE49-F238E27FC236}">
                <a16:creationId xmlns:a16="http://schemas.microsoft.com/office/drawing/2014/main" id="{133008D9-B3A6-49F5-B7FC-10BDD77AE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010150"/>
            <a:ext cx="476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AEF"/>
          </a:solidFill>
          <a:ln xmlns:a="http://schemas.openxmlformats.org/drawingml/2006/main" w="0">
            <a:solidFill>
              <a:srgbClr val="E8EAEF"/>
            </a:solidFill>
            <a:prstDash val="solid"/>
          </a:ln>
        </p:spPr>
      </p:sp>
      <p:sp>
        <p:nvSpPr>
          <p:cNvPr id="17" name="s11-l2-badge">
            <a:extLst xmlns:a="http://schemas.openxmlformats.org/drawingml/2006/main">
              <a:ext uri="{FF2B5EF4-FFF2-40B4-BE49-F238E27FC236}">
                <a16:creationId xmlns:a16="http://schemas.microsoft.com/office/drawing/2014/main" id="{0F4F5080-E0C0-4951-82A0-02FD2E5F4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262905"/>
            <a:ext cx="4191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AEF"/>
          </a:solidFill>
        </p:spPr>
      </p:sp>
      <p:sp>
        <p:nvSpPr>
          <p:cNvPr id="18" name="s11-l2-badge-text">
            <a:extLst xmlns:a="http://schemas.openxmlformats.org/drawingml/2006/main">
              <a:ext uri="{FF2B5EF4-FFF2-40B4-BE49-F238E27FC236}">
                <a16:creationId xmlns:a16="http://schemas.microsoft.com/office/drawing/2014/main" id="{5B2507CB-B541-4E2B-A989-6643D097E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72100"/>
            <a:ext cx="4191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21217"/>
                </a:solidFill>
                <a:latin typeface="Inter"/>
                <a:ea typeface="Inter"/>
                <a:cs typeface="Inter"/>
              </a:defRPr>
            </a:pPr>
            <a:r>
              <a:rPr sz="1350" b="1">
                <a:solidFill>
                  <a:srgbClr val="121217"/>
                </a:solidFill>
                <a:latin typeface="Inter"/>
                <a:ea typeface="Inter"/>
                <a:cs typeface="Inter"/>
              </a:rPr>
              <a:t>2</a:t>
            </a:r>
          </a:p>
        </p:txBody>
      </p:sp>
      <p:sp>
        <p:nvSpPr>
          <p:cNvPr id="19" name="s11-l2-label">
            <a:extLst xmlns:a="http://schemas.openxmlformats.org/drawingml/2006/main">
              <a:ext uri="{FF2B5EF4-FFF2-40B4-BE49-F238E27FC236}">
                <a16:creationId xmlns:a16="http://schemas.microsoft.com/office/drawing/2014/main" id="{D1CDFA65-C3B9-4ED2-9187-45C8D9A42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257800"/>
            <a:ext cx="76771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21217"/>
                </a:solidFill>
                <a:latin typeface="Inter"/>
                <a:ea typeface="Inter"/>
                <a:cs typeface="Inter"/>
              </a:defRPr>
            </a:pPr>
            <a:r>
              <a:rPr sz="1875" b="1">
                <a:solidFill>
                  <a:srgbClr val="121217"/>
                </a:solidFill>
                <a:latin typeface="Inter"/>
                <a:ea typeface="Inter"/>
                <a:cs typeface="Inter"/>
              </a:rPr>
              <a:t>Métricas</a:t>
            </a:r>
          </a:p>
        </p:txBody>
      </p:sp>
      <p:sp>
        <p:nvSpPr>
          <p:cNvPr id="20" name="s11-l2-detail">
            <a:extLst xmlns:a="http://schemas.openxmlformats.org/drawingml/2006/main">
              <a:ext uri="{FF2B5EF4-FFF2-40B4-BE49-F238E27FC236}">
                <a16:creationId xmlns:a16="http://schemas.microsoft.com/office/drawing/2014/main" id="{C671E9E8-F9FC-4FCF-9BA7-B8A237E4B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81650"/>
            <a:ext cx="76771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C6C89"/>
                </a:solidFill>
                <a:latin typeface="Inter"/>
                <a:ea typeface="Inter"/>
                <a:cs typeface="Inter"/>
              </a:defRPr>
            </a:pPr>
            <a:r>
              <a:rPr sz="1200">
                <a:solidFill>
                  <a:srgbClr val="6C6C89"/>
                </a:solidFill>
                <a:latin typeface="Inter"/>
                <a:ea typeface="Inter"/>
                <a:cs typeface="Inter"/>
              </a:rPr>
              <a:t>acciones, errores, abandonos, intervención</a:t>
            </a:r>
          </a:p>
        </p:txBody>
      </p:sp>
      <p:sp>
        <p:nvSpPr>
          <p:cNvPr id="21" name="s11-rule-2">
            <a:extLst xmlns:a="http://schemas.openxmlformats.org/drawingml/2006/main">
              <a:ext uri="{FF2B5EF4-FFF2-40B4-BE49-F238E27FC236}">
                <a16:creationId xmlns:a16="http://schemas.microsoft.com/office/drawing/2014/main" id="{E2B3FF6E-2CBA-4B43-8F2C-2CECF36FE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6000750"/>
            <a:ext cx="476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AEF"/>
          </a:solidFill>
          <a:ln xmlns:a="http://schemas.openxmlformats.org/drawingml/2006/main" w="0">
            <a:solidFill>
              <a:srgbClr val="E8EAEF"/>
            </a:solidFill>
            <a:prstDash val="solid"/>
          </a:ln>
        </p:spPr>
      </p:sp>
      <p:sp>
        <p:nvSpPr>
          <p:cNvPr id="22" name="s11-l3-badge">
            <a:extLst xmlns:a="http://schemas.openxmlformats.org/drawingml/2006/main">
              <a:ext uri="{FF2B5EF4-FFF2-40B4-BE49-F238E27FC236}">
                <a16:creationId xmlns:a16="http://schemas.microsoft.com/office/drawing/2014/main" id="{F3427B58-047A-4280-89F0-4E67F5463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6245885"/>
            <a:ext cx="4191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D500"/>
          </a:solidFill>
        </p:spPr>
      </p:sp>
      <p:sp>
        <p:nvSpPr>
          <p:cNvPr id="23" name="s11-l3-badge-text">
            <a:extLst xmlns:a="http://schemas.openxmlformats.org/drawingml/2006/main">
              <a:ext uri="{FF2B5EF4-FFF2-40B4-BE49-F238E27FC236}">
                <a16:creationId xmlns:a16="http://schemas.microsoft.com/office/drawing/2014/main" id="{D9A07262-308C-4D9E-B0B7-F198FF2F1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6362700"/>
            <a:ext cx="4191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21217"/>
                </a:solidFill>
                <a:latin typeface="Inter"/>
                <a:ea typeface="Inter"/>
                <a:cs typeface="Inter"/>
              </a:defRPr>
            </a:pPr>
            <a:r>
              <a:rPr sz="1350" b="1">
                <a:solidFill>
                  <a:srgbClr val="121217"/>
                </a:solidFill>
                <a:latin typeface="Inter"/>
                <a:ea typeface="Inter"/>
                <a:cs typeface="Inter"/>
              </a:rPr>
              <a:t>3</a:t>
            </a:r>
          </a:p>
        </p:txBody>
      </p:sp>
      <p:sp>
        <p:nvSpPr>
          <p:cNvPr id="24" name="s11-l3-label">
            <a:extLst xmlns:a="http://schemas.openxmlformats.org/drawingml/2006/main">
              <a:ext uri="{FF2B5EF4-FFF2-40B4-BE49-F238E27FC236}">
                <a16:creationId xmlns:a16="http://schemas.microsoft.com/office/drawing/2014/main" id="{870517DE-2EC6-4277-A5EA-B8A717329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6248400"/>
            <a:ext cx="76771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21217"/>
                </a:solidFill>
                <a:latin typeface="Inter"/>
                <a:ea typeface="Inter"/>
                <a:cs typeface="Inter"/>
              </a:defRPr>
            </a:pPr>
            <a:r>
              <a:rPr sz="1875" b="1">
                <a:solidFill>
                  <a:srgbClr val="121217"/>
                </a:solidFill>
                <a:latin typeface="Inter"/>
                <a:ea typeface="Inter"/>
                <a:cs typeface="Inter"/>
              </a:rPr>
              <a:t>Interpretación</a:t>
            </a:r>
          </a:p>
        </p:txBody>
      </p:sp>
      <p:sp>
        <p:nvSpPr>
          <p:cNvPr id="25" name="s11-l3-detail">
            <a:extLst xmlns:a="http://schemas.openxmlformats.org/drawingml/2006/main">
              <a:ext uri="{FF2B5EF4-FFF2-40B4-BE49-F238E27FC236}">
                <a16:creationId xmlns:a16="http://schemas.microsoft.com/office/drawing/2014/main" id="{A54D6618-6661-4041-AC3F-1A7DBEFA6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6572250"/>
            <a:ext cx="76771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C6C89"/>
                </a:solidFill>
                <a:latin typeface="Inter"/>
                <a:ea typeface="Inter"/>
                <a:cs typeface="Inter"/>
              </a:defRPr>
            </a:pPr>
            <a:r>
              <a:rPr sz="1200">
                <a:solidFill>
                  <a:srgbClr val="6C6C89"/>
                </a:solidFill>
                <a:latin typeface="Inter"/>
                <a:ea typeface="Inter"/>
                <a:cs typeface="Inter"/>
              </a:rPr>
              <a:t>Producto le da significado a la señal</a:t>
            </a:r>
          </a:p>
        </p:txBody>
      </p:sp>
      <p:sp>
        <p:nvSpPr>
          <p:cNvPr id="26" name="s11-rule-3">
            <a:extLst xmlns:a="http://schemas.openxmlformats.org/drawingml/2006/main">
              <a:ext uri="{FF2B5EF4-FFF2-40B4-BE49-F238E27FC236}">
                <a16:creationId xmlns:a16="http://schemas.microsoft.com/office/drawing/2014/main" id="{7C66BE5D-F375-449D-AF15-326A019A8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6972300"/>
            <a:ext cx="476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AEF"/>
          </a:solidFill>
          <a:ln xmlns:a="http://schemas.openxmlformats.org/drawingml/2006/main" w="0">
            <a:solidFill>
              <a:srgbClr val="E8EAEF"/>
            </a:solidFill>
            <a:prstDash val="solid"/>
          </a:ln>
        </p:spPr>
      </p:sp>
      <p:sp>
        <p:nvSpPr>
          <p:cNvPr id="27" name="s11-l4-badge">
            <a:extLst xmlns:a="http://schemas.openxmlformats.org/drawingml/2006/main">
              <a:ext uri="{FF2B5EF4-FFF2-40B4-BE49-F238E27FC236}">
                <a16:creationId xmlns:a16="http://schemas.microsoft.com/office/drawing/2014/main" id="{205E89F9-29F6-4CE3-98FE-333F301A9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7228865"/>
            <a:ext cx="4191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AEF"/>
          </a:solidFill>
        </p:spPr>
      </p:sp>
      <p:sp>
        <p:nvSpPr>
          <p:cNvPr id="28" name="s11-l4-badge-text">
            <a:extLst xmlns:a="http://schemas.openxmlformats.org/drawingml/2006/main">
              <a:ext uri="{FF2B5EF4-FFF2-40B4-BE49-F238E27FC236}">
                <a16:creationId xmlns:a16="http://schemas.microsoft.com/office/drawing/2014/main" id="{735DD57D-8752-4E6D-A939-D19CF8759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7334250"/>
            <a:ext cx="4191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21217"/>
                </a:solidFill>
                <a:latin typeface="Inter"/>
                <a:ea typeface="Inter"/>
                <a:cs typeface="Inter"/>
              </a:defRPr>
            </a:pPr>
            <a:r>
              <a:rPr sz="1350" b="1">
                <a:solidFill>
                  <a:srgbClr val="121217"/>
                </a:solidFill>
                <a:latin typeface="Inter"/>
                <a:ea typeface="Inter"/>
                <a:cs typeface="Inter"/>
              </a:rPr>
              <a:t>4</a:t>
            </a:r>
          </a:p>
        </p:txBody>
      </p:sp>
      <p:sp>
        <p:nvSpPr>
          <p:cNvPr id="29" name="s11-l4-label">
            <a:extLst xmlns:a="http://schemas.openxmlformats.org/drawingml/2006/main">
              <a:ext uri="{FF2B5EF4-FFF2-40B4-BE49-F238E27FC236}">
                <a16:creationId xmlns:a16="http://schemas.microsoft.com/office/drawing/2014/main" id="{8AC867A1-D39D-40E6-B25A-992A19869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7219950"/>
            <a:ext cx="76771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21217"/>
                </a:solidFill>
                <a:latin typeface="Inter"/>
                <a:ea typeface="Inter"/>
                <a:cs typeface="Inter"/>
              </a:defRPr>
            </a:pPr>
            <a:r>
              <a:rPr sz="1875" b="1">
                <a:solidFill>
                  <a:srgbClr val="121217"/>
                </a:solidFill>
                <a:latin typeface="Inter"/>
                <a:ea typeface="Inter"/>
                <a:cs typeface="Inter"/>
              </a:rPr>
              <a:t>Decisiones</a:t>
            </a:r>
          </a:p>
        </p:txBody>
      </p:sp>
      <p:sp>
        <p:nvSpPr>
          <p:cNvPr id="30" name="s11-l4-detail">
            <a:extLst xmlns:a="http://schemas.openxmlformats.org/drawingml/2006/main">
              <a:ext uri="{FF2B5EF4-FFF2-40B4-BE49-F238E27FC236}">
                <a16:creationId xmlns:a16="http://schemas.microsoft.com/office/drawing/2014/main" id="{BEE88A78-25F3-4ABC-B705-4AD00487C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7543800"/>
            <a:ext cx="76771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C6C89"/>
                </a:solidFill>
                <a:latin typeface="Inter"/>
                <a:ea typeface="Inter"/>
                <a:cs typeface="Inter"/>
              </a:defRPr>
            </a:pPr>
            <a:r>
              <a:rPr sz="1200">
                <a:solidFill>
                  <a:srgbClr val="6C6C89"/>
                </a:solidFill>
                <a:latin typeface="Inter"/>
                <a:ea typeface="Inter"/>
                <a:cs typeface="Inter"/>
              </a:rPr>
              <a:t>mejora de experiencia, contratos y tools</a:t>
            </a:r>
          </a:p>
        </p:txBody>
      </p:sp>
      <p:sp>
        <p:nvSpPr>
          <p:cNvPr id="31" name="s11-pill">
            <a:extLst xmlns:a="http://schemas.openxmlformats.org/drawingml/2006/main">
              <a:ext uri="{FF2B5EF4-FFF2-40B4-BE49-F238E27FC236}">
                <a16:creationId xmlns:a16="http://schemas.microsoft.com/office/drawing/2014/main" id="{5301DFBA-7AD0-402E-BE49-CE7AE365D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7483" y="4558817"/>
            <a:ext cx="2087023" cy="35433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D500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s11-pill-text">
            <a:extLst xmlns:a="http://schemas.openxmlformats.org/drawingml/2006/main">
              <a:ext uri="{FF2B5EF4-FFF2-40B4-BE49-F238E27FC236}">
                <a16:creationId xmlns:a16="http://schemas.microsoft.com/office/drawing/2014/main" id="{1BB3FFE8-32E3-4386-AFBC-A65395BF8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648200"/>
            <a:ext cx="17526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21217"/>
                </a:solidFill>
                <a:latin typeface="Inter"/>
                <a:ea typeface="Inter"/>
                <a:cs typeface="Inter"/>
              </a:defRPr>
            </a:pPr>
            <a:r>
              <a:rPr sz="1200" b="1">
                <a:solidFill>
                  <a:srgbClr val="121217"/>
                </a:solidFill>
                <a:latin typeface="Inter"/>
                <a:ea typeface="Inter"/>
                <a:cs typeface="Inter"/>
              </a:rPr>
              <a:t>Preguntas de validación</a:t>
            </a:r>
          </a:p>
        </p:txBody>
      </p:sp>
      <p:sp>
        <p:nvSpPr>
          <p:cNvPr id="33" name="s11-b1-dot">
            <a:extLst xmlns:a="http://schemas.openxmlformats.org/drawingml/2006/main">
              <a:ext uri="{FF2B5EF4-FFF2-40B4-BE49-F238E27FC236}">
                <a16:creationId xmlns:a16="http://schemas.microsoft.com/office/drawing/2014/main" id="{EBA3E512-22F0-44EA-9DF9-E8C1219B6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51054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500"/>
          </a:solidFill>
          <a:ln xmlns:a="http://schemas.openxmlformats.org/drawingml/2006/main" w="0">
            <a:solidFill>
              <a:srgbClr val="FFD500"/>
            </a:solidFill>
            <a:prstDash val="solid"/>
          </a:ln>
        </p:spPr>
      </p:sp>
      <p:sp>
        <p:nvSpPr>
          <p:cNvPr id="34" name="s11-b1-text">
            <a:extLst xmlns:a="http://schemas.openxmlformats.org/drawingml/2006/main">
              <a:ext uri="{FF2B5EF4-FFF2-40B4-BE49-F238E27FC236}">
                <a16:creationId xmlns:a16="http://schemas.microsoft.com/office/drawing/2014/main" id="{3E9A62D0-FCB1-462A-B05B-1EACF6EC2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5105400"/>
            <a:ext cx="72199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6000"/>
              </a:lnSpc>
              <a:buNone/>
              <a:defRPr sz="1800">
                <a:solidFill>
                  <a:srgbClr val="6C6C89"/>
                </a:solidFill>
                <a:latin typeface="Inter"/>
                <a:ea typeface="Inter"/>
                <a:cs typeface="Inter"/>
              </a:defRPr>
            </a:pPr>
            <a:r>
              <a:rPr sz="1800">
                <a:solidFill>
                  <a:srgbClr val="6C6C89"/>
                </a:solidFill>
                <a:latin typeface="Inter"/>
                <a:ea typeface="Inter"/>
                <a:cs typeface="Inter"/>
              </a:rPr>
              <a:t>¿La UI reduce fricción para el usuario?</a:t>
            </a:r>
          </a:p>
        </p:txBody>
      </p:sp>
      <p:sp>
        <p:nvSpPr>
          <p:cNvPr id="35" name="s11-b2-dot">
            <a:extLst xmlns:a="http://schemas.openxmlformats.org/drawingml/2006/main">
              <a:ext uri="{FF2B5EF4-FFF2-40B4-BE49-F238E27FC236}">
                <a16:creationId xmlns:a16="http://schemas.microsoft.com/office/drawing/2014/main" id="{EDCB4A1E-8EB9-49AC-8EEA-CC45734FD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56197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500"/>
          </a:solidFill>
          <a:ln xmlns:a="http://schemas.openxmlformats.org/drawingml/2006/main" w="0">
            <a:solidFill>
              <a:srgbClr val="FFD500"/>
            </a:solidFill>
            <a:prstDash val="solid"/>
          </a:ln>
        </p:spPr>
      </p:sp>
      <p:sp>
        <p:nvSpPr>
          <p:cNvPr id="36" name="s11-b2-text">
            <a:extLst xmlns:a="http://schemas.openxmlformats.org/drawingml/2006/main">
              <a:ext uri="{FF2B5EF4-FFF2-40B4-BE49-F238E27FC236}">
                <a16:creationId xmlns:a16="http://schemas.microsoft.com/office/drawing/2014/main" id="{F2708AB3-1966-43CE-9B6F-1855E3CE0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5619750"/>
            <a:ext cx="72199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6000"/>
              </a:lnSpc>
              <a:buNone/>
              <a:defRPr sz="1800">
                <a:solidFill>
                  <a:srgbClr val="6C6C89"/>
                </a:solidFill>
                <a:latin typeface="Inter"/>
                <a:ea typeface="Inter"/>
                <a:cs typeface="Inter"/>
              </a:defRPr>
            </a:pPr>
            <a:r>
              <a:rPr sz="1800">
                <a:solidFill>
                  <a:srgbClr val="6C6C89"/>
                </a:solidFill>
                <a:latin typeface="Inter"/>
                <a:ea typeface="Inter"/>
                <a:cs typeface="Inter"/>
              </a:rPr>
              <a:t>¿El agente elige la tool correcta?</a:t>
            </a:r>
          </a:p>
        </p:txBody>
      </p:sp>
      <p:sp>
        <p:nvSpPr>
          <p:cNvPr id="37" name="s11-b3-dot">
            <a:extLst xmlns:a="http://schemas.openxmlformats.org/drawingml/2006/main">
              <a:ext uri="{FF2B5EF4-FFF2-40B4-BE49-F238E27FC236}">
                <a16:creationId xmlns:a16="http://schemas.microsoft.com/office/drawing/2014/main" id="{E23C07D9-5D4D-4FCC-9C49-61C189937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61150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500"/>
          </a:solidFill>
          <a:ln xmlns:a="http://schemas.openxmlformats.org/drawingml/2006/main" w="0">
            <a:solidFill>
              <a:srgbClr val="FFD500"/>
            </a:solidFill>
            <a:prstDash val="solid"/>
          </a:ln>
        </p:spPr>
      </p:sp>
      <p:sp>
        <p:nvSpPr>
          <p:cNvPr id="38" name="s11-b3-text">
            <a:extLst xmlns:a="http://schemas.openxmlformats.org/drawingml/2006/main">
              <a:ext uri="{FF2B5EF4-FFF2-40B4-BE49-F238E27FC236}">
                <a16:creationId xmlns:a16="http://schemas.microsoft.com/office/drawing/2014/main" id="{A9D0999C-A7C9-40A9-8C97-AA86E2C05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6115050"/>
            <a:ext cx="72199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6000"/>
              </a:lnSpc>
              <a:buNone/>
              <a:defRPr sz="1800">
                <a:solidFill>
                  <a:srgbClr val="6C6C89"/>
                </a:solidFill>
                <a:latin typeface="Inter"/>
                <a:ea typeface="Inter"/>
                <a:cs typeface="Inter"/>
              </a:defRPr>
            </a:pPr>
            <a:r>
              <a:rPr sz="1800">
                <a:solidFill>
                  <a:srgbClr val="6C6C89"/>
                </a:solidFill>
                <a:latin typeface="Inter"/>
                <a:ea typeface="Inter"/>
                <a:cs typeface="Inter"/>
              </a:rPr>
              <a:t>¿Resuelve datos reales sin inventar?</a:t>
            </a:r>
          </a:p>
        </p:txBody>
      </p:sp>
      <p:sp>
        <p:nvSpPr>
          <p:cNvPr id="39" name="s11-b4-dot">
            <a:extLst xmlns:a="http://schemas.openxmlformats.org/drawingml/2006/main">
              <a:ext uri="{FF2B5EF4-FFF2-40B4-BE49-F238E27FC236}">
                <a16:creationId xmlns:a16="http://schemas.microsoft.com/office/drawing/2014/main" id="{C4881F65-B3DE-40D9-BD99-EB719576E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66294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500"/>
          </a:solidFill>
          <a:ln xmlns:a="http://schemas.openxmlformats.org/drawingml/2006/main" w="0">
            <a:solidFill>
              <a:srgbClr val="FFD500"/>
            </a:solidFill>
            <a:prstDash val="solid"/>
          </a:ln>
        </p:spPr>
      </p:sp>
      <p:sp>
        <p:nvSpPr>
          <p:cNvPr id="40" name="s11-b4-text">
            <a:extLst xmlns:a="http://schemas.openxmlformats.org/drawingml/2006/main">
              <a:ext uri="{FF2B5EF4-FFF2-40B4-BE49-F238E27FC236}">
                <a16:creationId xmlns:a16="http://schemas.microsoft.com/office/drawing/2014/main" id="{EB0B859E-7040-4FC9-BB6A-B3EE9E612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6629400"/>
            <a:ext cx="72199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6000"/>
              </a:lnSpc>
              <a:buNone/>
              <a:defRPr sz="1800">
                <a:solidFill>
                  <a:srgbClr val="6C6C89"/>
                </a:solidFill>
                <a:latin typeface="Inter"/>
                <a:ea typeface="Inter"/>
                <a:cs typeface="Inter"/>
              </a:defRPr>
            </a:pPr>
            <a:r>
              <a:rPr sz="1800">
                <a:solidFill>
                  <a:srgbClr val="6C6C89"/>
                </a:solidFill>
                <a:latin typeface="Inter"/>
                <a:ea typeface="Inter"/>
                <a:cs typeface="Inter"/>
              </a:rPr>
              <a:t>¿Ejecuta lo mínimo necesario?</a:t>
            </a:r>
          </a:p>
        </p:txBody>
      </p:sp>
      <p:sp>
        <p:nvSpPr>
          <p:cNvPr id="41" name="s11-b5-dot">
            <a:extLst xmlns:a="http://schemas.openxmlformats.org/drawingml/2006/main">
              <a:ext uri="{FF2B5EF4-FFF2-40B4-BE49-F238E27FC236}">
                <a16:creationId xmlns:a16="http://schemas.microsoft.com/office/drawing/2014/main" id="{2B09C418-48E2-4C41-8DB5-1C32F9655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71437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500"/>
          </a:solidFill>
          <a:ln xmlns:a="http://schemas.openxmlformats.org/drawingml/2006/main" w="0">
            <a:solidFill>
              <a:srgbClr val="FFD500"/>
            </a:solidFill>
            <a:prstDash val="solid"/>
          </a:ln>
        </p:spPr>
      </p:sp>
      <p:sp>
        <p:nvSpPr>
          <p:cNvPr id="42" name="s11-b5-text">
            <a:extLst xmlns:a="http://schemas.openxmlformats.org/drawingml/2006/main">
              <a:ext uri="{FF2B5EF4-FFF2-40B4-BE49-F238E27FC236}">
                <a16:creationId xmlns:a16="http://schemas.microsoft.com/office/drawing/2014/main" id="{CB55DE59-5DE5-4EEF-8DEA-D77A09347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7143750"/>
            <a:ext cx="72199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6000"/>
              </a:lnSpc>
              <a:buNone/>
              <a:defRPr sz="1800">
                <a:solidFill>
                  <a:srgbClr val="6C6C89"/>
                </a:solidFill>
                <a:latin typeface="Inter"/>
                <a:ea typeface="Inter"/>
                <a:cs typeface="Inter"/>
              </a:defRPr>
            </a:pPr>
            <a:r>
              <a:rPr sz="1800">
                <a:solidFill>
                  <a:srgbClr val="6C6C89"/>
                </a:solidFill>
                <a:latin typeface="Inter"/>
                <a:ea typeface="Inter"/>
                <a:cs typeface="Inter"/>
              </a:rPr>
              <a:t>¿Verifica el resultado contra el objetivo?</a:t>
            </a:r>
          </a:p>
        </p:txBody>
      </p:sp>
      <p:sp>
        <p:nvSpPr>
          <p:cNvPr id="43" name="footer-left-11">
            <a:extLst xmlns:a="http://schemas.openxmlformats.org/drawingml/2006/main">
              <a:ext uri="{FF2B5EF4-FFF2-40B4-BE49-F238E27FC236}">
                <a16:creationId xmlns:a16="http://schemas.microsoft.com/office/drawing/2014/main" id="{8DFF1843-F100-4F83-9BAB-A2370783F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9734550"/>
            <a:ext cx="59055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828FA3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828FA3"/>
                </a:solidFill>
                <a:latin typeface="Inter"/>
                <a:ea typeface="Inter"/>
                <a:cs typeface="Inter"/>
              </a:rPr>
              <a:t>Etendo GO · Producto · 2026-04-30</a:t>
            </a:r>
          </a:p>
        </p:txBody>
      </p:sp>
      <p:sp>
        <p:nvSpPr>
          <p:cNvPr id="44" name="footer-right-11">
            <a:extLst xmlns:a="http://schemas.openxmlformats.org/drawingml/2006/main">
              <a:ext uri="{FF2B5EF4-FFF2-40B4-BE49-F238E27FC236}">
                <a16:creationId xmlns:a16="http://schemas.microsoft.com/office/drawing/2014/main" id="{48175837-B707-4681-850D-45C099778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0" y="9734550"/>
            <a:ext cx="24765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828FA3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828FA3"/>
                </a:solidFill>
                <a:latin typeface="Inter"/>
                <a:ea typeface="Inter"/>
                <a:cs typeface="Inter"/>
              </a:rPr>
              <a:t>Schema Forge snapshot</a:t>
            </a:r>
          </a:p>
        </p:txBody>
      </p:sp>
    </p:spTree>
    <p:extLst>
      <p:ext uri="{BB962C8B-B14F-4D97-AF65-F5344CB8AC3E}">
        <p14:creationId xmlns:p14="http://schemas.microsoft.com/office/powerpoint/2010/main" val="56143498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2026-04-30T03:22:48.1150000Z</dcterms:created>
  <dcterms:modified xsi:type="dcterms:W3CDTF">2026-04-30T03:22:48.1150000Z</dcterms:modified>
</coreProperties>
</file>