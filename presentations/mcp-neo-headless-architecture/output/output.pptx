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ce1cf53f83443a" /><Relationship Type="http://schemas.openxmlformats.org/officeDocument/2006/relationships/extended-properties" Target="/docProps/app.xml" Id="Rd013ad7b1c3749d5" /><Relationship Type="http://schemas.openxmlformats.org/officeDocument/2006/relationships/officeDocument" Target="/ppt/presentation.xml" Id="R863f0cb0aab74d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9417b00b8b4ecc"/>
  </p:sldMasterIdLst>
  <p:notesMasterIdLst>
    <p:notesMasterId xmlns:r="http://schemas.openxmlformats.org/officeDocument/2006/relationships" r:id="R9b1d140c1ca34e92"/>
  </p:notesMasterIdLst>
  <p:sldIdLst>
    <p:sldId xmlns:r="http://schemas.openxmlformats.org/officeDocument/2006/relationships" id="256" r:id="Re07042d8ee01450e"/>
    <p:sldId xmlns:r="http://schemas.openxmlformats.org/officeDocument/2006/relationships" id="257" r:id="Rc7edcf54e7a14e64"/>
    <p:sldId xmlns:r="http://schemas.openxmlformats.org/officeDocument/2006/relationships" id="258" r:id="R91272c4e894b4816"/>
    <p:sldId xmlns:r="http://schemas.openxmlformats.org/officeDocument/2006/relationships" id="259" r:id="R1b792cc0ba8143e7"/>
    <p:sldId xmlns:r="http://schemas.openxmlformats.org/officeDocument/2006/relationships" id="260" r:id="Rf1509232907e4fb9"/>
    <p:sldId xmlns:r="http://schemas.openxmlformats.org/officeDocument/2006/relationships" id="261" r:id="R243f630804614ec4"/>
    <p:sldId xmlns:r="http://schemas.openxmlformats.org/officeDocument/2006/relationships" id="262" r:id="Rf061bc0b76794321"/>
    <p:sldId xmlns:r="http://schemas.openxmlformats.org/officeDocument/2006/relationships" id="263" r:id="R8b97b16922dd4d1b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9417b00b8b4ecc" /><Relationship Type="http://schemas.openxmlformats.org/officeDocument/2006/relationships/theme" Target="/ppt/theme/theme1.xml" Id="Rb3dc689f90af4f39" /><Relationship Type="http://schemas.openxmlformats.org/officeDocument/2006/relationships/notesMaster" Target="/ppt/notesMasters/notesMaster1.xml" Id="R9b1d140c1ca34e92" /><Relationship Type="http://schemas.openxmlformats.org/officeDocument/2006/relationships/presProps" Target="/ppt/presProps.xml" Id="R77caa01ac3ae4933" /><Relationship Type="http://schemas.openxmlformats.org/officeDocument/2006/relationships/viewProps" Target="/ppt/viewProps.xml" Id="R706158550a804885" /><Relationship Type="http://schemas.openxmlformats.org/officeDocument/2006/relationships/tableStyles" Target="/ppt/tableStyles.xml" Id="Recc9ce1e77c64f2b" /><Relationship Type="http://schemas.openxmlformats.org/officeDocument/2006/relationships/slide" Target="/ppt/slides/slide1.xml" Id="Re07042d8ee01450e" /><Relationship Type="http://schemas.openxmlformats.org/officeDocument/2006/relationships/slide" Target="/ppt/slides/slide2.xml" Id="Rc7edcf54e7a14e64" /><Relationship Type="http://schemas.openxmlformats.org/officeDocument/2006/relationships/slide" Target="/ppt/slides/slide3.xml" Id="R91272c4e894b4816" /><Relationship Type="http://schemas.openxmlformats.org/officeDocument/2006/relationships/slide" Target="/ppt/slides/slide4.xml" Id="R1b792cc0ba8143e7" /><Relationship Type="http://schemas.openxmlformats.org/officeDocument/2006/relationships/slide" Target="/ppt/slides/slide5.xml" Id="Rf1509232907e4fb9" /><Relationship Type="http://schemas.openxmlformats.org/officeDocument/2006/relationships/slide" Target="/ppt/slides/slide6.xml" Id="R243f630804614ec4" /><Relationship Type="http://schemas.openxmlformats.org/officeDocument/2006/relationships/slide" Target="/ppt/slides/slide7.xml" Id="Rf061bc0b76794321" /><Relationship Type="http://schemas.openxmlformats.org/officeDocument/2006/relationships/slide" Target="/ppt/slides/slide8.xml" Id="R8b97b16922dd4d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e9dd497c49741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f162b202de454a" /><Relationship Type="http://schemas.openxmlformats.org/officeDocument/2006/relationships/notesMaster" Target="/ppt/notesMasters/notesMaster1.xml" Id="Rc7c8dd0e1e654b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68212c1c0d45bc" /><Relationship Type="http://schemas.openxmlformats.org/officeDocument/2006/relationships/notesMaster" Target="/ppt/notesMasters/notesMaster1.xml" Id="R1be72b55a84842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08d15028454b58" /><Relationship Type="http://schemas.openxmlformats.org/officeDocument/2006/relationships/notesMaster" Target="/ppt/notesMasters/notesMaster1.xml" Id="Ra82442ac8ff24e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637bfd70994473" /><Relationship Type="http://schemas.openxmlformats.org/officeDocument/2006/relationships/notesMaster" Target="/ppt/notesMasters/notesMaster1.xml" Id="Rdb7f8573ebfd49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18682b782146f1" /><Relationship Type="http://schemas.openxmlformats.org/officeDocument/2006/relationships/notesMaster" Target="/ppt/notesMasters/notesMaster1.xml" Id="R7ca886f600654e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9e78fbc93048f8" /><Relationship Type="http://schemas.openxmlformats.org/officeDocument/2006/relationships/notesMaster" Target="/ppt/notesMasters/notesMaster1.xml" Id="Rd6061f3ba6f34d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03c9cd4b424b8d" /><Relationship Type="http://schemas.openxmlformats.org/officeDocument/2006/relationships/notesMaster" Target="/ppt/notesMasters/notesMaster1.xml" Id="R14b90fbf613544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3e72fb01c64110" /><Relationship Type="http://schemas.openxmlformats.org/officeDocument/2006/relationships/notesMaster" Target="/ppt/notesMasters/notesMaster1.xml" Id="R1a8de8c6a1b44f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d59f16939149c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33b4443c4bd4016" /><Relationship Type="http://schemas.openxmlformats.org/officeDocument/2006/relationships/slideLayout" Target="/ppt/slideLayouts/slideLayout2.xml" Id="R6a76251579c147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76251579c147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d5a5e8307b4904" /><Relationship Type="http://schemas.openxmlformats.org/officeDocument/2006/relationships/notesSlide" Target="/ppt/notesSlides/notesSlide1.xml" Id="Rfd8c2846de6040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f4d61321034280" /><Relationship Type="http://schemas.openxmlformats.org/officeDocument/2006/relationships/notesSlide" Target="/ppt/notesSlides/notesSlide2.xml" Id="R3e89e345b75d4e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3029a60dc24846" /><Relationship Type="http://schemas.openxmlformats.org/officeDocument/2006/relationships/notesSlide" Target="/ppt/notesSlides/notesSlide3.xml" Id="R690cb7a9f0c446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1bbb19cdb94de7" /><Relationship Type="http://schemas.openxmlformats.org/officeDocument/2006/relationships/notesSlide" Target="/ppt/notesSlides/notesSlide4.xml" Id="R059c6fbb4ebe4b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ae77ed4548426c" /><Relationship Type="http://schemas.openxmlformats.org/officeDocument/2006/relationships/notesSlide" Target="/ppt/notesSlides/notesSlide5.xml" Id="R88976686bb8c41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050941aa2e43f7" /><Relationship Type="http://schemas.openxmlformats.org/officeDocument/2006/relationships/notesSlide" Target="/ppt/notesSlides/notesSlide6.xml" Id="R3598c605270f42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cb04e589684497" /><Relationship Type="http://schemas.openxmlformats.org/officeDocument/2006/relationships/notesSlide" Target="/ppt/notesSlides/notesSlide7.xml" Id="Rf83f063bf51840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ba2349d47b4c5d" /><Relationship Type="http://schemas.openxmlformats.org/officeDocument/2006/relationships/notesSlide" Target="/ppt/notesSlides/notesSlide8.xml" Id="R0875b42297da478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92405A-2547-4B6D-9AC8-7CDA9E6C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FCB2ED-6A73-4060-957A-0D51D471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334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A"/>
          </a:solidFill>
          <a:ln xmlns:a="http://schemas.openxmlformats.org/drawingml/2006/main" w="0">
            <a:solidFill>
              <a:srgbClr val="F8F4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8F1299-0853-49CD-ABA6-F8FDBFBD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9535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63DC"/>
                </a:solidFill>
              </a:defRPr>
            </a:pPr>
            <a:r>
              <a:rPr sz="1500" b="1">
                <a:solidFill>
                  <a:srgbClr val="1863DC"/>
                </a:solidFill>
              </a:rPr>
              <a:t>Arquitectura MCP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E318E8-0E1B-4C06-98BE-D8ACD4F2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723900"/>
            <a:ext cx="1066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3DC"/>
          </a:solidFill>
          <a:ln xmlns:a="http://schemas.openxmlformats.org/drawingml/2006/main" w="0">
            <a:solidFill>
              <a:srgbClr val="1863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B8EA56-0764-4A4E-85F4-F4781284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838200"/>
            <a:ext cx="106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MCP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7DA16-CD6B-4766-B1F5-35D4E532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700" y="723900"/>
            <a:ext cx="1066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9B66"/>
          </a:solidFill>
          <a:ln xmlns:a="http://schemas.openxmlformats.org/drawingml/2006/main" w="0">
            <a:solidFill>
              <a:srgbClr val="1C9B6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36B74F-B87B-4F1D-8B8E-8624A1F8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6200" y="838200"/>
            <a:ext cx="106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OAuth2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E743F7-C848-4CDB-A739-09E36DE3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723900"/>
            <a:ext cx="1066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6B2F"/>
          </a:solidFill>
          <a:ln xmlns:a="http://schemas.openxmlformats.org/drawingml/2006/main" w="0">
            <a:solidFill>
              <a:srgbClr val="E56B2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FA1F06-7322-4618-8F26-9846D1FE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838200"/>
            <a:ext cx="106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2F96CB-AD75-44D6-AD7B-01F6B0E8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7429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11827"/>
                </a:solidFill>
              </a:defRPr>
            </a:pPr>
            <a:r>
              <a:rPr sz="5400" b="1">
                <a:solidFill>
                  <a:srgbClr val="111827"/>
                </a:solidFill>
              </a:rPr>
              <a:t>ERP agentico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D14C9E-9E29-419F-BE09-980FFB0D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81550"/>
            <a:ext cx="7810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MCP sobre NEO Headless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11D985-99AD-4DE5-8481-FC11C40F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435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3DC"/>
          </a:solidFill>
          <a:ln xmlns:a="http://schemas.openxmlformats.org/drawingml/2006/main" w="0">
            <a:solidFill>
              <a:srgbClr val="1863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966199-8E44-4128-A1A0-8ECB2052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905500"/>
            <a:ext cx="82486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5B6472"/>
                </a:solidFill>
              </a:defRPr>
            </a:pPr>
            <a:r>
              <a:rPr sz="2175">
                <a:solidFill>
                  <a:srgbClr val="5B6472"/>
                </a:solidFill>
              </a:rPr>
              <a:t>El agente no entra por atras del ERP: entra por un contrato seguro, descubrible y gobernado por la misma configuracion de NEO.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D15641-1CE9-49B1-96BC-A2517E37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931545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63DC"/>
                </a:solidFill>
              </a:defRPr>
            </a:pPr>
            <a:r>
              <a:rPr sz="1800" b="1">
                <a:solidFill>
                  <a:srgbClr val="1863DC"/>
                </a:solidFill>
              </a:rPr>
              <a:t>/mcp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E46999-9DC8-4EF0-9CCF-26874EED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9296400"/>
            <a:ext cx="45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B6472"/>
                </a:solidFill>
              </a:defRPr>
            </a:pPr>
            <a:r>
              <a:rPr sz="2100" b="1">
                <a:solidFill>
                  <a:srgbClr val="5B6472"/>
                </a:solidFill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FF6055-0C0A-4C74-B90B-26091EF9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931545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C9B66"/>
                </a:solidFill>
              </a:defRPr>
            </a:pPr>
            <a:r>
              <a:rPr sz="1800" b="1">
                <a:solidFill>
                  <a:srgbClr val="1C9B66"/>
                </a:solidFill>
              </a:rPr>
              <a:t>/oauth2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49D03E-F848-42F2-BA71-FBC6675B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9296400"/>
            <a:ext cx="45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B6472"/>
                </a:solidFill>
              </a:defRPr>
            </a:pPr>
            <a:r>
              <a:rPr sz="2100" b="1">
                <a:solidFill>
                  <a:srgbClr val="5B6472"/>
                </a:solidFill>
              </a:rPr>
              <a:t>-&gt;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ABCC02-8F88-40D1-9BD0-82FE868F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9315450"/>
            <a:ext cx="228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56B2F"/>
                </a:solidFill>
              </a:defRPr>
            </a:pPr>
            <a:r>
              <a:rPr sz="1800" b="1">
                <a:solidFill>
                  <a:srgbClr val="E56B2F"/>
                </a:solidFill>
              </a:rPr>
              <a:t>/sws/neo/*</a:t>
            </a:r>
          </a:p>
        </p:txBody>
      </p:sp>
    </p:spTree>
    <p:extLst>
      <p:ext uri="{BB962C8B-B14F-4D97-AF65-F5344CB8AC3E}">
        <p14:creationId xmlns:p14="http://schemas.microsoft.com/office/powerpoint/2010/main" val="163998588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1F97D14-6974-445A-B6E4-BA8A3F1D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A"/>
          </a:solidFill>
          <a:ln xmlns:a="http://schemas.openxmlformats.org/drawingml/2006/main" w="0">
            <a:solidFill>
              <a:srgbClr val="F8F4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3DC2F0-8F74-4D54-BE2B-01E72B8C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6200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3DC"/>
          </a:solidFill>
          <a:ln xmlns:a="http://schemas.openxmlformats.org/drawingml/2006/main" w="0">
            <a:solidFill>
              <a:srgbClr val="1863D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98F4B1-9B29-41E0-A124-6DBD2582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85800"/>
            <a:ext cx="495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63DC"/>
                </a:solidFill>
              </a:defRPr>
            </a:pPr>
            <a:r>
              <a:rPr sz="1350" b="1">
                <a:solidFill>
                  <a:srgbClr val="1863DC"/>
                </a:solidFill>
              </a:rPr>
              <a:t>TESIS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4E5672-9B83-4AFB-85D8-2EE22FC5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09650"/>
            <a:ext cx="165354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El ERP se vuelve agentico cuando el modelo opera por contratos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8C0D10B-9217-4E6D-A6ED-EBB072B9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12096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B6472"/>
                </a:solidFill>
              </a:defRPr>
            </a:pPr>
            <a:r>
              <a:rPr sz="2100">
                <a:solidFill>
                  <a:srgbClr val="5B6472"/>
                </a:solidFill>
              </a:rPr>
              <a:t>No alcanza con sumar un chat. El agente debe descubrir capacidades, autenticarse, pedir permisos y ejecutar acciones reales del ERP.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0D7B6A-59BE-45FA-969C-5A060F06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5346700" cy="5695950"/>
          </a:xfrm>
          <a:prstGeom xmlns:a="http://schemas.openxmlformats.org/drawingml/2006/main" prst="roundRect">
            <a:avLst>
              <a:gd name="adj" fmla="val 14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9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4A1A7D-B88E-4564-9BE0-D6AF54AA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05200"/>
            <a:ext cx="4762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3DC"/>
          </a:solidFill>
          <a:ln xmlns:a="http://schemas.openxmlformats.org/drawingml/2006/main" w="0">
            <a:solidFill>
              <a:srgbClr val="1863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EB1B2F-5B83-4A24-81E9-C4196B1A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95700"/>
            <a:ext cx="4781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Descubrible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4F729D-2343-417B-A7D7-4FDF4D5F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57650"/>
            <a:ext cx="47815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472"/>
                </a:solidFill>
              </a:defRPr>
            </a:pPr>
            <a:r>
              <a:rPr sz="1575">
                <a:solidFill>
                  <a:srgbClr val="5B6472"/>
                </a:solidFill>
              </a:rPr>
              <a:t>El cliente MCP encuentra el recurso, el authorization server y los endpoints sin conocer el contexto Tomcat.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7F8983-1868-4F7F-A703-2E5EB325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0650" y="3238500"/>
            <a:ext cx="5346700" cy="5695950"/>
          </a:xfrm>
          <a:prstGeom xmlns:a="http://schemas.openxmlformats.org/drawingml/2006/main" prst="roundRect">
            <a:avLst>
              <a:gd name="adj" fmla="val 14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9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F56DC3-5D6D-4FEF-B0C0-D6732E1C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05200"/>
            <a:ext cx="4762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9B66"/>
          </a:solidFill>
          <a:ln xmlns:a="http://schemas.openxmlformats.org/drawingml/2006/main" w="0">
            <a:solidFill>
              <a:srgbClr val="1C9B6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897643-CA1C-46BD-A28C-1BABB52A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95700"/>
            <a:ext cx="4781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Gobernado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D64ED6-54C9-4510-8668-F62CB903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57650"/>
            <a:ext cx="47815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472"/>
                </a:solidFill>
              </a:defRPr>
            </a:pPr>
            <a:r>
              <a:rPr sz="1575">
                <a:solidFill>
                  <a:srgbClr val="5B6472"/>
                </a:solidFill>
              </a:rPr>
              <a:t>OAuth2, scopes y consentimiento hacen explicito que puede leer, escribir, correr procesos o generar reportes.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5FFB2D-8F21-49C3-B2FA-4B380E84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0" y="3238500"/>
            <a:ext cx="5346700" cy="5695950"/>
          </a:xfrm>
          <a:prstGeom xmlns:a="http://schemas.openxmlformats.org/drawingml/2006/main" prst="roundRect">
            <a:avLst>
              <a:gd name="adj" fmla="val 14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9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B6012E-99F3-4DCA-86C0-D07045F7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505200"/>
            <a:ext cx="4762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6B2F"/>
          </a:solidFill>
          <a:ln xmlns:a="http://schemas.openxmlformats.org/drawingml/2006/main" w="0">
            <a:solidFill>
              <a:srgbClr val="E56B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09D9B4-647A-46E4-8428-BD26FAF4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695700"/>
            <a:ext cx="4781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Ejecutable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FDAAF7-30D8-4B00-A4D5-0C193E9B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4057650"/>
            <a:ext cx="47815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472"/>
                </a:solidFill>
              </a:defRPr>
            </a:pPr>
            <a:r>
              <a:rPr sz="1575">
                <a:solidFill>
                  <a:srgbClr val="5B6472"/>
                </a:solidFill>
              </a:rPr>
              <a:t>NEO Headless traduce la intencion del agente en operaciones de negocio contra entidades, procesos y reportes.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07DCA0-E0FB-4FC9-8BEC-865B9F96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372600"/>
            <a:ext cx="1653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B6472"/>
                </a:solidFill>
              </a:defRPr>
            </a:pPr>
            <a:r>
              <a:rPr sz="1800">
                <a:solidFill>
                  <a:srgbClr val="5B6472"/>
                </a:solidFill>
              </a:rPr>
              <a:t>Mensaje para demo: el agente no reemplaza las reglas del ERP; las usa como superficie de accion.</a:t>
            </a:r>
          </a:p>
        </p:txBody>
      </p:sp>
    </p:spTree>
    <p:extLst>
      <p:ext uri="{BB962C8B-B14F-4D97-AF65-F5344CB8AC3E}">
        <p14:creationId xmlns:p14="http://schemas.microsoft.com/office/powerpoint/2010/main" val="178168413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F103976-45F8-4A3E-95F6-EC5F7BF4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A"/>
          </a:solidFill>
          <a:ln xmlns:a="http://schemas.openxmlformats.org/drawingml/2006/main" w="0">
            <a:solidFill>
              <a:srgbClr val="F8F4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7AA87-ED84-4D1F-8171-2C89FCDC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3DC"/>
          </a:solidFill>
          <a:ln xmlns:a="http://schemas.openxmlformats.org/drawingml/2006/main" w="0">
            <a:solidFill>
              <a:srgbClr val="1863D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A0E309-7F74-4DC9-9C89-0CEC5D2A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85800"/>
            <a:ext cx="495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63DC"/>
                </a:solidFill>
              </a:defRPr>
            </a:pPr>
            <a:r>
              <a:rPr sz="1350" b="1">
                <a:solidFill>
                  <a:srgbClr val="1863DC"/>
                </a:solidFill>
              </a:rPr>
              <a:t>MAPA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3CB26E0-E14B-409F-894A-986CDF51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81100"/>
            <a:ext cx="16535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De Claude al dato operativo, sin saltarse el ERP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3FDD0A0-E0AB-48B1-BE06-D08ABF3F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11811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B6472"/>
                </a:solidFill>
              </a:defRPr>
            </a:pPr>
            <a:r>
              <a:rPr sz="2100">
                <a:solidFill>
                  <a:srgbClr val="5B6472"/>
                </a:solidFill>
              </a:rPr>
              <a:t>La arquitectura separa entrada agentica, autorizacion, runtime NEO y configuracion Schema Forge.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74AA05-993B-4ECC-9600-4B556189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3990975" cy="6400800"/>
          </a:xfrm>
          <a:prstGeom xmlns:a="http://schemas.openxmlformats.org/drawingml/2006/main" prst="roundRect">
            <a:avLst>
              <a:gd name="adj" fmla="val 1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9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D7C8A9-CFE8-4115-970A-FF81B0BF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57500"/>
            <a:ext cx="4762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3DC"/>
          </a:solidFill>
          <a:ln xmlns:a="http://schemas.openxmlformats.org/drawingml/2006/main" w="0">
            <a:solidFill>
              <a:srgbClr val="1863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AF6F24-325E-43F5-BF6A-286111BD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48000"/>
            <a:ext cx="342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1. MCP client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9EBA5E-01D0-4B74-9358-83E29488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09950"/>
            <a:ext cx="342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472"/>
                </a:solidFill>
              </a:defRPr>
            </a:pPr>
            <a:r>
              <a:rPr sz="1575">
                <a:solidFill>
                  <a:srgbClr val="5B6472"/>
                </a:solidFill>
              </a:rPr>
              <a:t>Claude Desktop o cualquier cliente MCP usa una URL estable: /mcp.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24C995-8075-4C8C-9927-48A8F3DE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590800"/>
            <a:ext cx="3990975" cy="6400800"/>
          </a:xfrm>
          <a:prstGeom xmlns:a="http://schemas.openxmlformats.org/drawingml/2006/main" prst="roundRect">
            <a:avLst>
              <a:gd name="adj" fmla="val 1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9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07C2FF-9BFB-4138-BAFF-6BA1497B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57500"/>
            <a:ext cx="4762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A7C8"/>
          </a:solidFill>
          <a:ln xmlns:a="http://schemas.openxmlformats.org/drawingml/2006/main" w="0">
            <a:solidFill>
              <a:srgbClr val="11A7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870FBC-957C-44AA-9B64-B1F750A6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48000"/>
            <a:ext cx="342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2. Edge / dev proxy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EF52B0-56EE-4AC0-9403-ECB84482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409950"/>
            <a:ext cx="342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472"/>
                </a:solidFill>
              </a:defRPr>
            </a:pPr>
            <a:r>
              <a:rPr sz="1575">
                <a:solidFill>
                  <a:srgbClr val="5B6472"/>
                </a:solidFill>
              </a:rPr>
              <a:t>CloudFront o Vite reescribe a la ruta real del backend sin exponer /etendo.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02A7B1-E3CF-4227-990F-5D0AD542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90800"/>
            <a:ext cx="3990975" cy="6400800"/>
          </a:xfrm>
          <a:prstGeom xmlns:a="http://schemas.openxmlformats.org/drawingml/2006/main" prst="roundRect">
            <a:avLst>
              <a:gd name="adj" fmla="val 1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9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5F7010-6945-49AA-85DA-50F71CAE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57500"/>
            <a:ext cx="4762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9B66"/>
          </a:solidFill>
          <a:ln xmlns:a="http://schemas.openxmlformats.org/drawingml/2006/main" w="0">
            <a:solidFill>
              <a:srgbClr val="1C9B6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EEC83B-61F4-4CBC-A2EC-65268BCF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48000"/>
            <a:ext cx="342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3. OAuth2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B968C4-61AF-4675-990C-EA530D44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09950"/>
            <a:ext cx="342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472"/>
                </a:solidFill>
              </a:defRPr>
            </a:pPr>
            <a:r>
              <a:rPr sz="1575">
                <a:solidFill>
                  <a:srgbClr val="5B6472"/>
                </a:solidFill>
              </a:rPr>
              <a:t>Discovery, registro, consentimiento, tokens y scopes de acceso.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A304BB-9FA8-4069-B4B1-A9B28FD6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0725" y="2590800"/>
            <a:ext cx="3990975" cy="6400800"/>
          </a:xfrm>
          <a:prstGeom xmlns:a="http://schemas.openxmlformats.org/drawingml/2006/main" prst="roundRect">
            <a:avLst>
              <a:gd name="adj" fmla="val 1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9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42FCC9-912A-4140-91B7-455C8D45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2857500"/>
            <a:ext cx="4762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6B2F"/>
          </a:solidFill>
          <a:ln xmlns:a="http://schemas.openxmlformats.org/drawingml/2006/main" w="0">
            <a:solidFill>
              <a:srgbClr val="E56B2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0B834D-DEC7-45DB-9BEE-7347BF3B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3048000"/>
            <a:ext cx="342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4. NEO Headless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6310F3-FF43-4476-A6D6-65742408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3409950"/>
            <a:ext cx="342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472"/>
                </a:solidFill>
              </a:defRPr>
            </a:pPr>
            <a:r>
              <a:rPr sz="1575">
                <a:solidFill>
                  <a:srgbClr val="5B6472"/>
                </a:solidFill>
              </a:rPr>
              <a:t>NeoServlet resuelve spec, entidad, permisos, hooks y servicios de datos.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0CCCE5-EA11-4640-91EE-36C44E01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29750"/>
            <a:ext cx="1619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63DC"/>
                </a:solidFill>
              </a:defRPr>
            </a:pPr>
            <a:r>
              <a:rPr sz="1350" b="1">
                <a:solidFill>
                  <a:srgbClr val="1863DC"/>
                </a:solidFill>
              </a:rPr>
              <a:t>Cliente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7AA9F8-26A4-4FF5-981B-6CFF410A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9505950"/>
            <a:ext cx="358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9"/>
          </a:solidFill>
          <a:ln xmlns:a="http://schemas.openxmlformats.org/drawingml/2006/main" w="0">
            <a:solidFill>
              <a:srgbClr val="C9D0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4E708E-91B2-424D-91C8-189990D1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9429750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A7C8"/>
                </a:solidFill>
              </a:defRPr>
            </a:pPr>
            <a:r>
              <a:rPr sz="1350" b="1">
                <a:solidFill>
                  <a:srgbClr val="11A7C8"/>
                </a:solidFill>
              </a:rPr>
              <a:t>Edge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E0AC44-8F90-4FB6-BFA2-B4439C31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9505950"/>
            <a:ext cx="358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9"/>
          </a:solidFill>
          <a:ln xmlns:a="http://schemas.openxmlformats.org/drawingml/2006/main" w="0">
            <a:solidFill>
              <a:srgbClr val="C9D0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0B826C-2AFA-409E-8349-3439B063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9429750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C9B66"/>
                </a:solidFill>
              </a:defRPr>
            </a:pPr>
            <a:r>
              <a:rPr sz="1350" b="1">
                <a:solidFill>
                  <a:srgbClr val="1C9B66"/>
                </a:solidFill>
              </a:rPr>
              <a:t>Auth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0B2AB9-DA47-426E-A85C-4F1950C9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9505950"/>
            <a:ext cx="358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9"/>
          </a:solidFill>
          <a:ln xmlns:a="http://schemas.openxmlformats.org/drawingml/2006/main" w="0">
            <a:solidFill>
              <a:srgbClr val="C9D0D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943034-9B68-4AD3-AFA7-E1EB86FE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9429750"/>
            <a:ext cx="95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56B2F"/>
                </a:solidFill>
              </a:defRPr>
            </a:pPr>
            <a:r>
              <a:rPr sz="1350" b="1">
                <a:solidFill>
                  <a:srgbClr val="E56B2F"/>
                </a:solidFill>
              </a:rPr>
              <a:t>ERP</a:t>
            </a:r>
          </a:p>
        </p:txBody>
      </p:sp>
    </p:spTree>
    <p:extLst>
      <p:ext uri="{BB962C8B-B14F-4D97-AF65-F5344CB8AC3E}">
        <p14:creationId xmlns:p14="http://schemas.microsoft.com/office/powerpoint/2010/main" val="206545968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C7C94AE-2082-4488-887F-FEBDE1E4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A"/>
          </a:solidFill>
          <a:ln xmlns:a="http://schemas.openxmlformats.org/drawingml/2006/main" w="0">
            <a:solidFill>
              <a:srgbClr val="F8F4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A19CB4-F0EB-4DB7-A001-C78BFC36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3DC"/>
          </a:solidFill>
          <a:ln xmlns:a="http://schemas.openxmlformats.org/drawingml/2006/main" w="0">
            <a:solidFill>
              <a:srgbClr val="1863D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A0FABF-E23F-439B-8932-D450525F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85800"/>
            <a:ext cx="1009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63DC"/>
                </a:solidFill>
              </a:defRPr>
            </a:pPr>
            <a:r>
              <a:rPr sz="1350" b="1">
                <a:solidFill>
                  <a:srgbClr val="1863DC"/>
                </a:solidFill>
              </a:rPr>
              <a:t>DISCOVERY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AAC8AA5-B122-4D4A-9346-07087BFC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81100"/>
            <a:ext cx="165354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El cliente ve URLs simples; la infraestructura resuelve el contexto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66E4AC6-BE2B-412B-A8E3-E636105E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10496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B6472"/>
                </a:solidFill>
              </a:defRPr>
            </a:pPr>
            <a:r>
              <a:rPr sz="2100">
                <a:solidFill>
                  <a:srgbClr val="5B6472"/>
                </a:solidFill>
              </a:rPr>
              <a:t>La forma publica es root-level. El path interno de Tomcat queda como detalle de deploy.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430B81-44FF-4F9A-B8A1-4950F075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3DC"/>
          </a:solidFill>
          <a:ln xmlns:a="http://schemas.openxmlformats.org/drawingml/2006/main" w="0">
            <a:solidFill>
              <a:srgbClr val="1863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162E0A-D2FA-434D-AEDC-A2C5B446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EC3A2C-3139-4CA3-A98F-6964058F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43250"/>
            <a:ext cx="8039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Protected Resource Metadata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5E6AC3-B7DB-4880-A2FA-AF7A52AF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86150"/>
            <a:ext cx="8039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472"/>
                </a:solidFill>
              </a:defRPr>
            </a:pPr>
            <a:r>
              <a:rPr sz="1650">
                <a:solidFill>
                  <a:srgbClr val="5B6472"/>
                </a:solidFill>
              </a:rPr>
              <a:t>/.well-known/oauth-protected-resource anuncia resource = https://host/mcp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088FDB-77ED-491B-A65A-AAB8BA78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9B66"/>
          </a:solidFill>
          <a:ln xmlns:a="http://schemas.openxmlformats.org/drawingml/2006/main" w="0">
            <a:solidFill>
              <a:srgbClr val="1C9B6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0BA901-B54B-44E0-B14B-C7F5B489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0A97B1-48F5-403E-BD13-B27BE569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62400"/>
            <a:ext cx="8039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Authorization Server Metadata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C524BF-D846-46E8-8D2A-31190B8B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05300"/>
            <a:ext cx="8039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472"/>
                </a:solidFill>
              </a:defRPr>
            </a:pPr>
            <a:r>
              <a:rPr sz="1650">
                <a:solidFill>
                  <a:srgbClr val="5B6472"/>
                </a:solidFill>
              </a:rPr>
              <a:t>/.well-known/oauth-authorization-server publica /authorize, /oauth2/token y /oauth2/register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E2CEEB-7006-4347-BC94-2F5DB527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24425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6B2F"/>
          </a:solidFill>
          <a:ln xmlns:a="http://schemas.openxmlformats.org/drawingml/2006/main" w="0">
            <a:solidFill>
              <a:srgbClr val="E56B2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332CFA-AF11-47E4-8329-A948EA85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2445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E950A3-C50F-4EEF-8873-5192C2E6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933950"/>
            <a:ext cx="8039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Consentimiento humano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863F61-4DBD-43A4-9E7F-A612F31F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257800"/>
            <a:ext cx="8039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472"/>
                </a:solidFill>
              </a:defRPr>
            </a:pPr>
            <a:r>
              <a:rPr sz="1650">
                <a:solidFill>
                  <a:srgbClr val="5B6472"/>
                </a:solidFill>
              </a:rPr>
              <a:t>/authorize es una ruta SPA donde el usuario aprueba scopes como neo:read, neo:write, neo:process y neo:report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B02DBC-D561-46D4-AA4B-5B95D420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8645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E8BF50-4587-48F5-8D2E-4035B6A3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7695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033755-5041-4322-A5B1-1A36015F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886450"/>
            <a:ext cx="8039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Token usable por MCP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3073A2-7BDB-4EE7-BC5F-844C61B7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229350"/>
            <a:ext cx="8039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472"/>
                </a:solidFill>
              </a:defRPr>
            </a:pPr>
            <a:r>
              <a:rPr sz="1650">
                <a:solidFill>
                  <a:srgbClr val="5B6472"/>
                </a:solidFill>
              </a:rPr>
              <a:t>El cliente vuelve a /mcp con Bearer token; NEO aplica permisos de Etendo y scopes.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A58A24-D71D-45A6-B284-3A65FCB2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9365" y="3143250"/>
            <a:ext cx="7252335" cy="6457950"/>
          </a:xfrm>
          <a:prstGeom xmlns:a="http://schemas.openxmlformats.org/drawingml/2006/main" prst="roundRect">
            <a:avLst>
              <a:gd name="adj" fmla="val 118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F4FFB9-E115-4958-A883-3D514551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29000"/>
            <a:ext cx="6610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BD4FF"/>
                </a:solidFill>
              </a:defRPr>
            </a:pPr>
            <a:r>
              <a:rPr sz="1350" b="1">
                <a:solidFill>
                  <a:srgbClr val="9BD4FF"/>
                </a:solidFill>
              </a:rPr>
              <a:t>URL publica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E52407-AA91-49BF-A315-3D83869A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90950"/>
            <a:ext cx="6610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</a:defRPr>
            </a:pPr>
            <a:r>
              <a:rPr sz="2250">
                <a:solidFill>
                  <a:srgbClr val="FFFFFF"/>
                </a:solidFill>
              </a:rPr>
              <a:t>https://go.etendo.cloud/mcp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4335D7-E399-4C7B-B2E0-5755CB71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67200"/>
            <a:ext cx="6610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solidFill>
              <a:srgbClr val="37415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78EEB9-4B80-4BAF-89CA-E17449BB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476750"/>
            <a:ext cx="6610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D3A6"/>
                </a:solidFill>
              </a:defRPr>
            </a:pPr>
            <a:r>
              <a:rPr sz="1350" b="1">
                <a:solidFill>
                  <a:srgbClr val="FFD3A6"/>
                </a:solidFill>
              </a:rPr>
              <a:t>Ruta backend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277110-5287-4120-8219-0E649095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838700"/>
            <a:ext cx="6610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</a:defRPr>
            </a:pPr>
            <a:r>
              <a:rPr sz="2250">
                <a:solidFill>
                  <a:srgbClr val="FFFFFF"/>
                </a:solidFill>
              </a:rPr>
              <a:t>/etendo/sws/mcp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F3FA64-3DC5-4BDB-B780-D7A77DB5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314950"/>
            <a:ext cx="6610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solidFill>
              <a:srgbClr val="37415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05985A-B1FE-41D1-8142-A315E975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66103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D1D5DB"/>
                </a:solidFill>
              </a:defRPr>
            </a:pPr>
            <a:r>
              <a:rPr sz="1875">
                <a:solidFill>
                  <a:srgbClr val="D1D5DB"/>
                </a:solidFill>
              </a:rPr>
              <a:t>La equivalencia se hace en CloudFront para prod y en Vite para dev.</a:t>
            </a:r>
          </a:p>
        </p:txBody>
      </p:sp>
    </p:spTree>
    <p:extLst>
      <p:ext uri="{BB962C8B-B14F-4D97-AF65-F5344CB8AC3E}">
        <p14:creationId xmlns:p14="http://schemas.microsoft.com/office/powerpoint/2010/main" val="138034522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5546216-4059-43FE-AF7E-9913C0F4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A"/>
          </a:solidFill>
          <a:ln xmlns:a="http://schemas.openxmlformats.org/drawingml/2006/main" w="0">
            <a:solidFill>
              <a:srgbClr val="F8F4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C51BA4-D404-4BE1-BCBD-4C4CB3D5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3DC"/>
          </a:solidFill>
          <a:ln xmlns:a="http://schemas.openxmlformats.org/drawingml/2006/main" w="0">
            <a:solidFill>
              <a:srgbClr val="1863D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F6163-2E31-4D0E-95FE-2FBD96FA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85800"/>
            <a:ext cx="800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63DC"/>
                </a:solidFill>
              </a:defRPr>
            </a:pPr>
            <a:r>
              <a:rPr sz="1350" b="1">
                <a:solidFill>
                  <a:srgbClr val="1863DC"/>
                </a:solidFill>
              </a:rPr>
              <a:t>RUNTIME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3C29911-CA50-4738-A58C-1318057B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81100"/>
            <a:ext cx="16535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NEO convierte llamadas MCP en operaciones de negocio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8FFE334-7BF1-49A4-9FCA-EEE9536A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88963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B6472"/>
                </a:solidFill>
              </a:defRPr>
            </a:pPr>
            <a:r>
              <a:rPr sz="2100">
                <a:solidFill>
                  <a:srgbClr val="5B6472"/>
                </a:solidFill>
              </a:rPr>
              <a:t>MCP es la entrada agentica; NeoServlet es el router que protege y ejecuta.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5DA4F-39DE-41C8-BD75-75D20018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9B66"/>
          </a:solidFill>
          <a:ln xmlns:a="http://schemas.openxmlformats.org/drawingml/2006/main" w="0">
            <a:solidFill>
              <a:srgbClr val="1C9B6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297653-A2E5-4137-9F3E-89BF8F8C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3AE88B-3944-44D0-BE4D-8823A52C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57500"/>
            <a:ext cx="685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Autentica JWT / Bearer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057EBB-5EA7-47E4-87D9-43C848C4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00400"/>
            <a:ext cx="685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472"/>
                </a:solidFill>
              </a:defRPr>
            </a:pPr>
            <a:r>
              <a:rPr sz="1650">
                <a:solidFill>
                  <a:srgbClr val="5B6472"/>
                </a:solidFill>
              </a:rPr>
              <a:t>La llamada llega con token. Etendo reconstruye usuario, rol, organizacion y contexto.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598262-C2D6-44CA-8D29-0908BAFA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81425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3DC"/>
          </a:solidFill>
          <a:ln xmlns:a="http://schemas.openxmlformats.org/drawingml/2006/main" w="0">
            <a:solidFill>
              <a:srgbClr val="1863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5B0B47-EFA2-4126-B6B1-A9519EDD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F0F17C-AE54-42FF-8CBF-07D5E998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90950"/>
            <a:ext cx="685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Resuelve spec y entidad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75EA77-B7F5-4CC9-B2DF-A987F7B3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114800"/>
            <a:ext cx="685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472"/>
                </a:solidFill>
              </a:defRPr>
            </a:pPr>
            <a:r>
              <a:rPr sz="1650">
                <a:solidFill>
                  <a:srgbClr val="5B6472"/>
                </a:solidFill>
              </a:rPr>
              <a:t>La URL /sws/neo/{spec}/{entity} se cruza con ETGO_SF_SPEC y ETGO_SF_ENTITY.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0B93F4-DF34-4904-816B-9169D9AA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6B2F"/>
          </a:solidFill>
          <a:ln xmlns:a="http://schemas.openxmlformats.org/drawingml/2006/main" w="0">
            <a:solidFill>
              <a:srgbClr val="E56B2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0DDF2A-F6BF-428C-8D54-B67B2BDB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AFD9A3-674E-4B8F-824C-B2F7CD99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05350"/>
            <a:ext cx="685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Valida metodo y RBAC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D03784-E709-48EF-9FD9-7F6B6482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48250"/>
            <a:ext cx="685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472"/>
                </a:solidFill>
              </a:defRPr>
            </a:pPr>
            <a:r>
              <a:rPr sz="1650">
                <a:solidFill>
                  <a:srgbClr val="5B6472"/>
                </a:solidFill>
              </a:rPr>
              <a:t>Flags GET/POST/PATCH/DELETE y permisos de ventana, proceso o reporte deciden si continua.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1CA796-F703-4F59-B9F2-6F336F4D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29275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0C7196-C535-4FA2-8008-38E23EBE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2930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26CB7F-6147-4A68-8CC6-21756D7B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638800"/>
            <a:ext cx="685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Ejecuta servicio o hook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CA2EC6-95AD-4907-B2D9-FF8FA5E7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962650"/>
            <a:ext cx="685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472"/>
                </a:solidFill>
              </a:defRPr>
            </a:pPr>
            <a:r>
              <a:rPr sz="1650">
                <a:solidFill>
                  <a:srgbClr val="5B6472"/>
                </a:solidFill>
              </a:rPr>
              <a:t>CRUD, selectors, defaults, callouts, procesos y reportes pasan por servicio generico o NeoHandler.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13CBD9-ED4C-4835-9F49-C4FF51EF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639" y="2857500"/>
            <a:ext cx="8491061" cy="6743700"/>
          </a:xfrm>
          <a:prstGeom xmlns:a="http://schemas.openxmlformats.org/drawingml/2006/main" prst="roundRect">
            <a:avLst>
              <a:gd name="adj" fmla="val 11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9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0C0769-2DD0-42D8-929F-BAED42C7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43250"/>
            <a:ext cx="784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Contrato vivo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334452-C8E9-4BF4-BD51-5936D3B4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489" y="3600450"/>
            <a:ext cx="3835956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9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C94AA6-F771-4C72-8F11-59F0D5FC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86200"/>
            <a:ext cx="4762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3DC"/>
          </a:solidFill>
          <a:ln xmlns:a="http://schemas.openxmlformats.org/drawingml/2006/main" w="0">
            <a:solidFill>
              <a:srgbClr val="1863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3F0AA8-BDB1-4CCB-9F3D-A903E1E0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57650"/>
            <a:ext cx="3257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ETGO_SF_SPEC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CD432D-C60F-4344-BDBD-364ECE72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81500"/>
            <a:ext cx="32575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6472"/>
                </a:solidFill>
              </a:defRPr>
            </a:pPr>
            <a:r>
              <a:rPr sz="1425">
                <a:solidFill>
                  <a:srgbClr val="5B6472"/>
                </a:solidFill>
              </a:rPr>
              <a:t>Namespace funcional: sales-order, purchase-invoice, report-*.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493679-7B9B-4E21-BAA8-0209EAC6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1894" y="3600450"/>
            <a:ext cx="3835956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9C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2DC19D-EDDC-4C79-9DB3-78B15E1E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886200"/>
            <a:ext cx="4762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9B66"/>
          </a:solidFill>
          <a:ln xmlns:a="http://schemas.openxmlformats.org/drawingml/2006/main" w="0">
            <a:solidFill>
              <a:srgbClr val="1C9B6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17D73A-4B46-4277-B965-9BA2D211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4057650"/>
            <a:ext cx="3257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ETGO_SF_ENTITY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4B3358-2D60-4C05-AC80-44681D2A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4381500"/>
            <a:ext cx="32575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6472"/>
                </a:solidFill>
              </a:defRPr>
            </a:pPr>
            <a:r>
              <a:rPr sz="1425">
                <a:solidFill>
                  <a:srgbClr val="5B6472"/>
                </a:solidFill>
              </a:rPr>
              <a:t>Tab, flags HTTP, Java_Qualifier y tipo de endpoint.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616A47-2CE5-4617-A9E7-7B217E1E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489" y="5353050"/>
            <a:ext cx="3835956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9C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7B351C-E495-46B1-9623-6F8F190D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38800"/>
            <a:ext cx="4762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6B2F"/>
          </a:solidFill>
          <a:ln xmlns:a="http://schemas.openxmlformats.org/drawingml/2006/main" w="0">
            <a:solidFill>
              <a:srgbClr val="E56B2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DE57AD-2084-42CB-959C-92AC196A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810250"/>
            <a:ext cx="3257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ETGO_SF_FIELD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4C23AC-6504-493D-B1AB-45912B04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134100"/>
            <a:ext cx="32575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6472"/>
                </a:solidFill>
              </a:defRPr>
            </a:pPr>
            <a:r>
              <a:rPr sz="1425">
                <a:solidFill>
                  <a:srgbClr val="5B6472"/>
                </a:solidFill>
              </a:rPr>
              <a:t>Campos incluidos, readonly, defaults y referencias.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E8F66E-9E63-4202-9191-E9294639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1894" y="5353050"/>
            <a:ext cx="3835956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9C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9BD623-3A7A-4831-9B38-2A95F3BA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638800"/>
            <a:ext cx="4762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180FF3-D2D5-4987-975B-CE8782E0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5810250"/>
            <a:ext cx="3257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AD metadata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7D697D-020D-400A-9CE4-66B21E7F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6134100"/>
            <a:ext cx="32575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6472"/>
                </a:solidFill>
              </a:defRPr>
            </a:pPr>
            <a:r>
              <a:rPr sz="1425">
                <a:solidFill>
                  <a:srgbClr val="5B6472"/>
                </a:solidFill>
              </a:rPr>
              <a:t>Ventanas, tabs, columnas, procesos y reglas originales.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F291A5-20D7-41FF-8A51-6CF3A0FD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105650"/>
            <a:ext cx="78486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B6472"/>
                </a:solidFill>
              </a:defRPr>
            </a:pPr>
            <a:r>
              <a:rPr sz="1725">
                <a:solidFill>
                  <a:srgbClr val="5B6472"/>
                </a:solidFill>
              </a:rPr>
              <a:t>El runtime no necesita regenerarse para exponer un nuevo contrato: lee configuracion.</a:t>
            </a:r>
          </a:p>
        </p:txBody>
      </p:sp>
    </p:spTree>
    <p:extLst>
      <p:ext uri="{BB962C8B-B14F-4D97-AF65-F5344CB8AC3E}">
        <p14:creationId xmlns:p14="http://schemas.microsoft.com/office/powerpoint/2010/main" val="141392946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F548D7F-2BB1-4BE3-877B-67FBDE15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A"/>
          </a:solidFill>
          <a:ln xmlns:a="http://schemas.openxmlformats.org/drawingml/2006/main" w="0">
            <a:solidFill>
              <a:srgbClr val="F8F4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26F5EA-C096-4086-89AA-D73352A8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3DC"/>
          </a:solidFill>
          <a:ln xmlns:a="http://schemas.openxmlformats.org/drawingml/2006/main" w="0">
            <a:solidFill>
              <a:srgbClr val="1863D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135A48-06F5-4E36-9DC7-99430573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85800"/>
            <a:ext cx="1466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63DC"/>
                </a:solidFill>
              </a:defRPr>
            </a:pPr>
            <a:r>
              <a:rPr sz="1350" b="1">
                <a:solidFill>
                  <a:srgbClr val="1863DC"/>
                </a:solidFill>
              </a:rPr>
              <a:t>CONFIGURACION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8075FD-7910-4429-B0AE-562F3485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81100"/>
            <a:ext cx="165354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Schema Forge decide que se expone; NEO decide como servirlo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848ADA4-5BE2-4620-80F4-1A1D5A11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118681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B6472"/>
                </a:solidFill>
              </a:defRPr>
            </a:pPr>
            <a:r>
              <a:rPr sz="2100">
                <a:solidFill>
                  <a:srgbClr val="5B6472"/>
                </a:solidFill>
              </a:rPr>
              <a:t>La parte agentica se apoya en una capa declarativa que ya entiende ventanas, procesos, reportes y campos.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F2C502-A1C9-4E2D-91DC-3A26D4B2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4005263" cy="4686300"/>
          </a:xfrm>
          <a:prstGeom xmlns:a="http://schemas.openxmlformats.org/drawingml/2006/main" prst="roundRect">
            <a:avLst>
              <a:gd name="adj" fmla="val 1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9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C79277-7C6A-413F-9438-19672BCE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95700"/>
            <a:ext cx="4762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3DC"/>
          </a:solidFill>
          <a:ln xmlns:a="http://schemas.openxmlformats.org/drawingml/2006/main" w="0">
            <a:solidFill>
              <a:srgbClr val="1863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6C655A-E18C-4007-922C-D18E9F8E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67150"/>
            <a:ext cx="342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Extraer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975F6F-68E3-4668-A81B-5EA480B5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29100"/>
            <a:ext cx="3429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472"/>
                </a:solidFill>
              </a:defRPr>
            </a:pPr>
            <a:r>
              <a:rPr sz="1575">
                <a:solidFill>
                  <a:srgbClr val="5B6472"/>
                </a:solidFill>
              </a:rPr>
              <a:t>Menu cache y AD metadata producen schema-raw y rules-raw por ventana/proceso/reporte.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A75C8F-F893-4621-902F-5D906B0C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013" y="3409950"/>
            <a:ext cx="4005263" cy="4686300"/>
          </a:xfrm>
          <a:prstGeom xmlns:a="http://schemas.openxmlformats.org/drawingml/2006/main" prst="roundRect">
            <a:avLst>
              <a:gd name="adj" fmla="val 1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9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D0C4C1-D257-42F1-8A0E-7750CE4D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95700"/>
            <a:ext cx="4762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5304F8-AC73-4BD5-8971-0A92F5F5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67150"/>
            <a:ext cx="342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Curar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77F106-226E-4A39-80A0-613152F3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29100"/>
            <a:ext cx="3429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472"/>
                </a:solidFill>
              </a:defRPr>
            </a:pPr>
            <a:r>
              <a:rPr sz="1575">
                <a:solidFill>
                  <a:srgbClr val="5B6472"/>
                </a:solidFill>
              </a:rPr>
              <a:t>Humanos e IA deciden visibilidad, reglas mantenidas, simplificadas u omitidas.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13674C-624C-4726-AB62-98B86A72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409950"/>
            <a:ext cx="4005263" cy="4686300"/>
          </a:xfrm>
          <a:prstGeom xmlns:a="http://schemas.openxmlformats.org/drawingml/2006/main" prst="roundRect">
            <a:avLst>
              <a:gd name="adj" fmla="val 1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9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AF7CCA-9FB2-4AB8-9FDF-A57194DC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4762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9B66"/>
          </a:solidFill>
          <a:ln xmlns:a="http://schemas.openxmlformats.org/drawingml/2006/main" w="0">
            <a:solidFill>
              <a:srgbClr val="1C9B6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05350F-013B-479F-9F70-2F2287CD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67150"/>
            <a:ext cx="342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Contratar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B037E3-A2B9-4FBA-B5A8-0E6A12DB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29100"/>
            <a:ext cx="3429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472"/>
                </a:solidFill>
              </a:defRPr>
            </a:pPr>
            <a:r>
              <a:rPr sz="1575">
                <a:solidFill>
                  <a:srgbClr val="5B6472"/>
                </a:solidFill>
              </a:rPr>
              <a:t>generate-contract transforma decisiones en un contrato frontend/backend verificable.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22F946-2764-4F62-87CA-E383D7A9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6438" y="3409950"/>
            <a:ext cx="4005263" cy="4686300"/>
          </a:xfrm>
          <a:prstGeom xmlns:a="http://schemas.openxmlformats.org/drawingml/2006/main" prst="roundRect">
            <a:avLst>
              <a:gd name="adj" fmla="val 1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9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6D3BF1-B32D-4A9D-B2CB-7F193BBD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3695700"/>
            <a:ext cx="4762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6B2F"/>
          </a:solidFill>
          <a:ln xmlns:a="http://schemas.openxmlformats.org/drawingml/2006/main" w="0">
            <a:solidFill>
              <a:srgbClr val="E56B2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8E407F-B48B-4109-AF0C-C1129142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3867150"/>
            <a:ext cx="342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Publicar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EDCB33-C18C-4ACB-9C24-FDF9DC54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4229100"/>
            <a:ext cx="3429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472"/>
                </a:solidFill>
              </a:defRPr>
            </a:pPr>
            <a:r>
              <a:rPr sz="1575">
                <a:solidFill>
                  <a:srgbClr val="5B6472"/>
                </a:solidFill>
              </a:rPr>
              <a:t>push-to-neo escribe ETGO_SF_*; la API queda disponible en NEO Headless.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D7F476-54F9-400E-B829-D91D5778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534400"/>
            <a:ext cx="16535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0CC8A5-5139-4285-8CE6-AB23CB61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743950"/>
            <a:ext cx="16002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9A3412"/>
                </a:solidFill>
              </a:defRPr>
            </a:pPr>
            <a:r>
              <a:rPr sz="2025" b="1">
                <a:solidFill>
                  <a:srgbClr val="9A3412"/>
                </a:solidFill>
              </a:rPr>
              <a:t>Idea clave: el agente hereda el recorte funcional de Schema Forge. No ve la totalidad del ERP; ve lo que el contrato permite.</a:t>
            </a:r>
          </a:p>
        </p:txBody>
      </p:sp>
    </p:spTree>
    <p:extLst>
      <p:ext uri="{BB962C8B-B14F-4D97-AF65-F5344CB8AC3E}">
        <p14:creationId xmlns:p14="http://schemas.microsoft.com/office/powerpoint/2010/main" val="79390625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ADA0128-4E38-4748-8E46-1C83A245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A"/>
          </a:solidFill>
          <a:ln xmlns:a="http://schemas.openxmlformats.org/drawingml/2006/main" w="0">
            <a:solidFill>
              <a:srgbClr val="F8F4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887021-F0C8-4DA5-90A8-AE0CBD82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6200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3DC"/>
          </a:solidFill>
          <a:ln xmlns:a="http://schemas.openxmlformats.org/drawingml/2006/main" w="0">
            <a:solidFill>
              <a:srgbClr val="1863D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253946-4B66-422F-9CEB-BC2A7478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8580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63DC"/>
                </a:solidFill>
              </a:defRPr>
            </a:pPr>
            <a:r>
              <a:rPr sz="1350" b="1">
                <a:solidFill>
                  <a:srgbClr val="1863DC"/>
                </a:solidFill>
              </a:rPr>
              <a:t>CONTROL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7C6FAC0-1107-4B3A-9F40-C4614B5B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09650"/>
            <a:ext cx="165354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La personalizacion vive en NeoHandler, no en servicios genericos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515444A-839C-45FD-BAA1-BA1F0304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116967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B6472"/>
                </a:solidFill>
              </a:defRPr>
            </a:pPr>
            <a:r>
              <a:rPr sz="2100">
                <a:solidFill>
                  <a:srgbClr val="5B6472"/>
                </a:solidFill>
              </a:rPr>
              <a:t>Esto evita que un caso de negocio contamine NeoServlet, NeoCrudHandler, NeoSelectorService o NeoDefaultsService.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5DE7AA-661F-4DCE-BE94-AD6B6F9E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725233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9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B1B487-6715-4244-9702-0F743063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05200"/>
            <a:ext cx="4762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9B66"/>
          </a:solidFill>
          <a:ln xmlns:a="http://schemas.openxmlformats.org/drawingml/2006/main" w="0">
            <a:solidFill>
              <a:srgbClr val="1C9B6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0CB9AD-ED09-4EBC-8609-1BCACCCE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95700"/>
            <a:ext cx="6686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Configuracion primero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9D8893-E156-4744-A49F-6F4D6841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57650"/>
            <a:ext cx="6686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472"/>
                </a:solidFill>
              </a:defRPr>
            </a:pPr>
            <a:r>
              <a:rPr sz="1575">
                <a:solidFill>
                  <a:srgbClr val="5B6472"/>
                </a:solidFill>
              </a:rPr>
              <a:t>Field visibility, readonly, method flags, defaults y selector filtering cubren el caso base sin Java.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2A51A2-E681-4101-9193-7139DC03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48300"/>
            <a:ext cx="725233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9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C530A7-591D-4159-88D8-80A8F327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0"/>
            <a:ext cx="4762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3DC"/>
          </a:solidFill>
          <a:ln xmlns:a="http://schemas.openxmlformats.org/drawingml/2006/main" w="0">
            <a:solidFill>
              <a:srgbClr val="1863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297017-6256-4E7C-8AFE-C6AD291C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905500"/>
            <a:ext cx="6686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Hook cuando hace falta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ACCD98-2A02-46F1-970C-ED52D02D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267450"/>
            <a:ext cx="6686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472"/>
                </a:solidFill>
              </a:defRPr>
            </a:pPr>
            <a:r>
              <a:rPr sz="1575">
                <a:solidFill>
                  <a:srgbClr val="5B6472"/>
                </a:solidFill>
              </a:rPr>
              <a:t>Un CDI bean @Named recibe NeoContext, puede interceptar antes o despues del servicio default.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514907-4431-44A4-943F-D6610CED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848600"/>
            <a:ext cx="725233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9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4E7CA1-9E45-47F2-B2FB-F57B9622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8115300"/>
            <a:ext cx="4762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6B2F"/>
          </a:solidFill>
          <a:ln xmlns:a="http://schemas.openxmlformats.org/drawingml/2006/main" w="0">
            <a:solidFill>
              <a:srgbClr val="E56B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699109-7D7B-4A86-B5DC-C73C8A19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305800"/>
            <a:ext cx="6686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Trazabilidad tecnica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1F3A3F-CDE7-45D0-8ADE-23C19EA0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667750"/>
            <a:ext cx="6686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472"/>
                </a:solidFill>
              </a:defRPr>
            </a:pPr>
            <a:r>
              <a:rPr sz="1575">
                <a:solidFill>
                  <a:srgbClr val="5B6472"/>
                </a:solidFill>
              </a:rPr>
              <a:t>La entidad guarda Java_Qualifier; la extension queda declarada y localizable.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9ADEC9-4776-44B2-A2B6-1A22ECBD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735" y="3238500"/>
            <a:ext cx="8863965" cy="6362700"/>
          </a:xfrm>
          <a:prstGeom xmlns:a="http://schemas.openxmlformats.org/drawingml/2006/main" prst="roundRect">
            <a:avLst>
              <a:gd name="adj" fmla="val 119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148B5B-6F3F-4A6C-910A-0713C269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62350"/>
            <a:ext cx="8172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NeoHandler flow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CD3429-CE2B-4CE8-B1C4-AD2C6228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38600"/>
            <a:ext cx="8172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9BD4FF"/>
                </a:solidFill>
              </a:defRPr>
            </a:pPr>
            <a:r>
              <a:rPr sz="2175">
                <a:solidFill>
                  <a:srgbClr val="9BD4FF"/>
                </a:solidFill>
              </a:rPr>
              <a:t>handle(context)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780E7F-29E3-4C25-9288-93FD9B51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95800"/>
            <a:ext cx="817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1D5DB"/>
                </a:solidFill>
              </a:defRPr>
            </a:pPr>
            <a:r>
              <a:rPr sz="1800">
                <a:solidFill>
                  <a:srgbClr val="D1D5DB"/>
                </a:solidFill>
              </a:rPr>
              <a:t>  returns response? -&gt; skip default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368CC0-D038-45B1-A519-286A87B8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895850"/>
            <a:ext cx="817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1D5DB"/>
                </a:solidFill>
              </a:defRPr>
            </a:pPr>
            <a:r>
              <a:rPr sz="1800">
                <a:solidFill>
                  <a:srgbClr val="D1D5DB"/>
                </a:solidFill>
              </a:rPr>
              <a:t>  returns null?     -&gt; run default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E5E460-3602-430F-B2D6-1CD6FA11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295900"/>
            <a:ext cx="817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solidFill>
              <a:srgbClr val="37415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EC82EC-1558-4249-9EBB-E6D8DC89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486400"/>
            <a:ext cx="8172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A7F3D0"/>
                </a:solidFill>
              </a:defRPr>
            </a:pPr>
            <a:r>
              <a:rPr sz="2175">
                <a:solidFill>
                  <a:srgbClr val="A7F3D0"/>
                </a:solidFill>
              </a:rPr>
              <a:t>afterHandle(context)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7005F3-5561-410F-A10F-E349125E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924550"/>
            <a:ext cx="817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1D5DB"/>
                </a:solidFill>
              </a:defRPr>
            </a:pPr>
            <a:r>
              <a:rPr sz="1800">
                <a:solidFill>
                  <a:srgbClr val="D1D5DB"/>
                </a:solidFill>
              </a:rPr>
              <a:t>  enrich, filter or replace result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DFCAD9-C051-41A3-BE6A-282147DB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6324600"/>
            <a:ext cx="817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solidFill>
              <a:srgbClr val="37415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CFA361-98FE-4CCB-89AD-1905A6B0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6515100"/>
            <a:ext cx="817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E5E7EB"/>
                </a:solidFill>
              </a:defRPr>
            </a:pPr>
            <a:r>
              <a:rPr sz="1800">
                <a:solidFill>
                  <a:srgbClr val="E5E7EB"/>
                </a:solidFill>
              </a:rPr>
              <a:t>Una sola extension puede discriminar CRUD, SELECTOR, DEFAULTS, CALLOUT, ACTION o REPORT.</a:t>
            </a:r>
          </a:p>
        </p:txBody>
      </p:sp>
    </p:spTree>
    <p:extLst>
      <p:ext uri="{BB962C8B-B14F-4D97-AF65-F5344CB8AC3E}">
        <p14:creationId xmlns:p14="http://schemas.microsoft.com/office/powerpoint/2010/main" val="5004952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F251118-0BED-4532-BDDC-E0E3C954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A"/>
          </a:solidFill>
          <a:ln xmlns:a="http://schemas.openxmlformats.org/drawingml/2006/main" w="0">
            <a:solidFill>
              <a:srgbClr val="F8F4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7E376D-772E-45BF-A492-EF8C121D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3DC"/>
          </a:solidFill>
          <a:ln xmlns:a="http://schemas.openxmlformats.org/drawingml/2006/main" w="0">
            <a:solidFill>
              <a:srgbClr val="1863D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A7938A-F214-43E5-BE3E-A62D8AF0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85800"/>
            <a:ext cx="1695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63DC"/>
                </a:solidFill>
              </a:defRPr>
            </a:pPr>
            <a:r>
              <a:rPr sz="1350" b="1">
                <a:solidFill>
                  <a:srgbClr val="1863DC"/>
                </a:solidFill>
              </a:rPr>
              <a:t>COMO MOSTRARLO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02588B-AC75-4F07-994B-3F5CBFA2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81100"/>
            <a:ext cx="16535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La demo debe probar accion, no solo conversacion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9BC3CBC-D908-4232-8FC6-E63832D7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10687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B6472"/>
                </a:solidFill>
              </a:defRPr>
            </a:pPr>
            <a:r>
              <a:rPr sz="2100">
                <a:solidFill>
                  <a:srgbClr val="5B6472"/>
                </a:solidFill>
              </a:rPr>
              <a:t>El recorrido ideal muestra discovery, permisos, consulta, propuesta, ejecucion y auditoria.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ECF87B-1A20-435D-BDF9-7FCF85C5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535940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9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760791-380B-490A-98AE-97709DDF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24200"/>
            <a:ext cx="4762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3DC"/>
          </a:solidFill>
          <a:ln xmlns:a="http://schemas.openxmlformats.org/drawingml/2006/main" w="0">
            <a:solidFill>
              <a:srgbClr val="1863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4118A-AF4B-4E8D-98F3-F1EB0CFC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14700"/>
            <a:ext cx="4781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1. Conectar agente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BDCC7-B06A-4846-B5A3-361FF7AA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76650"/>
            <a:ext cx="4781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472"/>
                </a:solidFill>
              </a:defRPr>
            </a:pPr>
            <a:r>
              <a:rPr sz="1575">
                <a:solidFill>
                  <a:srgbClr val="5B6472"/>
                </a:solidFill>
              </a:rPr>
              <a:t>Pegar /mcp. El cliente descubre OAuth2 y abre /authorize.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250D6E-3033-4870-8160-2A6E13F3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300" y="2857500"/>
            <a:ext cx="535940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9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D148BC-AE2E-4638-85FC-62CB9AC1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24200"/>
            <a:ext cx="4762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9B66"/>
          </a:solidFill>
          <a:ln xmlns:a="http://schemas.openxmlformats.org/drawingml/2006/main" w="0">
            <a:solidFill>
              <a:srgbClr val="1C9B6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1A2A07-EC4F-473B-A433-B2497D5E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14700"/>
            <a:ext cx="4781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2. Aprobar scopes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356BB9-0EE8-4B17-BF45-5A74C0C5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76650"/>
            <a:ext cx="4781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472"/>
                </a:solidFill>
              </a:defRPr>
            </a:pPr>
            <a:r>
              <a:rPr sz="1575">
                <a:solidFill>
                  <a:srgbClr val="5B6472"/>
                </a:solidFill>
              </a:rPr>
              <a:t>Mostrar permisos: lectura, escritura, procesos y reportes segun el caso.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63AA2-5340-46E3-A532-B8137708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2300" y="2857500"/>
            <a:ext cx="535940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9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7D1D49-028F-460A-9840-AC960DFC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124200"/>
            <a:ext cx="4762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DAC28F-FC80-472E-83CC-20A1B636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314700"/>
            <a:ext cx="4781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3. Preguntar negocio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20EDE0-0BA4-4EB9-A437-B97CF6D2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676650"/>
            <a:ext cx="478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472"/>
                </a:solidFill>
              </a:defRPr>
            </a:pPr>
            <a:r>
              <a:rPr sz="1575">
                <a:solidFill>
                  <a:srgbClr val="5B6472"/>
                </a:solidFill>
              </a:rPr>
              <a:t>Ejemplo: pedidos con riesgo por stock insuficiente.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85B6CF-42C4-4B20-B794-7E45BCC6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91225"/>
            <a:ext cx="535940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9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FEA5F6-E1C0-44FE-BCA9-B985A294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248400"/>
            <a:ext cx="4762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6B2F"/>
          </a:solidFill>
          <a:ln xmlns:a="http://schemas.openxmlformats.org/drawingml/2006/main" w="0">
            <a:solidFill>
              <a:srgbClr val="E56B2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E95909-58D5-493E-8CD7-14B066D6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438900"/>
            <a:ext cx="4781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4. Ejecutar via NEO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432471-55F1-40AF-BB07-4DEAB69C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800850"/>
            <a:ext cx="4781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472"/>
                </a:solidFill>
              </a:defRPr>
            </a:pPr>
            <a:r>
              <a:rPr sz="1575">
                <a:solidFill>
                  <a:srgbClr val="5B6472"/>
                </a:solidFill>
              </a:rPr>
              <a:t>El agente consulta entidades, selectors o procesos expuestos por el contrato.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18E264-7F02-4B31-8CFE-7FC3D495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300" y="5991225"/>
            <a:ext cx="535940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9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95888A-D8E6-4868-A581-AA2CAF14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248400"/>
            <a:ext cx="4762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A7C8"/>
          </a:solidFill>
          <a:ln xmlns:a="http://schemas.openxmlformats.org/drawingml/2006/main" w="0">
            <a:solidFill>
              <a:srgbClr val="11A7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50E7F2-AD0C-4863-94A2-67B4CD66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438900"/>
            <a:ext cx="4781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5. Proponer accion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0792D4-988D-41C3-84EE-32BBFECE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800850"/>
            <a:ext cx="4781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472"/>
                </a:solidFill>
              </a:defRPr>
            </a:pPr>
            <a:r>
              <a:rPr sz="1575">
                <a:solidFill>
                  <a:srgbClr val="5B6472"/>
                </a:solidFill>
              </a:rPr>
              <a:t>Crear compra sugerida, reservar stock o disparar proceso con aprobacion humana.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A5DCFC-D066-4325-921A-FC347884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2300" y="5991225"/>
            <a:ext cx="535940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9C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9EB015-73BE-42BE-933B-70416A46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6248400"/>
            <a:ext cx="4762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413A"/>
          </a:solidFill>
          <a:ln xmlns:a="http://schemas.openxmlformats.org/drawingml/2006/main" w="0">
            <a:solidFill>
              <a:srgbClr val="C241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A1D576-4125-481A-B4EA-6DBC7559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6438900"/>
            <a:ext cx="4781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6. Cerrar con control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DC410A-EDA0-468B-9DC1-8BE53930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6800850"/>
            <a:ext cx="4781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472"/>
                </a:solidFill>
              </a:defRPr>
            </a:pPr>
            <a:r>
              <a:rPr sz="1575">
                <a:solidFill>
                  <a:srgbClr val="5B6472"/>
                </a:solidFill>
              </a:rPr>
              <a:t>Mostrar registro, usuario, rol, scope, endpoint y resultado.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B4A1F6-8700-41D9-B6CD-E34A9694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334500"/>
            <a:ext cx="16535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Frase de cierre: MCP hace que el ERP sea invocable por agentes; NEO Headless asegura que esa invocacion siga siendo ERP.</a:t>
            </a:r>
          </a:p>
        </p:txBody>
      </p:sp>
    </p:spTree>
    <p:extLst>
      <p:ext uri="{BB962C8B-B14F-4D97-AF65-F5344CB8AC3E}">
        <p14:creationId xmlns:p14="http://schemas.microsoft.com/office/powerpoint/2010/main" val="15264755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2026-04-28T12:15:18.3810000Z</dcterms:created>
  <dcterms:modified xsi:type="dcterms:W3CDTF">2026-04-28T12:15:18.3810000Z</dcterms:modified>
</coreProperties>
</file>