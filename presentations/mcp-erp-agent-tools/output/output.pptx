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a6b76caf3e4775" /><Relationship Type="http://schemas.openxmlformats.org/officeDocument/2006/relationships/extended-properties" Target="/docProps/app.xml" Id="R3702bebd69e54fff" /><Relationship Type="http://schemas.openxmlformats.org/officeDocument/2006/relationships/officeDocument" Target="/ppt/presentation.xml" Id="R7f25988542de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4be955cbea4cf4"/>
  </p:sldMasterIdLst>
  <p:notesMasterIdLst>
    <p:notesMasterId xmlns:r="http://schemas.openxmlformats.org/officeDocument/2006/relationships" r:id="R374c299bb059487c"/>
  </p:notesMasterIdLst>
  <p:sldIdLst>
    <p:sldId xmlns:r="http://schemas.openxmlformats.org/officeDocument/2006/relationships" id="256" r:id="Rbbb5ed78a4124b5f"/>
    <p:sldId xmlns:r="http://schemas.openxmlformats.org/officeDocument/2006/relationships" id="257" r:id="R0cfaf2f4537b4e33"/>
    <p:sldId xmlns:r="http://schemas.openxmlformats.org/officeDocument/2006/relationships" id="258" r:id="R760b91b9836a4a52"/>
    <p:sldId xmlns:r="http://schemas.openxmlformats.org/officeDocument/2006/relationships" id="259" r:id="R616e8db958c54b1c"/>
    <p:sldId xmlns:r="http://schemas.openxmlformats.org/officeDocument/2006/relationships" id="260" r:id="R6aff665511274037"/>
    <p:sldId xmlns:r="http://schemas.openxmlformats.org/officeDocument/2006/relationships" id="261" r:id="R0525824ddfba4a96"/>
    <p:sldId xmlns:r="http://schemas.openxmlformats.org/officeDocument/2006/relationships" id="262" r:id="Rc69df841b530419a"/>
    <p:sldId xmlns:r="http://schemas.openxmlformats.org/officeDocument/2006/relationships" id="263" r:id="R76d2d527e6e145a8"/>
    <p:sldId xmlns:r="http://schemas.openxmlformats.org/officeDocument/2006/relationships" id="264" r:id="R33e1a02c14ce4542"/>
    <p:sldId xmlns:r="http://schemas.openxmlformats.org/officeDocument/2006/relationships" id="265" r:id="R5fc85e68c29c4327"/>
    <p:sldId xmlns:r="http://schemas.openxmlformats.org/officeDocument/2006/relationships" id="266" r:id="R8a391f85cd794af4"/>
    <p:sldId xmlns:r="http://schemas.openxmlformats.org/officeDocument/2006/relationships" id="267" r:id="Rf1a66f2511d7468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be955cbea4cf4" /><Relationship Type="http://schemas.openxmlformats.org/officeDocument/2006/relationships/theme" Target="/ppt/theme/theme1.xml" Id="Rd77c1c5ef7204ddb" /><Relationship Type="http://schemas.openxmlformats.org/officeDocument/2006/relationships/notesMaster" Target="/ppt/notesMasters/notesMaster1.xml" Id="R374c299bb059487c" /><Relationship Type="http://schemas.openxmlformats.org/officeDocument/2006/relationships/presProps" Target="/ppt/presProps.xml" Id="R46bd3525bb394ae7" /><Relationship Type="http://schemas.openxmlformats.org/officeDocument/2006/relationships/viewProps" Target="/ppt/viewProps.xml" Id="Rfe585576b5cd4ac1" /><Relationship Type="http://schemas.openxmlformats.org/officeDocument/2006/relationships/tableStyles" Target="/ppt/tableStyles.xml" Id="R65c1931854f14b0e" /><Relationship Type="http://schemas.openxmlformats.org/officeDocument/2006/relationships/slide" Target="/ppt/slides/slide1.xml" Id="Rbbb5ed78a4124b5f" /><Relationship Type="http://schemas.openxmlformats.org/officeDocument/2006/relationships/slide" Target="/ppt/slides/slide2.xml" Id="R0cfaf2f4537b4e33" /><Relationship Type="http://schemas.openxmlformats.org/officeDocument/2006/relationships/slide" Target="/ppt/slides/slide3.xml" Id="R760b91b9836a4a52" /><Relationship Type="http://schemas.openxmlformats.org/officeDocument/2006/relationships/slide" Target="/ppt/slides/slide4.xml" Id="R616e8db958c54b1c" /><Relationship Type="http://schemas.openxmlformats.org/officeDocument/2006/relationships/slide" Target="/ppt/slides/slide5.xml" Id="R6aff665511274037" /><Relationship Type="http://schemas.openxmlformats.org/officeDocument/2006/relationships/slide" Target="/ppt/slides/slide6.xml" Id="R0525824ddfba4a96" /><Relationship Type="http://schemas.openxmlformats.org/officeDocument/2006/relationships/slide" Target="/ppt/slides/slide7.xml" Id="Rc69df841b530419a" /><Relationship Type="http://schemas.openxmlformats.org/officeDocument/2006/relationships/slide" Target="/ppt/slides/slide8.xml" Id="R76d2d527e6e145a8" /><Relationship Type="http://schemas.openxmlformats.org/officeDocument/2006/relationships/slide" Target="/ppt/slides/slide9.xml" Id="R33e1a02c14ce4542" /><Relationship Type="http://schemas.openxmlformats.org/officeDocument/2006/relationships/slide" Target="/ppt/slides/slide10.xml" Id="R5fc85e68c29c4327" /><Relationship Type="http://schemas.openxmlformats.org/officeDocument/2006/relationships/slide" Target="/ppt/slides/slide11.xml" Id="R8a391f85cd794af4" /><Relationship Type="http://schemas.openxmlformats.org/officeDocument/2006/relationships/slide" Target="/ppt/slides/slide12.xml" Id="Rf1a66f2511d746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5838adde4247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9a6ea21eb94570" /><Relationship Type="http://schemas.openxmlformats.org/officeDocument/2006/relationships/notesMaster" Target="/ppt/notesMasters/notesMaster1.xml" Id="R36187be8517f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e279e58c94fd1" /><Relationship Type="http://schemas.openxmlformats.org/officeDocument/2006/relationships/notesMaster" Target="/ppt/notesMasters/notesMaster1.xml" Id="Rf93724eec006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4278af137d46a7" /><Relationship Type="http://schemas.openxmlformats.org/officeDocument/2006/relationships/notesMaster" Target="/ppt/notesMasters/notesMaster1.xml" Id="R8b9caf48a16148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91a56cdc2f4aaf" /><Relationship Type="http://schemas.openxmlformats.org/officeDocument/2006/relationships/notesMaster" Target="/ppt/notesMasters/notesMaster1.xml" Id="R10eb9787118745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100ab4affb4667" /><Relationship Type="http://schemas.openxmlformats.org/officeDocument/2006/relationships/notesMaster" Target="/ppt/notesMasters/notesMaster1.xml" Id="R7fd398ff88044c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87c51f983f4272" /><Relationship Type="http://schemas.openxmlformats.org/officeDocument/2006/relationships/notesMaster" Target="/ppt/notesMasters/notesMaster1.xml" Id="Rc3403f3dc49e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3406b9fc534a2b" /><Relationship Type="http://schemas.openxmlformats.org/officeDocument/2006/relationships/notesMaster" Target="/ppt/notesMasters/notesMaster1.xml" Id="Ra29370e6eb2b42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ab18f219c24a67" /><Relationship Type="http://schemas.openxmlformats.org/officeDocument/2006/relationships/notesMaster" Target="/ppt/notesMasters/notesMaster1.xml" Id="Re69bccaad01640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7d600f1ff243be" /><Relationship Type="http://schemas.openxmlformats.org/officeDocument/2006/relationships/notesMaster" Target="/ppt/notesMasters/notesMaster1.xml" Id="R0bbe7d4601dd44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f707fbf2f8471d" /><Relationship Type="http://schemas.openxmlformats.org/officeDocument/2006/relationships/notesMaster" Target="/ppt/notesMasters/notesMaster1.xml" Id="R0c21f4684d0846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6a5c1680dc40e6" /><Relationship Type="http://schemas.openxmlformats.org/officeDocument/2006/relationships/notesMaster" Target="/ppt/notesMasters/notesMaster1.xml" Id="R57c4f10cd27a41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7992c1465140aa" /><Relationship Type="http://schemas.openxmlformats.org/officeDocument/2006/relationships/notesMaster" Target="/ppt/notesMasters/notesMaster1.xml" Id="R8934a52f366c43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a26c226484a8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73dd8ad64d54b8c" /><Relationship Type="http://schemas.openxmlformats.org/officeDocument/2006/relationships/slideLayout" Target="/ppt/slideLayouts/slideLayout2.xml" Id="Rf41261ac7016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1261ac7016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51a310ec4d40ed" /><Relationship Type="http://schemas.openxmlformats.org/officeDocument/2006/relationships/notesSlide" Target="/ppt/notesSlides/notesSlide1.xml" Id="R6ecd779824d5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4564c062224461" /><Relationship Type="http://schemas.openxmlformats.org/officeDocument/2006/relationships/notesSlide" Target="/ppt/notesSlides/notesSlide2.xml" Id="R5aeb541c3989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02fb77f5047d7" /><Relationship Type="http://schemas.openxmlformats.org/officeDocument/2006/relationships/notesSlide" Target="/ppt/notesSlides/notesSlide3.xml" Id="R49d73f33b99e48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cd3d27cd849eb" /><Relationship Type="http://schemas.openxmlformats.org/officeDocument/2006/relationships/notesSlide" Target="/ppt/notesSlides/notesSlide4.xml" Id="R8b5b8c7abe6049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b72cfe7304e07" /><Relationship Type="http://schemas.openxmlformats.org/officeDocument/2006/relationships/notesSlide" Target="/ppt/notesSlides/notesSlide5.xml" Id="R2fca2113b9b94c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39f45ca084bd6" /><Relationship Type="http://schemas.openxmlformats.org/officeDocument/2006/relationships/notesSlide" Target="/ppt/notesSlides/notesSlide6.xml" Id="R2ce953b1669d4f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888a826c264270" /><Relationship Type="http://schemas.openxmlformats.org/officeDocument/2006/relationships/notesSlide" Target="/ppt/notesSlides/notesSlide7.xml" Id="Rc7cedf3716f147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6001afbe746c7" /><Relationship Type="http://schemas.openxmlformats.org/officeDocument/2006/relationships/notesSlide" Target="/ppt/notesSlides/notesSlide8.xml" Id="R8b43f66f818a4c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01c217c064d61" /><Relationship Type="http://schemas.openxmlformats.org/officeDocument/2006/relationships/notesSlide" Target="/ppt/notesSlides/notesSlide9.xml" Id="Rb708839d58174f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b6392868e5460f" /><Relationship Type="http://schemas.openxmlformats.org/officeDocument/2006/relationships/notesSlide" Target="/ppt/notesSlides/notesSlide10.xml" Id="Rcf97b334d53c4e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84ae4f6024bf8" /><Relationship Type="http://schemas.openxmlformats.org/officeDocument/2006/relationships/notesSlide" Target="/ppt/notesSlides/notesSlide11.xml" Id="R7cb8c990c71b48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3ece089d284732" /><Relationship Type="http://schemas.openxmlformats.org/officeDocument/2006/relationships/notesSlide" Target="/ppt/notesSlides/notesSlide12.xml" Id="R6cfd11c1775f43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7B335-E7A1-4155-8199-9D0C11D6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222"/>
          </a:solidFill>
          <a:ln xmlns:a="http://schemas.openxmlformats.org/drawingml/2006/main" w="0">
            <a:solidFill>
              <a:srgbClr val="0C12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43D51-02E7-4580-BD18-EC282A4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96463-DED8-4E30-BDE9-2546DE0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63DC"/>
                </a:solidFill>
              </a:defRPr>
            </a:pPr>
            <a:r>
              <a:rPr sz="1425" b="1">
                <a:solidFill>
                  <a:srgbClr val="1863DC"/>
                </a:solidFill>
              </a:rPr>
              <a:t>Parte II · arquitectura tecnica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FA9A6-2492-41E6-B7A4-7AD7DBD0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666750"/>
            <a:ext cx="10477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53295-517D-41AD-B302-3C98C940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8191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1E2B1-5F04-4521-9AC4-7255487F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666750"/>
            <a:ext cx="11430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F18EB-6361-480D-B026-E82D6508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8191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738B2-16D9-47A6-AAF5-D0034EF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666750"/>
            <a:ext cx="10477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665F7-8AA6-4A05-83C2-21108200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8191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A9516-E0CE-4D09-9972-094B5D2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838200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101827"/>
                </a:solidFill>
              </a:defRPr>
            </a:pPr>
            <a:r>
              <a:rPr sz="5025" b="1">
                <a:solidFill>
                  <a:srgbClr val="101827"/>
                </a:solidFill>
              </a:rPr>
              <a:t>Como el agente opera el ERP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B9B0D-0DA4-44B5-868F-4E5623C3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via MCP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6518D-2F45-46F2-A206-A1C5F5B0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DA4C-BCF7-499E-AF30-CB5B326D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8572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C6675"/>
                </a:solidFill>
              </a:defRPr>
            </a:pPr>
            <a:r>
              <a:rPr sz="2100" b="0">
                <a:solidFill>
                  <a:srgbClr val="5C6675"/>
                </a:solidFill>
              </a:rPr>
              <a:t>MCP no es un chat. Es un protocolo para publicar capacidades ejecutables con schemas, permisos, resultados estructurados y control humano.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9FEAE-A57C-4925-8D4A-05678A45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391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63DC"/>
                </a:solidFill>
              </a:defRPr>
            </a:pPr>
            <a:r>
              <a:rPr sz="1725" b="1">
                <a:solidFill>
                  <a:srgbClr val="1863DC"/>
                </a:solidFill>
              </a:rPr>
              <a:t>tools/list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1812A-1C17-4FE8-B6B0-6B78571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939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C6675"/>
                </a:solidFill>
              </a:defRPr>
            </a:pPr>
            <a:r>
              <a:rPr sz="1800" b="1">
                <a:solidFill>
                  <a:srgbClr val="5C667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6BAB0-64B7-439A-9EFB-7D3655C6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3916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966A"/>
                </a:solidFill>
              </a:defRPr>
            </a:pPr>
            <a:r>
              <a:rPr sz="1725" b="1">
                <a:solidFill>
                  <a:srgbClr val="15966A"/>
                </a:solidFill>
              </a:rPr>
              <a:t>tools/call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83DCC-6297-48A3-9883-35616939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939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C6675"/>
                </a:solidFill>
              </a:defRPr>
            </a:pPr>
            <a:r>
              <a:rPr sz="1800" b="1">
                <a:solidFill>
                  <a:srgbClr val="5C6675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AAD7C-F7CA-4997-8C56-DE8CBE60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9391650"/>
            <a:ext cx="2571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A2E"/>
                </a:solidFill>
              </a:defRPr>
            </a:pPr>
            <a:r>
              <a:rPr sz="1725" b="1">
                <a:solidFill>
                  <a:srgbClr val="E76A2E"/>
                </a:solidFill>
              </a:rPr>
              <a:t>NEO Headless</a:t>
            </a:r>
          </a:p>
        </p:txBody>
      </p:sp>
    </p:spTree>
    <p:extLst>
      <p:ext uri="{BB962C8B-B14F-4D97-AF65-F5344CB8AC3E}">
        <p14:creationId xmlns:p14="http://schemas.microsoft.com/office/powerpoint/2010/main" val="21136761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A79448-DEBA-4D03-B979-BA5BF6B2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56824-8EAD-48DD-A47D-4C882986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598DF-4D40-4D0A-B509-8535CBD4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381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MCP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C2604D-314E-467E-94D0-7343B00D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66116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El protocolo estandariza como un agente usa capacidades externas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60F82CC-C8AA-4572-8E67-1E439089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11677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MCP define una conversacion JSON-RPC entre cliente y servidor: negociar capacidades, listar lo disponible y ejecutar tools con argumentos validados.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1572D-4FED-4F40-AAF9-B611C41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5384800" cy="5276850"/>
          </a:xfrm>
          <a:prstGeom xmlns:a="http://schemas.openxmlformats.org/drawingml/2006/main" prst="roundRect">
            <a:avLst>
              <a:gd name="adj" fmla="val 1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18222-5372-46BC-ACDC-FF728848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C494F-0212-4305-8954-B797184D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Resources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676D1-C2DE-44E0-A925-2DE6AEF8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Datos y contexto que el servidor expone para que el modelo los lea o los use como referencia.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7BB9-F98D-49FB-B9EC-474E5A1F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067050"/>
            <a:ext cx="5384800" cy="5276850"/>
          </a:xfrm>
          <a:prstGeom xmlns:a="http://schemas.openxmlformats.org/drawingml/2006/main" prst="roundRect">
            <a:avLst>
              <a:gd name="adj" fmla="val 1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C43FF-4F44-47A3-81F3-4CAE96B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AF9D6-1EED-4E46-B45C-FE6A8F79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Prompts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317B6-06E5-4006-AB02-09A0F6CE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2905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Plantillas y workflows reutilizables que guian tareas frecuentes.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31140-D39F-41A9-91B7-DBE4E1DE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3067050"/>
            <a:ext cx="5384800" cy="5276850"/>
          </a:xfrm>
          <a:prstGeom xmlns:a="http://schemas.openxmlformats.org/drawingml/2006/main" prst="roundRect">
            <a:avLst>
              <a:gd name="adj" fmla="val 1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C18B3-BDC1-4C14-8022-9B66ECD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3147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8AB38-0A0E-4BE9-A204-D7950549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48615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979DE-6D88-40DB-97F5-F90BF260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82905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Funciones ejecutables. El modelo decide invocarlas, el cliente pide aprobacion si corresponde y el servidor ejecuta.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CAD97-DDAB-4E11-A870-3319E2B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05850"/>
            <a:ext cx="16611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8DD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5E5D1-2D5A-4B38-8822-ACDF1B39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915400"/>
            <a:ext cx="160782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4EA6"/>
                </a:solidFill>
              </a:defRPr>
            </a:pPr>
            <a:r>
              <a:rPr sz="1950" b="1">
                <a:solidFill>
                  <a:srgbClr val="174EA6"/>
                </a:solidFill>
              </a:rPr>
              <a:t>Para Etendo, la pieza critica son las tools: convierten intenciones del agente en llamadas ERP con contrato, auth y respuesta estructurada.</a:t>
            </a:r>
          </a:p>
        </p:txBody>
      </p:sp>
    </p:spTree>
    <p:extLst>
      <p:ext uri="{BB962C8B-B14F-4D97-AF65-F5344CB8AC3E}">
        <p14:creationId xmlns:p14="http://schemas.microsoft.com/office/powerpoint/2010/main" val="851804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EC106-2AFD-4C86-B38A-727EFAC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D190D-F9FF-4439-B212-1C7AAC6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0E781-175D-4DAE-96AE-DD94616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457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LOOP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FB6598-733F-4319-B7F3-7FAB52A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El agente no llama endpoints: razona sobre tools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76391C-DEEA-4A8F-A210-5491EAB0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1753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La potencia aparece cuando el modelo puede encadenar tools pequenas y tipadas hasta resolver una tarea de negocio.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279AC-DEDD-42DA-B948-FBD662BC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AC1AA-F74D-4D34-A188-1FE18496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588DC-316B-4635-8883-40680970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659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Interpretar objetivo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21C40-A668-4408-8F3C-38104B41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8605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El usuario pide un resultado de negocio: revisar stock, crear compra, confirmar pedido.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2947E-9FCF-4A0C-B7BF-81D2D42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6FD2C-B1FA-4245-8D3F-EC002FD5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7FF9A-1F1E-4A77-A7F4-A2C5722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659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Descubrir capacidades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5D831-E541-4DAA-AB9E-820E1E38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4330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El cliente consulta tools/list y recibe nombres, descripciones y JSON schemas.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7CA60-167B-429F-A631-53B75C62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49A0B-1FFA-42FD-800C-83A32D4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D9FE7-26D1-46E1-8837-FC72F9D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659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Elegir herramienta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80B4F-0152-4470-884B-1B3E2142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1960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El modelo arma argumentos segun el schema; el cliente puede pedir confirmacion.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92432-6CB4-4665-8098-5335B3CE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8E17B-13D9-4ACF-A875-0D60C5B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812BD-C4D1-4B12-80CC-93BDA991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91100"/>
            <a:ext cx="6591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Ejecutar y observar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C2713-296F-4791-96AC-D8849CE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76850"/>
            <a:ext cx="6591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tools/call devuelve contenido estructurado; el agente decide el siguiente paso.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B5C6E-6CA3-49A4-AD3C-94E5E5B9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448" y="2390775"/>
            <a:ext cx="8916353" cy="7267575"/>
          </a:xfrm>
          <a:prstGeom xmlns:a="http://schemas.openxmlformats.org/drawingml/2006/main" prst="roundRect">
            <a:avLst>
              <a:gd name="adj" fmla="val 1048"/>
            </a:avLst>
          </a:prstGeom>
          <a:solidFill xmlns:a="http://schemas.openxmlformats.org/drawingml/2006/main">
            <a:srgbClr val="0C1222"/>
          </a:solidFill>
          <a:ln xmlns:a="http://schemas.openxmlformats.org/drawingml/2006/main" w="0">
            <a:solidFill>
              <a:srgbClr val="0C122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A4A04-02DB-43F6-82C7-AC1F3CD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D4FF"/>
                </a:solidFill>
              </a:defRPr>
            </a:pPr>
            <a:r>
              <a:rPr sz="1425" b="1">
                <a:solidFill>
                  <a:srgbClr val="9BD4FF"/>
                </a:solidFill>
              </a:rPr>
              <a:t>Patron 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BBFB2-CEEF-4BE5-87E1-71C86204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{ "method": "tools/list" 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FE832-7A93-4AC5-8C9C-CD68588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988E3-7CDA-44D0-ABF4-335DB3B1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{ "method": "tools/call",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2C717-F343-4E20-A98B-1C609E01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243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"params": {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0C5E3-2570-473E-B100-4A04D9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481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"name": "erp.query_records",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A2E9F7-FB45-4E76-B6CE-462A3C7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720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"arguments": {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92C110-26BB-4E16-B4BA-2EE7BAD4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958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  "spec": "sales-order",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348DF7-587C-4590-83A8-22F25AB8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197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  "entity": "header",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74FFF6-A224-47EC-8643-B4F0522F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435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  "filter": { "documentStatus": "DR" 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6CD50-C3C3-4B02-B350-D1EF371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674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668232-3F4E-4FCD-A795-C4BE8CF7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19125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}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1C01DB-D515-452F-A20C-08AD63DC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151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3281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B9799-3CA5-49E5-ACFE-DA64DCC7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3C0E7-45D2-4C12-BAFC-276431F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3BE69-76B3-40EB-8230-163A182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9715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TOPOLOGIA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8883B9-0A8D-4CAF-90FA-D1D1D280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En Etendo, MCP es una fachada agentica sobre NEO Headless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516437-5E45-46B9-A157-3461438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066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La URL publica se mantiene simple; por debajo, el servidor MCP traduce tools en operaciones NEO.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5275D-0C7B-45B1-9758-E705726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024313" cy="52387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5CFDE-7765-47F4-85ED-2BDBEA83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A8E38-CB77-4192-8628-7978C04B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MCP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09977-5C5B-4609-A187-775237C9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3600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Claude Desktop, IDE o agente compatible. Maneja conversacion, tool choice y UX de aprobacion.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095E9-4DDA-45F3-BB84-774E6ED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2152650"/>
            <a:ext cx="4024313" cy="52387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EF71F-2317-40F9-8AC7-0FDF08DE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6C7"/>
          </a:solidFill>
          <a:ln xmlns:a="http://schemas.openxmlformats.org/drawingml/2006/main" w="0">
            <a:solidFill>
              <a:srgbClr val="10A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D7736-AD0F-4053-9BEB-4D7E5924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MCP 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DAF79-9E89-4D2F-9638-F8ED006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/mcp en dev/prod. En prod CloudFront reescribe al contexto Tomcat real.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CAD3A-6C9F-44E1-9581-55C219C6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52650"/>
            <a:ext cx="4024313" cy="52387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D68A9-7FA8-4637-8B9F-A3D28E5B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008F6-A7FC-4C38-B485-D347448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OAuth2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D725-A8C2-41FB-A7B3-CAE3869B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Discovery, registro, authorization code, client credentials, refresh y scopes.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AEEBC-4628-41C7-A4CC-12C831C2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488" y="2152650"/>
            <a:ext cx="4024313" cy="5238750"/>
          </a:xfrm>
          <a:prstGeom xmlns:a="http://schemas.openxmlformats.org/drawingml/2006/main" prst="roundRect">
            <a:avLst>
              <a:gd name="adj" fmla="val 18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67EF8-9767-46DD-BDD1-F27C45A7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CD680-3D61-4A4C-A7B3-C205BDDD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4765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NEO Headless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5E6FC1-B181-4CCB-8991-D56B9022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432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NeoServlet, ETGO_SF_*, RBAC, selectors, processes, reports y NeoHandler.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91776-B9FB-4F84-B10D-6D414329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53350"/>
            <a:ext cx="166116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5F158-3EA5-443C-86AC-2D33E733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05815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A8CDD-4942-4BBF-A0F5-CFDA8B1C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105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13B80-D7F5-42A4-9F20-833F8EE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81724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/mcp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9F698-69E5-4306-B563-8293F8A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191500"/>
            <a:ext cx="9944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entrada del agente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8602D-8287-4797-B47E-9992EE4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80110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EB66B-655E-458B-9783-F055D56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9535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0C196-1B19-4B2B-BA38-A306EDB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89154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/sws/neo/{spec}/{entity}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3BAA22-9EF5-40D3-A450-9A34DA7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8934450"/>
            <a:ext cx="9944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operacion real sobre ERP</a:t>
            </a:r>
          </a:p>
        </p:txBody>
      </p:sp>
    </p:spTree>
    <p:extLst>
      <p:ext uri="{BB962C8B-B14F-4D97-AF65-F5344CB8AC3E}">
        <p14:creationId xmlns:p14="http://schemas.microsoft.com/office/powerpoint/2010/main" val="21214815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C7C12-51E7-4265-99FA-52067525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E589E-C592-45B9-8DF8-3D6CFEEA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41115-86DA-41B9-92F4-7B8966D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457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AUTH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18594E-7053-44C6-946A-2B6312A1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Las tools heredan permisos, no privilegios magicos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A0F846-AF48-42AA-95CE-B1246C3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1201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El agente solo puede hacer lo que el token, los scopes, el rol de Etendo y la configuracion NEO permiten.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A307A-67D4-4D3B-9A48-2486FEB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6210C-5CD2-4879-B3F4-39182A0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42236-96BE-4BBB-9A6B-608E3AB8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52700"/>
            <a:ext cx="781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08F8B-F55D-44DE-83D2-CDB0651B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84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El cliente lee metadata protegida y authorization server desde /.well-known/*.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339AB-C453-4500-8D0A-14CE81F3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36E2A-8CE1-4B2E-8D4B-3B21EC0B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8AF15-47C4-4F3D-8FC5-EED7B7F6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781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Consentimiento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C6E6E-BD00-4AB1-92C7-EF77E09A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4330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El usuario aprueba scopes en /authorize o se usa client credentials para integraciones.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FCF4C-DBC5-475B-A7A5-D349CC81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D5A39-EEE6-400A-BFAB-CF88EBB6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B72E1-C14F-403E-BAAB-F42EBF74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43350"/>
            <a:ext cx="781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Bearer en cada request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2551B-F00F-4CB9-BD77-408A9037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2910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El token viaja en Authorization header en cada llamada HTTP al servidor MCP.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BC77CC-CF3A-4D01-A175-EDE82203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FDC8D-DB1A-4827-95C8-C5A2D6D4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B09D92-D3CA-4130-A1BB-F05B7A1F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781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827"/>
                </a:solidFill>
              </a:defRPr>
            </a:pPr>
            <a:r>
              <a:rPr sz="1875" b="1">
                <a:solidFill>
                  <a:srgbClr val="101827"/>
                </a:solidFill>
              </a:rPr>
              <a:t>Enforcement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EDA9F-E477-4321-BF9E-6C934D9D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781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675"/>
                </a:solidFill>
              </a:defRPr>
            </a:pPr>
            <a:r>
              <a:rPr sz="1500" b="0">
                <a:solidFill>
                  <a:srgbClr val="5C6675"/>
                </a:solidFill>
              </a:rPr>
              <a:t>MCP valida scope; NEO valida metodo, spec, entidad, AD role y reglas del handler.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F9F40-6F96-4701-9AA9-C4470495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14" y="2552700"/>
            <a:ext cx="7700486" cy="7105650"/>
          </a:xfrm>
          <a:prstGeom xmlns:a="http://schemas.openxmlformats.org/drawingml/2006/main" prst="roundRect">
            <a:avLst>
              <a:gd name="adj" fmla="val 107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C1F4B-4496-45D1-B195-80784368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7124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Scopes Etendo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5A706-F877-4040-AF65-10587E4E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712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BD4FF"/>
                </a:solidFill>
              </a:defRPr>
            </a:pPr>
            <a:r>
              <a:rPr sz="2250" b="0">
                <a:solidFill>
                  <a:srgbClr val="9BD4FF"/>
                </a:solidFill>
              </a:rPr>
              <a:t>neo:read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B973D-E177-44CC-ACA4-B9BC8B92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3380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1D5DB"/>
                </a:solidFill>
              </a:defRPr>
            </a:pPr>
            <a:r>
              <a:rPr sz="1650" b="0">
                <a:solidFill>
                  <a:srgbClr val="D1D5DB"/>
                </a:solidFill>
              </a:rPr>
              <a:t>consultar entidades y selectores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CA222-7FB3-4C99-9926-FC0AC58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14800"/>
            <a:ext cx="712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7F3D0"/>
                </a:solidFill>
              </a:defRPr>
            </a:pPr>
            <a:r>
              <a:rPr sz="2250" b="0">
                <a:solidFill>
                  <a:srgbClr val="A7F3D0"/>
                </a:solidFill>
              </a:rPr>
              <a:t>neo:write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F490D6-F02E-4C5E-BF23-71C2E14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7200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1D5DB"/>
                </a:solidFill>
              </a:defRPr>
            </a:pPr>
            <a:r>
              <a:rPr sz="1650" b="0">
                <a:solidFill>
                  <a:srgbClr val="D1D5DB"/>
                </a:solidFill>
              </a:rPr>
              <a:t>crear, actualizar o borrar registros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790C0-5276-4FC1-9731-6F340C26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7124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DBA74"/>
                </a:solidFill>
              </a:defRPr>
            </a:pPr>
            <a:r>
              <a:rPr sz="2250" b="0">
                <a:solidFill>
                  <a:srgbClr val="FDBA74"/>
                </a:solidFill>
              </a:rPr>
              <a:t>neo:process / neo:report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C771F-04C4-4766-ACE2-FF4F9CA2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10200"/>
            <a:ext cx="7124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1D5DB"/>
                </a:solidFill>
              </a:defRPr>
            </a:pPr>
            <a:r>
              <a:rPr sz="1650" b="0">
                <a:solidFill>
                  <a:srgbClr val="D1D5DB"/>
                </a:solidFill>
              </a:rPr>
              <a:t>ejecutar procesos y generar reportes</a:t>
            </a:r>
          </a:p>
        </p:txBody>
      </p:sp>
    </p:spTree>
    <p:extLst>
      <p:ext uri="{BB962C8B-B14F-4D97-AF65-F5344CB8AC3E}">
        <p14:creationId xmlns:p14="http://schemas.microsoft.com/office/powerpoint/2010/main" val="4886095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59030-CF83-41C2-B34A-029DAE47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935B7-6404-47A3-A933-4774F1A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9101C-34C1-4DF5-AB74-55F0479D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1257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TOOL CATALOG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BB2705-E748-4E8A-B65A-E9BF0561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El ERP se publica como un set compacto de tools tipadas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0D1126E-3E58-4403-8A2E-D46A4610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1868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En vez de crear una integracion por pantalla, MCP publica familias de tools que operan sobre specs, entidades, acciones y reportes.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8D7D1-1648-406B-9D8B-B012D11D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4564D-0C50-4094-83E7-8F0D15D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23574-46F7-469D-9902-42ED7984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erp.list_specs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87418-F2E9-417A-BEAB-A952932B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Descubre ventanas, procesos y reportes disponibles para el usuario.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632DE-0CB1-4E63-B1AA-4BBBBC89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255270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BF409-8C1B-40B3-ADA3-EF0DEF0D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43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6C7"/>
          </a:solidFill>
          <a:ln xmlns:a="http://schemas.openxmlformats.org/drawingml/2006/main" w="0">
            <a:solidFill>
              <a:srgbClr val="10A6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3F932-A0DB-4B80-BE26-B89C1DE2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erp.describe_spec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FCDBD-F9A1-4548-A785-43B0899C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Devuelve entidades, campos, filtros, actions, selectors y constraints.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9FA53-36D5-4AA9-9CDB-0B1530F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E28D2-7B12-4C51-A6B2-C2EF3A8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0D632-3269-47EE-8BD4-5C4FB814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erp.query_records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549B2-1F10-4D1A-9490-A114F593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4325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Lista registros con filtros, paginacion, sorting y parentId.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538A-4EE3-4647-8F9C-570655B7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488" y="255270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FFC57-D43B-47EA-B338-5DB4C1DC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743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1265D-96DA-421D-AD43-314BDE5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87655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erp.get_record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85AE7-6817-4936-92A6-CA025D6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14325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Lee un registro puntual con identificadores y campos resueltos.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55736-3AD0-4E12-A54F-8D59175B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FE8FA-E687-49B2-84F8-0A6D5AE9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008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66B61-2406-41D0-989C-11726D28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51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erp.create_record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1CD6E-AB40-4DAA-B74A-C6D0218F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818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Crea cabeceras o lineas respetando campos incluidos y readonly.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D410C-E9B5-4D16-BFF0-32DC5A65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619125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CF2D1-5864-45F0-AC75-B623C7B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4008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0DE52D-AA1B-4860-A208-E72B1BE8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5151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erp.update_record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ADBCA-959A-4A46-9AD5-160FC47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7818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PATCH/PUT parcial o completo, con validacion de metodo y RBAC.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AB4B87-CA27-470D-85E2-07D4774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19125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4E9DB-293A-4DAE-8D85-BD3F47C5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4008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C9625-D7C3-4198-BD23-5EEA3AC3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5151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erp.call_action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C8529-5B9B-41B7-9BE6-B15BBB77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7818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Ejecuta botones/procesos de una entidad: confirmar, registrar pago, copiar, generar.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BC253-27C9-430F-BADA-F627C88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5488" y="6191250"/>
            <a:ext cx="4024313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9BAB63-A77F-4DCF-A612-86F345A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4008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03A"/>
          </a:solidFill>
          <a:ln xmlns:a="http://schemas.openxmlformats.org/drawingml/2006/main" w="0">
            <a:solidFill>
              <a:srgbClr val="B940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76112C-0480-45CC-883C-4362120D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515100"/>
            <a:ext cx="3600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erp.generate_report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A4D4B4-A82E-4A68-8009-07FC63F5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781800"/>
            <a:ext cx="3600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Invoca specs de reporte y devuelve resultado o referencia descargable.</a:t>
            </a:r>
          </a:p>
        </p:txBody>
      </p:sp>
    </p:spTree>
    <p:extLst>
      <p:ext uri="{BB962C8B-B14F-4D97-AF65-F5344CB8AC3E}">
        <p14:creationId xmlns:p14="http://schemas.microsoft.com/office/powerpoint/2010/main" val="5126563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D4BB5B-B61F-43C2-BEE0-4E286D4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1236F-B295-4482-9E03-D31457F2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86367-C82F-41A5-83F5-85C4267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914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READ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2DFAE3-D244-4BA2-BD21-F567412C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Una query del agente se convierte en GET NEO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9EA59A-D5C9-4236-A692-9E92140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2268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El modelo no necesita saber SQL ni IDs internos: usa spec, entity y filtros de negocio; NEO resuelve AD metadata y permisos.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12F8-F72B-45DE-9FA6-F1BB052F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8105775" cy="7267575"/>
          </a:xfrm>
          <a:prstGeom xmlns:a="http://schemas.openxmlformats.org/drawingml/2006/main" prst="roundRect">
            <a:avLst>
              <a:gd name="adj" fmla="val 1048"/>
            </a:avLst>
          </a:prstGeom>
          <a:solidFill xmlns:a="http://schemas.openxmlformats.org/drawingml/2006/main">
            <a:srgbClr val="0C1222"/>
          </a:solidFill>
          <a:ln xmlns:a="http://schemas.openxmlformats.org/drawingml/2006/main" w="0">
            <a:solidFill>
              <a:srgbClr val="0C12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9BFE2-D4F4-4CB7-9B15-3BCBF435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D4FF"/>
                </a:solidFill>
              </a:defRPr>
            </a:pPr>
            <a:r>
              <a:rPr sz="1425" b="1">
                <a:solidFill>
                  <a:srgbClr val="9BD4FF"/>
                </a:solidFill>
              </a:rPr>
              <a:t>Input del agente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7389F-0D9B-44C3-A038-93BDF054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tool: erp.query_records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98964-7F97-462D-A507-F7293FF1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00213-F7C4-40DD-9005-218AEA73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"spec": "sales-order",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AA7B9-03D4-46CB-ACB6-1D3E5DDF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"entity": "header",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B73E7-F6FD-480C-B2BE-83AAFBF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"filter": {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5CF14-325B-41FA-8677-957DD5E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"businessPartner": "Cliente A",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BF5DB-5441-4D05-8F0A-283ECA3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"documentStatus": "DR"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DD12E-FDA7-484B-A370-D151A988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},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904B1-00DE-4797-8782-4063558A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"limit":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FFA28-F504-4497-9B0C-29B0A95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674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392D6-DD82-4704-B2AB-287CE47A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5745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A9CBC-445B-4BCB-B7D5-FEAE9F4A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D3EA3-5513-407C-A702-D73A1CA2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908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/sws/neo/sales-order/header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8C0B8-C2A3-47DC-B898-38F276F7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60985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lista filtrada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61108-2201-4710-B7E3-26920160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5755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6C7"/>
          </a:solidFill>
          <a:ln xmlns:a="http://schemas.openxmlformats.org/drawingml/2006/main" w="0">
            <a:solidFill>
              <a:srgbClr val="10A6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A6249-15E5-4223-9B3A-034E1F4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5A18C-0350-44A0-AD0E-67571709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909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/selectors/{field}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564B2-8B66-451E-8EA5-1035BB86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340995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valores validos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DEBAB-C920-4008-8BA4-29D1F6EF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5765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95E1C-7E73-4D3C-AF97-EFACADAA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C48F71-C480-4D3B-9F7C-41BD2FAE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1910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/defaults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CA45FF-8325-42EC-9888-75761965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4210050"/>
            <a:ext cx="2019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defaults para crear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5D94F-3CE6-41AD-AE7D-0A40F4C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91075"/>
            <a:ext cx="81057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848800-C071-4FB2-8C41-A0A0E1B4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29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3B65D8-B1CA-4366-BCA6-55B65A0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Resultado estructurado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6317D9-DC81-4BB2-B3C9-EACAB9A7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62600"/>
            <a:ext cx="758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El servidor devuelve filas, identificadores, labels, errores normalizados y metadata para que el agente pueda seguir razonando.</a:t>
            </a:r>
          </a:p>
        </p:txBody>
      </p:sp>
    </p:spTree>
    <p:extLst>
      <p:ext uri="{BB962C8B-B14F-4D97-AF65-F5344CB8AC3E}">
        <p14:creationId xmlns:p14="http://schemas.microsoft.com/office/powerpoint/2010/main" val="12954919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7225A-4295-4F6C-8748-2943690E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3F301-DD43-44E4-B200-16D771B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96782-A9B1-4D3D-B4AA-8A06DDA2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971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WRITE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E45B07-566E-424A-B35B-A4FA136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Las acciones cambian estado solo por rutas controladas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082A2A-4631-49A1-B798-08FA10B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2039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Cada tool de escritura pasa por scopes, flags HTTP, validaciones NEO, transaccion ERP y posibles NeoHandlers.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74B13-80D8-4A6D-8F31-2D627979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5BAA6-0FF5-40ED-8862-5DAC820F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E5893-6805-4440-BA16-298E67EB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146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/{spec}/{entity}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67BD3-8FD0-40A8-868B-11C9DADA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33650"/>
            <a:ext cx="2419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crear documento o linea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5B7DB-81DE-4423-9746-DFBF625F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692A3-B5F3-4AE6-8FF9-0751B93B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DF929-D10A-46C3-B813-05EDCB0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956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/{spec}/{entity}/{id}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1EFD1-3706-455D-AE0A-C4F1A160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2419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actualizar campos permitidos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522F5-8222-4424-B1EB-2A5CC1D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650FE-E936-42E2-89FD-CF5BD41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56D67-604B-4CF5-8E2B-55557C66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7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/{spec}/{entity}/{id}/action/{field}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94698-9720-445D-BF0A-62ECF76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2419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ejecutar proceso/boton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C2CE2-7F02-40B3-8CDC-91AD64E3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838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03A"/>
          </a:solidFill>
          <a:ln xmlns:a="http://schemas.openxmlformats.org/drawingml/2006/main" w="0">
            <a:solidFill>
              <a:srgbClr val="B94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62C00-B817-4857-8C57-9E3A3985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F4CB1-BBAF-4498-8457-19EA9543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/{report}/generateReport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FFFAC-A11D-49C9-93DC-F2C66910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2419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675"/>
                </a:solidFill>
              </a:defRPr>
            </a:pPr>
            <a:r>
              <a:rPr sz="1575" b="0">
                <a:solidFill>
                  <a:srgbClr val="5C6675"/>
                </a:solidFill>
              </a:rPr>
              <a:t>generar salida de reporte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5326A-1931-46D5-9A44-19F369F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8511064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67865-9A70-4D32-85FD-6C0BADE4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8020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A3412"/>
                </a:solidFill>
              </a:defRPr>
            </a:pPr>
            <a:r>
              <a:rPr sz="1800" b="1">
                <a:solidFill>
                  <a:srgbClr val="9A3412"/>
                </a:solidFill>
              </a:rPr>
              <a:t>La confirmacion humana debe estar antes de tools con efectos: crear, actualizar, borrar, ejecutar procesos o enviar reportes.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19B064-7FF9-42C5-B647-DE07307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14" y="2314575"/>
            <a:ext cx="7700486" cy="7343775"/>
          </a:xfrm>
          <a:prstGeom xmlns:a="http://schemas.openxmlformats.org/drawingml/2006/main" prst="roundRect">
            <a:avLst>
              <a:gd name="adj" fmla="val 1038"/>
            </a:avLst>
          </a:prstGeom>
          <a:solidFill xmlns:a="http://schemas.openxmlformats.org/drawingml/2006/main">
            <a:srgbClr val="0C1222"/>
          </a:solidFill>
          <a:ln xmlns:a="http://schemas.openxmlformats.org/drawingml/2006/main" w="0">
            <a:solidFill>
              <a:srgbClr val="0C122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55BFE-2D63-4F5A-ABB1-9DC6093C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D4FF"/>
                </a:solidFill>
              </a:defRPr>
            </a:pPr>
            <a:r>
              <a:rPr sz="1425" b="1">
                <a:solidFill>
                  <a:srgbClr val="9BD4FF"/>
                </a:solidFill>
              </a:rPr>
              <a:t>Confirmar documento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C09CD3-31FE-489E-8CF0-DEA8034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tool: erp.call_action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D38288-0292-4963-AC0C-D33CC8D2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0040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{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5F2D97-DD2C-4294-B972-D2AC8B44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242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"spec": "sales-order",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3A439-A13F-4AB0-80C5-B9F95C42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4810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"entity": "header",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8BEE8-6122-4CE0-8284-51F9464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719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"id": "A7F...",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2551C0-D346-4A74-BC95-79C57414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49580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"action": "documentAction",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D047A-DDB8-4311-916A-F7252DF8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8196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"params": { "value": "CO" 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457976-1FF3-42D4-BC50-0AA63C93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14350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F259B9-EA55-4C9B-A9A6-4B407145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46735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4B73B3-EF9B-4A01-A492-43D878D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791200"/>
            <a:ext cx="7124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3A4BA"/>
                </a:solidFill>
              </a:defRPr>
            </a:pPr>
            <a:r>
              <a:rPr sz="1500" b="0">
                <a:solidFill>
                  <a:srgbClr val="93A4BA"/>
                </a:solidFill>
              </a:rPr>
              <a:t>// NEO: RBAC + handler + process</a:t>
            </a:r>
          </a:p>
        </p:txBody>
      </p:sp>
    </p:spTree>
    <p:extLst>
      <p:ext uri="{BB962C8B-B14F-4D97-AF65-F5344CB8AC3E}">
        <p14:creationId xmlns:p14="http://schemas.microsoft.com/office/powerpoint/2010/main" val="17528651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B3F7B-3886-4025-9A28-1AFF5B9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A868-13F6-42D1-9EA9-9347C9E3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29A58-79CD-4BA6-B0DE-CCEB48A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819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SCHEMAS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EE314F-AE3D-4DA2-BDF4-4D91446C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La calidad de una tool esta en su contrato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D51EDE-F269-4A2A-8666-7605DC9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19443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Para que el agente use bien el ERP, cada tool necesita nombre claro, descripcion operacional, schema estricto y errores accionables.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6F81E-73E0-4C24-9678-1083D253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8105775" cy="7267575"/>
          </a:xfrm>
          <a:prstGeom xmlns:a="http://schemas.openxmlformats.org/drawingml/2006/main" prst="roundRect">
            <a:avLst>
              <a:gd name="adj" fmla="val 1048"/>
            </a:avLst>
          </a:prstGeom>
          <a:solidFill xmlns:a="http://schemas.openxmlformats.org/drawingml/2006/main">
            <a:srgbClr val="0C1222"/>
          </a:solidFill>
          <a:ln xmlns:a="http://schemas.openxmlformats.org/drawingml/2006/main" w="0">
            <a:solidFill>
              <a:srgbClr val="0C12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E80B4-7E18-4E0A-9A07-D44B1B75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BD4FF"/>
                </a:solidFill>
              </a:defRPr>
            </a:pPr>
            <a:r>
              <a:rPr sz="1425" b="1">
                <a:solidFill>
                  <a:srgbClr val="9BD4FF"/>
                </a:solidFill>
              </a:rPr>
              <a:t>Tool 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F5396-4753-41EE-A11A-B98743C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{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D8818-CAA7-48D3-B292-66DB50CC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"name": "erp.create_record",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DC41B-0656-493B-BFA2-1898915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"description": "Create one ERP record",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AF615-7916-4F84-8CCB-A44465AD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"inputSchema": {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470D3-5B0F-4309-A655-19840302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"spec": "string",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501C1-4A82-46A7-8E4D-9E90C617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"entity": "string",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FBEAC-D0A2-4918-B3FE-4FFFCA06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  "data": "object"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3B0D8-9C52-455A-9769-6ED5B462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  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C6083-BBAD-40DD-A305-49BBACE2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7543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5E7EB"/>
                </a:solidFill>
              </a:defRPr>
            </a:pPr>
            <a:r>
              <a:rPr sz="1500" b="0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D7E0E-8748-4018-8EB9-6070868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90775"/>
            <a:ext cx="81057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68217-4716-4B5C-86F0-DA71CE45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28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48F05-C448-4699-AB88-C838341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194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Descripciones concretas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038ECA-87B3-4165-8765-0BD9CEAF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Decir cuando usarla, cuando no, efectos laterales y scopes requeridos.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23A1D-E63C-42A9-94E2-953C8BD9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71975"/>
            <a:ext cx="81057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84E3D-F972-47F2-9F07-FBB254D2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101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A8750-A2D5-4333-A12B-F2E91A3F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006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Schemas cerrados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93982-7450-4A0A-A30D-D353FA2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Campos requeridos, enums, limites y tipos evitan payloads ambiguos.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1320B-4F16-4995-8C07-B4723980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353175"/>
            <a:ext cx="81057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47BF9-F0AD-475A-B7BA-19F7F277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5913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090ED-E050-4F72-A632-FA37E2D6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81800"/>
            <a:ext cx="758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Errores que guian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48F41-7515-4F99-9E6B-7422D38A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124700"/>
            <a:ext cx="7581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Devolver missing_field, forbidden_scope, validation_error o process_failed con detalle util.</a:t>
            </a:r>
          </a:p>
        </p:txBody>
      </p:sp>
    </p:spTree>
    <p:extLst>
      <p:ext uri="{BB962C8B-B14F-4D97-AF65-F5344CB8AC3E}">
        <p14:creationId xmlns:p14="http://schemas.microsoft.com/office/powerpoint/2010/main" val="21096388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C874F-5E80-4744-82BC-91EC54F7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954EA-27A9-4A77-ACBB-D07476EB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27A8C-206A-4CF4-83C9-6D523CFB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1200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COMPOSICION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54303C-D1F5-460F-8F3A-A616E799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La potencia es encadenar tools en un workflow de negocio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1D635F-54CC-44DB-BBA7-D2AE7C59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2020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Un agente puede resolver un objetivo completo sin que cada paso sea programado como una integracion nueva.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92C0A-CA01-424F-87BF-8678944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3848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FFCDA-F668-4ACC-A78B-760ED08B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860DF-10BF-4C60-B668-6FD3ED5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1. Entender pedido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01C50-B58F-41DF-A8D5-63F8AB8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Usuario: revisa pedidos draft con riesgo de stock y preparame una compra sugerida.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A1207-5078-4A6D-A154-FD77382A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152650"/>
            <a:ext cx="53848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34696-D92D-46D8-857E-56A363B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C31F8-5929-4E70-B528-41A01C2D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2. Leer contexto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11E17-3B8B-4FAB-B2E2-D0586E6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erp.query_records consulta pedidos, lineas, productos, stock y proveedores.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41F2D-DF36-42BB-92F2-128EAFC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152650"/>
            <a:ext cx="53848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61ADE-FD72-4CB5-8EF5-8F6CD6D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3622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A6C7"/>
          </a:solidFill>
          <a:ln xmlns:a="http://schemas.openxmlformats.org/drawingml/2006/main" w="0">
            <a:solidFill>
              <a:srgbClr val="10A6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69563-C41A-469F-9D63-1B5E91EA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47650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3. Resolver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0108B-7F5A-4F21-A774-2FD01674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74320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erp.describe_spec y selectors validan campos, valores y relaciones permitidas.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68FA9-B01E-4360-87C5-046E4AC2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53848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503AF-B69F-4BA8-ACDF-DC48F4F2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103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A611D-2FE6-441A-AB0B-F15D814A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4365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4. Proponer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03369-2891-4A08-9EE0-092A94F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10350"/>
            <a:ext cx="4972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El agente explica faltantes, impacto y documentos que va a crear.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47A84-0486-4511-85F4-BBB8371C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6010275"/>
            <a:ext cx="53848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E27A0-319F-430D-96A6-A14DDF11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2103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6FF753-0C85-470B-9AD9-CE17C865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34365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5. Ejecutar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4300D-A322-483E-B07B-9AF9FCB8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103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erp.create_record crea compra y lineas; erp.call_action confirma si el usuario aprueba.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E70A9-1B41-4D50-B823-B64574B9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6010275"/>
            <a:ext cx="5384800" cy="3648075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31B8A-938F-4E23-8896-A106007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2103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03A"/>
          </a:solidFill>
          <a:ln xmlns:a="http://schemas.openxmlformats.org/drawingml/2006/main" w="0">
            <a:solidFill>
              <a:srgbClr val="B940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8A0C12-D190-4B6E-AFB5-21215C1F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343650"/>
            <a:ext cx="4972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6. Cerrar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4E124-8D0B-4740-B081-355D9630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6103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675"/>
                </a:solidFill>
              </a:defRPr>
            </a:pPr>
            <a:r>
              <a:rPr sz="1275" b="0">
                <a:solidFill>
                  <a:srgbClr val="5C6675"/>
                </a:solidFill>
              </a:rPr>
              <a:t>erp.generate_report entrega PDF o resumen, con auditoria de tools usadas.</a:t>
            </a:r>
          </a:p>
        </p:txBody>
      </p:sp>
    </p:spTree>
    <p:extLst>
      <p:ext uri="{BB962C8B-B14F-4D97-AF65-F5344CB8AC3E}">
        <p14:creationId xmlns:p14="http://schemas.microsoft.com/office/powerpoint/2010/main" val="21412466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93BE5-3106-47EE-A06E-6E779F3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4CA83-62D3-4EF2-AD99-F2415C5E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620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FEDB0-D4C5-476D-9175-E2600B1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GUARDRAILS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8E0F12-4F00-469E-938F-FA18EA66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MCP hace posible operar; NEO mantiene el gobierno ERP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7D30AD-B96F-4494-9738-A5697C0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1220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El diseno correcto separa decision del agente, autorizacion del usuario y ejecucion transaccional del ERP.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CE209-5807-4D50-8AD0-2FE7A600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5384800" cy="58388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5F633-1DF2-404C-AC45-7997CF1B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33221-F797-4685-B412-D2CF68E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Least privilege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3B01C-D1D0-456C-8907-8400B389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Scopes por capability, usuario/rol real de Etendo, specs publicadas por contrato y no por tabla cruda.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3D710-1C7D-4E13-84DE-4F02E2A4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14575"/>
            <a:ext cx="5384800" cy="58388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389A7-5F23-46B9-94B9-1E30260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933CB-2113-48A4-9576-4DDA6346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Human-in-the-loop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9B658-3D28-4E9D-A087-42979DB8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Confirmacion explicita antes de efectos irreversibles o procesos sensibles.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B3302-4C20-4BAC-96BB-D72CEE45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2314575"/>
            <a:ext cx="5384800" cy="5838825"/>
          </a:xfrm>
          <a:prstGeom xmlns:a="http://schemas.openxmlformats.org/drawingml/2006/main" prst="roundRect">
            <a:avLst>
              <a:gd name="adj" fmla="val 1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5C7D6E-1ABC-4527-8A91-6190D43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5527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B90B5-4FFA-469A-A9D7-439FDE5F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743200"/>
            <a:ext cx="485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Auditabilidad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2428D-3765-479D-BB4F-FE98970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86100"/>
            <a:ext cx="485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Registrar tool, argumentos relevantes, scope, usuario, entidad, resultado y errores.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46EA2-AF9D-4E02-8DA1-109AF157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15350"/>
            <a:ext cx="16611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8DD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F4D921-57B4-45FA-9AF2-D5B4D4B0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743950"/>
            <a:ext cx="16040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4EA6"/>
                </a:solidFill>
              </a:defRPr>
            </a:pPr>
            <a:r>
              <a:rPr sz="2100" b="1">
                <a:solidFill>
                  <a:srgbClr val="174EA6"/>
                </a:solidFill>
              </a:rPr>
              <a:t>Mensaje tecnico: MCP es el plano de invocacion; NEO Headless es el plano de ejecucion y gobierno del ERP.</a:t>
            </a:r>
          </a:p>
        </p:txBody>
      </p:sp>
    </p:spTree>
    <p:extLst>
      <p:ext uri="{BB962C8B-B14F-4D97-AF65-F5344CB8AC3E}">
        <p14:creationId xmlns:p14="http://schemas.microsoft.com/office/powerpoint/2010/main" val="12852238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68C75-451E-4B8D-89EC-760257B0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51B9C-1057-467B-AC8E-4DFC49C0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572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9B944-57B6-448C-9B07-D8800061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63DC"/>
                </a:solidFill>
              </a:defRPr>
            </a:pPr>
            <a:r>
              <a:rPr sz="1275" b="1">
                <a:solidFill>
                  <a:srgbClr val="1863DC"/>
                </a:solidFill>
              </a:rPr>
              <a:t>REFERENCIAS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95B21E-8744-4945-B452-5782D0E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16611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7"/>
                </a:solidFill>
              </a:defRPr>
            </a:pPr>
            <a:r>
              <a:rPr sz="4050" b="1">
                <a:solidFill>
                  <a:srgbClr val="101827"/>
                </a:solidFill>
              </a:rPr>
              <a:t>Fuentes usadas para esta parte tecnica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64954A-978C-4EEC-B720-DA39979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2249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C6675"/>
                </a:solidFill>
              </a:defRPr>
            </a:pPr>
            <a:r>
              <a:rPr sz="1875" b="0">
                <a:solidFill>
                  <a:srgbClr val="5C6675"/>
                </a:solidFill>
              </a:rPr>
              <a:t>La presentacion combina el protocolo MCP actual con la implementacion documentada en Schema Forge / Etendo Go.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3146C-DD3A-4554-8DE5-C7869ED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8143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624D5-6923-4B62-B6EA-0C7E48F2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63DC"/>
          </a:solidFill>
          <a:ln xmlns:a="http://schemas.openxmlformats.org/drawingml/2006/main" w="0">
            <a:solidFill>
              <a:srgbClr val="186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4C6A1-B9F3-417A-BD99-C5CCB11D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MCP Specification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B342A-3B53-4FB7-91ED-3F8E51E8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Base Protocol, lifecycle, server features: Resources, Prompts, Tools; client features y utilities.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A35EB-6EE1-4655-9AC2-7946FBAE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8143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57E7B-120F-4A3C-BD17-F216C94A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66A"/>
          </a:solidFill>
          <a:ln xmlns:a="http://schemas.openxmlformats.org/drawingml/2006/main" w="0">
            <a:solidFill>
              <a:srgbClr val="159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1F95F-3CB3-4AF5-8940-C32DC69D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MCP Authorization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B7F0C-BD16-443C-AA43-7910F1B3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7620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OAuth 2.1, RFC 9728 Protected Resource Metadata, RFC 8414 Authorization Server Metadata, DCR y Bearer tokens.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1D0E9-9E2E-412D-B2A3-8728CA47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390775"/>
            <a:ext cx="8143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70A9F-86C7-4866-B4A3-9286FF97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A2E"/>
          </a:solidFill>
          <a:ln xmlns:a="http://schemas.openxmlformats.org/drawingml/2006/main" w="0">
            <a:solidFill>
              <a:srgbClr val="E76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08164-F6DA-4A65-8358-0FC094F2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1940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Schema Forge 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D51F4-7CD2-44D1-A717-6BFF42F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62300"/>
            <a:ext cx="762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docs/ops/cloudfront-alb-routing.md para /mcp, /.well-known, /authorize, /oauth2/* y rewrites.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9A1D2-576D-4067-AD32-615C73D9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657725"/>
            <a:ext cx="81438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4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E5E75-D07D-4F54-B0EA-A43E6D74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149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57C8"/>
          </a:solidFill>
          <a:ln xmlns:a="http://schemas.openxmlformats.org/drawingml/2006/main" w="0">
            <a:solidFill>
              <a:srgbClr val="645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1E909-DB32-4F08-BC60-51EEA0E3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86350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NEO Headless docs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2D9F9-CAF7-4896-8F31-9D90E333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29250"/>
            <a:ext cx="7620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C6675"/>
                </a:solidFill>
              </a:defRPr>
            </a:pPr>
            <a:r>
              <a:rPr sz="1425" b="0">
                <a:solidFill>
                  <a:srgbClr val="5C6675"/>
                </a:solidFill>
              </a:rPr>
              <a:t>docs/architecture-overview.md y docs/neo-headless-extensibility.md para ETGO_SF_*, NeoServlet, selectors, processes, reports y NeoHandler.</a:t>
            </a:r>
          </a:p>
        </p:txBody>
      </p:sp>
    </p:spTree>
    <p:extLst>
      <p:ext uri="{BB962C8B-B14F-4D97-AF65-F5344CB8AC3E}">
        <p14:creationId xmlns:p14="http://schemas.microsoft.com/office/powerpoint/2010/main" val="1975570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2026-04-28T12:29:34.5370000Z</dcterms:created>
  <dcterms:modified xsi:type="dcterms:W3CDTF">2026-04-28T12:29:34.5380000Z</dcterms:modified>
</coreProperties>
</file>